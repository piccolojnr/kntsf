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d4c300d1c54949" /><Relationship Type="http://schemas.openxmlformats.org/officeDocument/2006/relationships/extended-properties" Target="/docProps/app.xml" Id="R3d2d42487864440b" /><Relationship Type="http://schemas.openxmlformats.org/officeDocument/2006/relationships/officeDocument" Target="/ppt/presentation.xml" Id="R424f313a241d46ba" /></Relationships>
</file>

<file path=ppt/presentation.xml><?xml version="1.0" encoding="utf-8"?>
<p:presentation xmlns:p="http://schemas.openxmlformats.org/presentationml/2006/main">
  <p:sldMasterIdLst>
    <p:sldMasterId xmlns:r="http://schemas.openxmlformats.org/officeDocument/2006/relationships" id="2147483648" r:id="R38c29ab8b9fb47b4"/>
  </p:sldMasterIdLst>
  <p:notesMasterIdLst>
    <p:notesMasterId xmlns:r="http://schemas.openxmlformats.org/officeDocument/2006/relationships" r:id="Rf9cfa584cc7c43ca"/>
  </p:notesMasterIdLst>
  <p:sldIdLst>
    <p:sldId xmlns:r="http://schemas.openxmlformats.org/officeDocument/2006/relationships" id="256" r:id="Rac1e4ccbfd9a4bcb"/>
    <p:sldId xmlns:r="http://schemas.openxmlformats.org/officeDocument/2006/relationships" id="257" r:id="Rc1976471f6334ff0"/>
    <p:sldId xmlns:r="http://schemas.openxmlformats.org/officeDocument/2006/relationships" id="258" r:id="R23118753c2e04cc4"/>
    <p:sldId xmlns:r="http://schemas.openxmlformats.org/officeDocument/2006/relationships" id="259" r:id="Rec5e8276f875461b"/>
    <p:sldId xmlns:r="http://schemas.openxmlformats.org/officeDocument/2006/relationships" id="260" r:id="R2317c42ab00a4cf6"/>
    <p:sldId xmlns:r="http://schemas.openxmlformats.org/officeDocument/2006/relationships" id="261" r:id="R3347644a02ad4ffa"/>
    <p:sldId xmlns:r="http://schemas.openxmlformats.org/officeDocument/2006/relationships" id="262" r:id="R2728f806d4024ef9"/>
    <p:sldId xmlns:r="http://schemas.openxmlformats.org/officeDocument/2006/relationships" id="263" r:id="R80ffd83e2f404301"/>
    <p:sldId xmlns:r="http://schemas.openxmlformats.org/officeDocument/2006/relationships" id="264" r:id="R52d17124ecfc41a3"/>
    <p:sldId xmlns:r="http://schemas.openxmlformats.org/officeDocument/2006/relationships" id="265" r:id="R56d53c1bb04a4acb"/>
    <p:sldId xmlns:r="http://schemas.openxmlformats.org/officeDocument/2006/relationships" id="266" r:id="Re77c78ef9c174484"/>
    <p:sldId xmlns:r="http://schemas.openxmlformats.org/officeDocument/2006/relationships" id="267" r:id="R6d4668c95bc2425c"/>
    <p:sldId xmlns:r="http://schemas.openxmlformats.org/officeDocument/2006/relationships" id="268" r:id="R26b172df8c3b4b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c56b67156a4a73" /><Relationship Type="http://schemas.openxmlformats.org/officeDocument/2006/relationships/slideMaster" Target="/ppt/slideMasters/slideMaster1.xml" Id="R38c29ab8b9fb47b4" /><Relationship Type="http://schemas.openxmlformats.org/officeDocument/2006/relationships/notesMaster" Target="/ppt/notesMasters/notesMaster1.xml" Id="Rf9cfa584cc7c43ca" /><Relationship Type="http://schemas.openxmlformats.org/officeDocument/2006/relationships/presProps" Target="/ppt/presProps.xml" Id="R011587c1211a4719" /><Relationship Type="http://schemas.openxmlformats.org/officeDocument/2006/relationships/tableStyles" Target="/ppt/tableStyles.xml" Id="R63f3cf5cf6774e9f" /><Relationship Type="http://schemas.openxmlformats.org/officeDocument/2006/relationships/slide" Target="/ppt/slides/slide1.xml" Id="Rac1e4ccbfd9a4bcb" /><Relationship Type="http://schemas.openxmlformats.org/officeDocument/2006/relationships/slide" Target="/ppt/slides/slide2.xml" Id="Rc1976471f6334ff0" /><Relationship Type="http://schemas.openxmlformats.org/officeDocument/2006/relationships/slide" Target="/ppt/slides/slide3.xml" Id="R23118753c2e04cc4" /><Relationship Type="http://schemas.openxmlformats.org/officeDocument/2006/relationships/slide" Target="/ppt/slides/slide4.xml" Id="Rec5e8276f875461b" /><Relationship Type="http://schemas.openxmlformats.org/officeDocument/2006/relationships/slide" Target="/ppt/slides/slide5.xml" Id="R2317c42ab00a4cf6" /><Relationship Type="http://schemas.openxmlformats.org/officeDocument/2006/relationships/slide" Target="/ppt/slides/slide6.xml" Id="R3347644a02ad4ffa" /><Relationship Type="http://schemas.openxmlformats.org/officeDocument/2006/relationships/slide" Target="/ppt/slides/slide7.xml" Id="R2728f806d4024ef9" /><Relationship Type="http://schemas.openxmlformats.org/officeDocument/2006/relationships/slide" Target="/ppt/slides/slide8.xml" Id="R80ffd83e2f404301" /><Relationship Type="http://schemas.openxmlformats.org/officeDocument/2006/relationships/slide" Target="/ppt/slides/slide9.xml" Id="R52d17124ecfc41a3" /><Relationship Type="http://schemas.openxmlformats.org/officeDocument/2006/relationships/slide" Target="/ppt/slides/slide10.xml" Id="R56d53c1bb04a4acb" /><Relationship Type="http://schemas.openxmlformats.org/officeDocument/2006/relationships/slide" Target="/ppt/slides/slide11.xml" Id="Re77c78ef9c174484" /><Relationship Type="http://schemas.openxmlformats.org/officeDocument/2006/relationships/slide" Target="/ppt/slides/slide12.xml" Id="R6d4668c95bc2425c" /><Relationship Type="http://schemas.openxmlformats.org/officeDocument/2006/relationships/slide" Target="/ppt/slides/slide13.xml" Id="R26b172df8c3b4b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cf87332544c4a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6d6c4328034219" /><Relationship Type="http://schemas.openxmlformats.org/officeDocument/2006/relationships/notesMaster" Target="/ppt/notesMasters/notesMaster1.xml" Id="R93f3b299708743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e93fc729cf4ce9" /><Relationship Type="http://schemas.openxmlformats.org/officeDocument/2006/relationships/notesMaster" Target="/ppt/notesMasters/notesMaster1.xml" Id="R7d704154b57748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47d35ae5af419d" /><Relationship Type="http://schemas.openxmlformats.org/officeDocument/2006/relationships/notesMaster" Target="/ppt/notesMasters/notesMaster1.xml" Id="R36782cf2d0ed42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504522b3a448c7" /><Relationship Type="http://schemas.openxmlformats.org/officeDocument/2006/relationships/notesMaster" Target="/ppt/notesMasters/notesMaster1.xml" Id="R78f4591e505b46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6993ed00634ef0" /><Relationship Type="http://schemas.openxmlformats.org/officeDocument/2006/relationships/notesMaster" Target="/ppt/notesMasters/notesMaster1.xml" Id="Rde614d69e4d049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7252836da4453f" /><Relationship Type="http://schemas.openxmlformats.org/officeDocument/2006/relationships/notesMaster" Target="/ppt/notesMasters/notesMaster1.xml" Id="R0caf52e2682344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bd487f68a14716" /><Relationship Type="http://schemas.openxmlformats.org/officeDocument/2006/relationships/notesMaster" Target="/ppt/notesMasters/notesMaster1.xml" Id="Rf6a6e77c143648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6579dec70a14eb1" /><Relationship Type="http://schemas.openxmlformats.org/officeDocument/2006/relationships/notesMaster" Target="/ppt/notesMasters/notesMaster1.xml" Id="Rbc4bc08e5b094f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1a7774e95574927" /><Relationship Type="http://schemas.openxmlformats.org/officeDocument/2006/relationships/notesMaster" Target="/ppt/notesMasters/notesMaster1.xml" Id="Rb048e355175449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ba488926ddb4dbb" /><Relationship Type="http://schemas.openxmlformats.org/officeDocument/2006/relationships/notesMaster" Target="/ppt/notesMasters/notesMaster1.xml" Id="R1c241e7f50884b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809e0a94714789" /><Relationship Type="http://schemas.openxmlformats.org/officeDocument/2006/relationships/notesMaster" Target="/ppt/notesMasters/notesMaster1.xml" Id="R2b952ac4701743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72973ef2f04772" /><Relationship Type="http://schemas.openxmlformats.org/officeDocument/2006/relationships/notesMaster" Target="/ppt/notesMasters/notesMaster1.xml" Id="R6e8190c1fb4447c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9add606b8c54cd1" /><Relationship Type="http://schemas.openxmlformats.org/officeDocument/2006/relationships/notesMaster" Target="/ppt/notesMasters/notesMaster1.xml" Id="Rc65de8b3b5de468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Introduce the project as one connected platform and preview the proof points.</a:t>
            </a:r>
          </a:p>
          <a:p xmlns:a="http://schemas.openxmlformats.org/drawingml/2006/main">
            <a:r>
              <a:t/>
            </a:r>
          </a:p>
          <a:p xmlns:a="http://schemas.openxmlformats.org/drawingml/2006/main">
            <a:r>
              <a:t>Example wording — adapt; do not read verbatim:</a:t>
            </a:r>
          </a:p>
          <a:p xmlns:a="http://schemas.openxmlformats.org/drawingml/2006/main">
            <a:r>
              <a:t>Good morning. Our project is an NFC-based student permit verification and governance management system for Knutsford University. We developed it to connect permit requests, verified payments, SRC activities, and student verification in one platform. We will explain the problem, show how the system works, present our evidence, and demonstrate the connected workflow.</a:t>
            </a:r>
          </a:p>
          <a:p xmlns:a="http://schemas.openxmlformats.org/drawingml/2006/main">
            <a:r>
              <a:t/>
            </a:r>
          </a:p>
          <a:p xmlns:a="http://schemas.openxmlformats.org/drawingml/2006/main">
            <a:r>
              <a:t>Internal presenter note — do not say aloud:</a:t>
            </a:r>
          </a:p>
          <a:p xmlns:a="http://schemas.openxmlformats.org/drawingml/2006/main">
            <a:r>
              <a:t>Keep the opening under 25 seconds. Do not list every feature. Move directly into the problem.</a:t>
            </a:r>
          </a:p>
          <a:p xmlns:a="http://schemas.openxmlformats.org/drawingml/2006/main">
            <a:r>
              <a:t/>
            </a:r>
          </a:p>
          <a:p xmlns:a="http://schemas.openxmlformats.org/drawingml/2006/main">
            <a:r>
              <a:t>[Sources]</a:t>
            </a:r>
          </a:p>
          <a:p xmlns:a="http://schemas.openxmlformats.org/drawingml/2006/main">
            <a:r>
              <a:t>- KNTSF_PRESENTATION_STORYBOARD_SPEAKING_GUIDE.md</a:t>
            </a:r>
          </a:p>
          <a:p xmlns:a="http://schemas.openxmlformats.org/drawingml/2006/main">
            <a:r>
              <a:t>- KNTSF_REPORT_UPDATED_WITH_PILOT_RESULTS_AND_BUDGET.docx</a:t>
            </a:r>
          </a:p>
          <a:p xmlns:a="http://schemas.openxmlformats.org/drawingml/2006/main">
            <a:r>
              <a:t>- kntsf-core/public/images/campus-hero.jpg</a:t>
            </a:r>
          </a:p>
          <a:p xmlns:a="http://schemas.openxmlformats.org/drawingml/2006/main">
            <a:r>
              <a:t>- kntsf-core/public/images/kntsf-logo.png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Explain that the real problem was the disconnected end-to-end workflow.</a:t>
            </a:r>
          </a:p>
          <a:p xmlns:a="http://schemas.openxmlformats.org/drawingml/2006/main">
            <a:r>
              <a:t/>
            </a:r>
          </a:p>
          <a:p xmlns:a="http://schemas.openxmlformats.org/drawingml/2006/main">
            <a:r>
              <a:t>Example wording — adapt; do not read verbatim:</a:t>
            </a:r>
          </a:p>
          <a:p xmlns:a="http://schemas.openxmlformats.org/drawingml/2006/main">
            <a:r>
              <a:t>Previously, the permit process involved several separate activities. A request could be submitted, but eligibility, payment confirmation, permit issuance, and later verification still had to be coordinated. When those records are disconnected, students may wait longer and administrators have less visibility. We therefore focused on connecting the complete workflow.</a:t>
            </a:r>
          </a:p>
          <a:p xmlns:a="http://schemas.openxmlformats.org/drawingml/2006/main">
            <a:r>
              <a:t/>
            </a:r>
          </a:p>
          <a:p xmlns:a="http://schemas.openxmlformats.org/drawingml/2006/main">
            <a:r>
              <a:t>Internal presenter note — do not say aloud:</a:t>
            </a:r>
          </a:p>
          <a:p xmlns:a="http://schemas.openxmlformats.org/drawingml/2006/main">
            <a:r>
              <a:t>Avoid saying every old activity completely failed or was entirely manual. Transition by saying the solution was designed around the full journey.</a:t>
            </a:r>
          </a:p>
          <a:p xmlns:a="http://schemas.openxmlformats.org/drawingml/2006/main">
            <a:r>
              <a:t/>
            </a:r>
          </a:p>
          <a:p xmlns:a="http://schemas.openxmlformats.org/drawingml/2006/main">
            <a:r>
              <a:t>[Sources]</a:t>
            </a:r>
          </a:p>
          <a:p xmlns:a="http://schemas.openxmlformats.org/drawingml/2006/main">
            <a:r>
              <a:t>- KNTSF_REPORT_UPDATED_WITH_PILOT_RESULTS_AND_BUDGET.docx</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Show that the website and mobile application are channels into the same controlled system.</a:t>
            </a:r>
          </a:p>
          <a:p xmlns:a="http://schemas.openxmlformats.org/drawingml/2006/main">
            <a:r>
              <a:t/>
            </a:r>
          </a:p>
          <a:p xmlns:a="http://schemas.openxmlformats.org/drawingml/2006/main">
            <a:r>
              <a:t>Example wording — adapt; do not read verbatim:</a:t>
            </a:r>
          </a:p>
          <a:p xmlns:a="http://schemas.openxmlformats.org/drawingml/2006/main">
            <a:r>
              <a:t>Our solution has a website and a mobile application, but they are not separate systems. They use the same backend rules and the same source of data. The website supports public information and administrative work, while the mobile application supports students and authorized verification staff. A permit should therefore not appear valid in one channel and invalid in another.</a:t>
            </a:r>
          </a:p>
          <a:p xmlns:a="http://schemas.openxmlformats.org/drawingml/2006/main">
            <a:r>
              <a:t/>
            </a:r>
          </a:p>
          <a:p xmlns:a="http://schemas.openxmlformats.org/drawingml/2006/main">
            <a:r>
              <a:t>Internal presenter note — do not say aloud:</a:t>
            </a:r>
          </a:p>
          <a:p xmlns:a="http://schemas.openxmlformats.org/drawingml/2006/main">
            <a:r>
              <a:t>After the shared-backend point, hand over to Daud for the architecture.</a:t>
            </a:r>
          </a:p>
          <a:p xmlns:a="http://schemas.openxmlformats.org/drawingml/2006/main">
            <a:r>
              <a:t/>
            </a:r>
          </a:p>
          <a:p xmlns:a="http://schemas.openxmlformats.org/drawingml/2006/main">
            <a:r>
              <a:t>[Sources]</a:t>
            </a:r>
          </a:p>
          <a:p xmlns:a="http://schemas.openxmlformats.org/drawingml/2006/main">
            <a:r>
              <a:t>- SYSTEM_ARCHITECTURE.md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Daud</a:t>
            </a:r>
          </a:p>
          <a:p xmlns:a="http://schemas.openxmlformats.org/drawingml/2006/main">
            <a:r>
              <a:t>Main point: Explain the responsibility of each technical layer without turning the slide into a framework inventory.</a:t>
            </a:r>
          </a:p>
          <a:p xmlns:a="http://schemas.openxmlformats.org/drawingml/2006/main">
            <a:r>
              <a:t/>
            </a:r>
          </a:p>
          <a:p xmlns:a="http://schemas.openxmlformats.org/drawingml/2006/main">
            <a:r>
              <a:t>Example wording — adapt; do not read verbatim:</a:t>
            </a:r>
          </a:p>
          <a:p xmlns:a="http://schemas.openxmlformats.org/drawingml/2006/main">
            <a:r>
              <a:t>Technically, Laravel is the central application and API layer. The website uses Inertia, React, and TypeScript, while the mobile application is built with Expo React Native. Both clients communicate with the same backend and database. Sanctum protects authenticated API requests, and PostgreSQL is used for production data. Keeping the main rules in one backend applies the same permission, payment, permit, and verification decisions everywhere.</a:t>
            </a:r>
          </a:p>
          <a:p xmlns:a="http://schemas.openxmlformats.org/drawingml/2006/main">
            <a:r>
              <a:t/>
            </a:r>
          </a:p>
          <a:p xmlns:a="http://schemas.openxmlformats.org/drawingml/2006/main">
            <a:r>
              <a:t>Internal presenter note — do not say aloud:</a:t>
            </a:r>
          </a:p>
          <a:p xmlns:a="http://schemas.openxmlformats.org/drawingml/2006/main">
            <a:r>
              <a:t>Keep this to about one minute. Paystack and NFC are integrations, not databases.</a:t>
            </a:r>
          </a:p>
          <a:p xmlns:a="http://schemas.openxmlformats.org/drawingml/2006/main">
            <a:r>
              <a:t/>
            </a:r>
          </a:p>
          <a:p xmlns:a="http://schemas.openxmlformats.org/drawingml/2006/main">
            <a:r>
              <a:t>[Sources]</a:t>
            </a:r>
          </a:p>
          <a:p xmlns:a="http://schemas.openxmlformats.org/drawingml/2006/main">
            <a:r>
              <a:t>- SYSTEM_ARCHITECTURE.md</a:t>
            </a:r>
          </a:p>
          <a:p xmlns:a="http://schemas.openxmlformats.org/drawingml/2006/main">
            <a:r>
              <a:t>- kntsf-core/docs/MOBILE_API.md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Daud</a:t>
            </a:r>
          </a:p>
          <a:p xmlns:a="http://schemas.openxmlformats.org/drawingml/2006/main">
            <a:r>
              <a:t>Main point: Explain why server-side payment verification controls permit issuance.</a:t>
            </a:r>
          </a:p>
          <a:p xmlns:a="http://schemas.openxmlformats.org/drawingml/2006/main">
            <a:r>
              <a:t/>
            </a:r>
          </a:p>
          <a:p xmlns:a="http://schemas.openxmlformats.org/drawingml/2006/main">
            <a:r>
              <a:t>Example wording — adapt; do not read verbatim:</a:t>
            </a:r>
          </a:p>
          <a:p xmlns:a="http://schemas.openxmlformats.org/drawingml/2006/main">
            <a:r>
              <a:t>A student first submits a permit request. After the required checks, the student can begin payment through Paystack. Returning from the payment page is not enough for the system to assume that payment succeeded. The backend verifies the transaction and records the result. The permit is issued only after that verified state is confirmed.</a:t>
            </a:r>
          </a:p>
          <a:p xmlns:a="http://schemas.openxmlformats.org/drawingml/2006/main">
            <a:r>
              <a:t/>
            </a:r>
          </a:p>
          <a:p xmlns:a="http://schemas.openxmlformats.org/drawingml/2006/main">
            <a:r>
              <a:t>Internal presenter note — do not say aloud:</a:t>
            </a:r>
          </a:p>
          <a:p xmlns:a="http://schemas.openxmlformats.org/drawingml/2006/main">
            <a:r>
              <a:t>If asked, explain server-side verification and idempotent processing. Do not claim that every payment failure is impossible.</a:t>
            </a:r>
          </a:p>
          <a:p xmlns:a="http://schemas.openxmlformats.org/drawingml/2006/main">
            <a:r>
              <a:t/>
            </a:r>
          </a:p>
          <a:p xmlns:a="http://schemas.openxmlformats.org/drawingml/2006/main">
            <a:r>
              <a:t>[Sources]</a:t>
            </a:r>
          </a:p>
          <a:p xmlns:a="http://schemas.openxmlformats.org/drawingml/2006/main">
            <a:r>
              <a:t>- kntsf-core/docs/PAYSTACK_INTEGRATION.md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Naeem</a:t>
            </a:r>
          </a:p>
          <a:p xmlns:a="http://schemas.openxmlformats.org/drawingml/2006/main">
            <a:r>
              <a:t>Main point: Explain the practical value of a single administrative workspace and the public/private boundary.</a:t>
            </a:r>
          </a:p>
          <a:p xmlns:a="http://schemas.openxmlformats.org/drawingml/2006/main">
            <a:r>
              <a:t/>
            </a:r>
          </a:p>
          <a:p xmlns:a="http://schemas.openxmlformats.org/drawingml/2006/main">
            <a:r>
              <a:t>Example wording — adapt; do not read verbatim:</a:t>
            </a:r>
          </a:p>
          <a:p xmlns:a="http://schemas.openxmlformats.org/drawingml/2006/main">
            <a:r>
              <a:t>The website gives authorized administrators one place to review permit activity, monitor payments, issue receipts, manage complaints, publish announcements, track budgets, and administer elections. A separate public-facing area exposes only approved SRC information. Private administrative records remain restricted through role permissions.</a:t>
            </a:r>
          </a:p>
          <a:p xmlns:a="http://schemas.openxmlformats.org/drawingml/2006/main">
            <a:r>
              <a:t/>
            </a:r>
          </a:p>
          <a:p xmlns:a="http://schemas.openxmlformats.org/drawingml/2006/main">
            <a:r>
              <a:t>Internal presenter note — do not say aloud:</a:t>
            </a:r>
          </a:p>
          <a:p xmlns:a="http://schemas.openxmlformats.org/drawingml/2006/main">
            <a:r>
              <a:t>Focus on usefulness. Do not read every menu item. The screenshot uses prepared demonstration data.</a:t>
            </a:r>
          </a:p>
          <a:p xmlns:a="http://schemas.openxmlformats.org/drawingml/2006/main">
            <a:r>
              <a:t/>
            </a:r>
          </a:p>
          <a:p xmlns:a="http://schemas.openxmlformats.org/drawingml/2006/main">
            <a:r>
              <a:t>[Sources]</a:t>
            </a:r>
          </a:p>
          <a:p xmlns:a="http://schemas.openxmlformats.org/drawingml/2006/main">
            <a:r>
              <a:t>- recording/combined video.mp4</a:t>
            </a:r>
          </a:p>
          <a:p xmlns:a="http://schemas.openxmlformats.org/drawingml/2006/main">
            <a:r>
              <a:t>- kntsf-core/docs/PUBLIC_PORTAL.md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Naeem</a:t>
            </a:r>
          </a:p>
          <a:p xmlns:a="http://schemas.openxmlformats.org/drawingml/2006/main">
            <a:r>
              <a:t>Main point: Explain that students and staff use the same app for different authorized tasks.</a:t>
            </a:r>
          </a:p>
          <a:p xmlns:a="http://schemas.openxmlformats.org/drawingml/2006/main">
            <a:r>
              <a:t/>
            </a:r>
          </a:p>
          <a:p xmlns:a="http://schemas.openxmlformats.org/drawingml/2006/main">
            <a:r>
              <a:t>Example wording — adapt; do not read verbatim:</a:t>
            </a:r>
          </a:p>
          <a:p xmlns:a="http://schemas.openxmlformats.org/drawingml/2006/main">
            <a:r>
              <a:t>The mobile application presents different functions depending on the user's role. Students can submit requests, complete payments, view permits and receipts, follow announcements, and participate in elections when eligible. Authorized staff use a focused verification workflow. The application displays the current result returned by the backend rather than deciding validity by itself.</a:t>
            </a:r>
          </a:p>
          <a:p xmlns:a="http://schemas.openxmlformats.org/drawingml/2006/main">
            <a:r>
              <a:t/>
            </a:r>
          </a:p>
          <a:p xmlns:a="http://schemas.openxmlformats.org/drawingml/2006/main">
            <a:r>
              <a:t>Internal presenter note — do not say aloud:</a:t>
            </a:r>
          </a:p>
          <a:p xmlns:a="http://schemas.openxmlformats.org/drawingml/2006/main">
            <a:r>
              <a:t>Avoid touring every screen. The recording demonstrates the student-number fallback path, not an NFC tap.</a:t>
            </a:r>
          </a:p>
          <a:p xmlns:a="http://schemas.openxmlformats.org/drawingml/2006/main">
            <a:r>
              <a:t/>
            </a:r>
          </a:p>
          <a:p xmlns:a="http://schemas.openxmlformats.org/drawingml/2006/main">
            <a:r>
              <a:t>[Sources]</a:t>
            </a:r>
          </a:p>
          <a:p xmlns:a="http://schemas.openxmlformats.org/drawingml/2006/main">
            <a:r>
              <a:t>- recording/combined video.mp4</a:t>
            </a:r>
          </a:p>
          <a:p xmlns:a="http://schemas.openxmlformats.org/drawingml/2006/main">
            <a:r>
              <a:t>- kntsf-core/docs/MOBILE_API.md</a:t>
            </a:r>
          </a:p>
          <a:p xmlns:a="http://schemas.openxmlformats.org/drawingml/2006/main">
            <a:r>
              <a:t>- KNTSF_PRESENTATION_FACT_LOCK_AND_DEMO_PLAN.md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Daud</a:t>
            </a:r>
          </a:p>
          <a:p xmlns:a="http://schemas.openxmlformats.org/drawingml/2006/main">
            <a:r>
              <a:t>Main point: Explain the privacy boundary and why the server, not the card, determines validity.</a:t>
            </a:r>
          </a:p>
          <a:p xmlns:a="http://schemas.openxmlformats.org/drawingml/2006/main">
            <a:r>
              <a:t/>
            </a:r>
          </a:p>
          <a:p xmlns:a="http://schemas.openxmlformats.org/drawingml/2006/main">
            <a:r>
              <a:t>Example wording — adapt; do not read verbatim:</a:t>
            </a:r>
          </a:p>
          <a:p xmlns:a="http://schemas.openxmlformats.org/drawingml/2006/main">
            <a:r>
              <a:t>During verification, the phone reads the NFC identifier and sends an authenticated request to the backend. The backend checks whether the staff member is authorized, finds the linked permit, and returns the current result. The card does not need to store the student's complete profile. We also use role-based access, validation, audit logs, rate limits, and secure payment verification around sensitive actions.</a:t>
            </a:r>
          </a:p>
          <a:p xmlns:a="http://schemas.openxmlformats.org/drawingml/2006/main">
            <a:r>
              <a:t/>
            </a:r>
          </a:p>
          <a:p xmlns:a="http://schemas.openxmlformats.org/drawingml/2006/main">
            <a:r>
              <a:t>Internal presenter note — do not say aloud:</a:t>
            </a:r>
          </a:p>
          <a:p xmlns:a="http://schemas.openxmlformats.org/drawingml/2006/main">
            <a:r>
              <a:t>Do not say NFC completely prevents copying. Acknowledge the limitation and the stronger future options if asked.</a:t>
            </a:r>
          </a:p>
          <a:p xmlns:a="http://schemas.openxmlformats.org/drawingml/2006/main">
            <a:r>
              <a:t/>
            </a:r>
          </a:p>
          <a:p xmlns:a="http://schemas.openxmlformats.org/drawingml/2006/main">
            <a:r>
              <a:t>[Sources]</a:t>
            </a:r>
          </a:p>
          <a:p xmlns:a="http://schemas.openxmlformats.org/drawingml/2006/main">
            <a:r>
              <a:t>- kntsf-core/docs/VERIFICATION_MODULE.md</a:t>
            </a:r>
          </a:p>
          <a:p xmlns:a="http://schemas.openxmlformats.org/drawingml/2006/main">
            <a:r>
              <a:t>- KNTSF_PRESENTATION_FACT_LOCK_AND_DEMO_PLAN.md</a:t>
            </a:r>
          </a:p>
          <a:p xmlns:a="http://schemas.openxmlformats.org/drawingml/2006/main">
            <a:r>
              <a:t>- KNTSF_REPORT_UPDATED_WITH_PILOT_RESULTS_AND_BUDGET.docx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Present the four pilot figures and clearly limit what they prove.</a:t>
            </a:r>
          </a:p>
          <a:p xmlns:a="http://schemas.openxmlformats.org/drawingml/2006/main">
            <a:r>
              <a:t/>
            </a:r>
          </a:p>
          <a:p xmlns:a="http://schemas.openxmlformats.org/drawingml/2006/main">
            <a:r>
              <a:t>Example wording — adapt; do not read verbatim:</a:t>
            </a:r>
          </a:p>
          <a:p xmlns:a="http://schemas.openxmlformats.org/drawingml/2006/main">
            <a:r>
              <a:t>During the pilot, the system captured 2,021 registered student records and processed 2,769 permit and successful payment records, representing GHS 276,900. These figures show meaningful use of the digital permit and payment workflow. NFC was not fully deployed during that pilot, so we do not present these numbers as proof of a completed campus-wide NFC rollout.</a:t>
            </a:r>
          </a:p>
          <a:p xmlns:a="http://schemas.openxmlformats.org/drawingml/2006/main">
            <a:r>
              <a:t/>
            </a:r>
          </a:p>
          <a:p xmlns:a="http://schemas.openxmlformats.org/drawingml/2006/main">
            <a:r>
              <a:t>Internal presenter note — do not say aloud:</a:t>
            </a:r>
          </a:p>
          <a:p xmlns:a="http://schemas.openxmlformats.org/drawingml/2006/main">
            <a:r>
              <a:t>If asked why permits exceed students, use the agreed explanation about repeated permit records across periods. Do not call every repeated record a renewal.</a:t>
            </a:r>
          </a:p>
          <a:p xmlns:a="http://schemas.openxmlformats.org/drawingml/2006/main">
            <a:r>
              <a:t/>
            </a:r>
          </a:p>
          <a:p xmlns:a="http://schemas.openxmlformats.org/drawingml/2006/main">
            <a:r>
              <a:t>[Sources]</a:t>
            </a:r>
          </a:p>
          <a:p xmlns:a="http://schemas.openxmlformats.org/drawingml/2006/main">
            <a:r>
              <a:t>- KNTSF_REPORT_UPDATED_WITH_PILOT_RESULTS_AND_BUDGET.docx</a:t>
            </a:r>
          </a:p>
          <a:p xmlns:a="http://schemas.openxmlformats.org/drawingml/2006/main">
            <a:r>
              <a:t>- KNTSF_PRESENTATION_FACT_LOCK_AND_DEMO_PLAN.md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Daud</a:t>
            </a:r>
          </a:p>
          <a:p xmlns:a="http://schemas.openxmlformats.org/drawingml/2006/main">
            <a:r>
              <a:t>Main point: Present the current validation evidence without implying the submitted report was changed.</a:t>
            </a:r>
          </a:p>
          <a:p xmlns:a="http://schemas.openxmlformats.org/drawingml/2006/main">
            <a:r>
              <a:t/>
            </a:r>
          </a:p>
          <a:p xmlns:a="http://schemas.openxmlformats.org/drawingml/2006/main">
            <a:r>
              <a:t>Example wording — adapt; do not read verbatim:</a:t>
            </a:r>
          </a:p>
          <a:p xmlns:a="http://schemas.openxmlformats.org/drawingml/2006/main">
            <a:r>
              <a:t>Validation continued after the report was submitted. In the latest verified build, 337 automated tests passed with 1,657 assertions. The TypeScript checks and mobile lint also passed. If this count differs from the report, it is because the report contains the submission-time result while this slide shows the current build.</a:t>
            </a:r>
          </a:p>
          <a:p xmlns:a="http://schemas.openxmlformats.org/drawingml/2006/main">
            <a:r>
              <a:t/>
            </a:r>
          </a:p>
          <a:p xmlns:a="http://schemas.openxmlformats.org/drawingml/2006/main">
            <a:r>
              <a:t>Internal presenter note — do not say aloud:</a:t>
            </a:r>
          </a:p>
          <a:p xmlns:a="http://schemas.openxmlformats.org/drawingml/2006/main">
            <a:r>
              <a:t>Keep this to about 40 seconds. Be ready to name the main test groups if asked.</a:t>
            </a:r>
          </a:p>
          <a:p xmlns:a="http://schemas.openxmlformats.org/drawingml/2006/main">
            <a:r>
              <a:t/>
            </a:r>
          </a:p>
          <a:p xmlns:a="http://schemas.openxmlformats.org/drawingml/2006/main">
            <a:r>
              <a:t>[Sources]</a:t>
            </a:r>
          </a:p>
          <a:p xmlns:a="http://schemas.openxmlformats.org/drawingml/2006/main">
            <a:r>
              <a:t>- KNTSF_PRESENTATION_FACT_LOCK_AND_DEMO_PLAN.md</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Naeem</a:t>
            </a:r>
          </a:p>
          <a:p xmlns:a="http://schemas.openxmlformats.org/drawingml/2006/main">
            <a:r>
              <a:t>Main point: Connect the submitted budget to a controlled three-phase implementation approach.</a:t>
            </a:r>
          </a:p>
          <a:p xmlns:a="http://schemas.openxmlformats.org/drawingml/2006/main">
            <a:r>
              <a:t/>
            </a:r>
          </a:p>
          <a:p xmlns:a="http://schemas.openxmlformats.org/drawingml/2006/main">
            <a:r>
              <a:t>Example wording — adapt; do not read verbatim:</a:t>
            </a:r>
          </a:p>
          <a:p xmlns:a="http://schemas.openxmlformats.org/drawingml/2006/main">
            <a:r>
              <a:t>The submitted implementation budget is GHS 32,450. We recommend using a phased rollout rather than switching the whole institution at once. The first phase confirms accounts, training, and controlled verification points. The second expands permit use and staff coverage. The third focuses on monitoring, support, and improvements based on actual use.</a:t>
            </a:r>
          </a:p>
          <a:p xmlns:a="http://schemas.openxmlformats.org/drawingml/2006/main">
            <a:r>
              <a:t/>
            </a:r>
          </a:p>
          <a:p xmlns:a="http://schemas.openxmlformats.org/drawingml/2006/main">
            <a:r>
              <a:t>Internal presenter note — do not say aloud:</a:t>
            </a:r>
          </a:p>
          <a:p xmlns:a="http://schemas.openxmlformats.org/drawingml/2006/main">
            <a:r>
              <a:t>Do not invent or revise budget line items. Do not imply the rollout has already happened.</a:t>
            </a:r>
          </a:p>
          <a:p xmlns:a="http://schemas.openxmlformats.org/drawingml/2006/main">
            <a:r>
              <a:t/>
            </a:r>
          </a:p>
          <a:p xmlns:a="http://schemas.openxmlformats.org/drawingml/2006/main">
            <a:r>
              <a:t>[Sources]</a:t>
            </a:r>
          </a:p>
          <a:p xmlns:a="http://schemas.openxmlformats.org/drawingml/2006/main">
            <a:r>
              <a:t>- KNTSF_REPORT_UPDATED_WITH_PILOT_RESULTS_AND_BUDGET.docx</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Naeem narrates; Divine and Daud operate</a:t>
            </a:r>
          </a:p>
          <a:p xmlns:a="http://schemas.openxmlformats.org/drawingml/2006/main">
            <a:r>
              <a:t>Main point: Demonstrate one record across administrator, student, and staff views.</a:t>
            </a:r>
          </a:p>
          <a:p xmlns:a="http://schemas.openxmlformats.org/drawingml/2006/main">
            <a:r>
              <a:t/>
            </a:r>
          </a:p>
          <a:p xmlns:a="http://schemas.openxmlformats.org/drawingml/2006/main">
            <a:r>
              <a:t>Example wording — adapt; do not read verbatim:</a:t>
            </a:r>
          </a:p>
          <a:p xmlns:a="http://schemas.openxmlformats.org/drawingml/2006/main">
            <a:r>
              <a:t>We will now follow one record through the system. Divine will show the active permit from the administrator's view. We will then open the same permit in the student's mobile application. Finally, Daud will use the authorized staff workflow to retrieve the current result from the backend. The recording demonstrates the student-number fallback path.</a:t>
            </a:r>
          </a:p>
          <a:p xmlns:a="http://schemas.openxmlformats.org/drawingml/2006/main">
            <a:r>
              <a:t/>
            </a:r>
          </a:p>
          <a:p xmlns:a="http://schemas.openxmlformats.org/drawingml/2006/main">
            <a:r>
              <a:t>Internal presenter note — do not say aloud:</a:t>
            </a:r>
          </a:p>
          <a:p xmlns:a="http://schemas.openxmlformats.org/drawingml/2006/main">
            <a:r>
              <a:t>Use recording/combined video.mp4 as the 32-second fallback. If the live NFC tap is not available, say clearly that the student-number fallback uses the same authenticated verification service. Do not claim the recording shows NFC scanning.</a:t>
            </a:r>
          </a:p>
          <a:p xmlns:a="http://schemas.openxmlformats.org/drawingml/2006/main">
            <a:r>
              <a:t/>
            </a:r>
          </a:p>
          <a:p xmlns:a="http://schemas.openxmlformats.org/drawingml/2006/main">
            <a:r>
              <a:t>[Sources]</a:t>
            </a:r>
          </a:p>
          <a:p xmlns:a="http://schemas.openxmlformats.org/drawingml/2006/main">
            <a:r>
              <a:t>- recording/combined video.mp4</a:t>
            </a:r>
          </a:p>
          <a:p xmlns:a="http://schemas.openxmlformats.org/drawingml/2006/main">
            <a:r>
              <a:t>- KNTSF_PRESENTATION_FACT_LOCK_AND_DEMO_PLAN.md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Divine</a:t>
            </a:r>
          </a:p>
          <a:p xmlns:a="http://schemas.openxmlformats.org/drawingml/2006/main">
            <a:r>
              <a:t>Main point: Resolve the opening by restating the integrated achievement and the phased recommendation.</a:t>
            </a:r>
          </a:p>
          <a:p xmlns:a="http://schemas.openxmlformats.org/drawingml/2006/main">
            <a:r>
              <a:t/>
            </a:r>
          </a:p>
          <a:p xmlns:a="http://schemas.openxmlformats.org/drawingml/2006/main">
            <a:r>
              <a:t>Example wording — adapt; do not read verbatim:</a:t>
            </a:r>
          </a:p>
          <a:p xmlns:a="http://schemas.openxmlformats.org/drawingml/2006/main">
            <a:r>
              <a:t>In conclusion, our project brings permit, payment, governance, and verification activities into one system. The website and mobile application use the same backend rules, payments are verified before permit issuance, and verification returns the current backend result. The pilot provides meaningful evidence for the digital permit and payment workflow. We therefore recommend a controlled, phased rollout with training, monitoring, and continued improvement. Thank you. We are ready for your questions.</a:t>
            </a:r>
          </a:p>
          <a:p xmlns:a="http://schemas.openxmlformats.org/drawingml/2006/main">
            <a:r>
              <a:t/>
            </a:r>
          </a:p>
          <a:p xmlns:a="http://schemas.openxmlformats.org/drawingml/2006/main">
            <a:r>
              <a:t>Internal presenter note — do not say aloud:</a:t>
            </a:r>
          </a:p>
          <a:p xmlns:a="http://schemas.openxmlformats.org/drawingml/2006/main">
            <a:r>
              <a:t>Pause after inviting questions. Divine receives the first question and routes technical questions to Daud and workflow or rollout questions to Naeem.</a:t>
            </a:r>
          </a:p>
          <a:p xmlns:a="http://schemas.openxmlformats.org/drawingml/2006/main">
            <a:r>
              <a:t/>
            </a:r>
          </a:p>
          <a:p xmlns:a="http://schemas.openxmlformats.org/drawingml/2006/main">
            <a:r>
              <a:t>[Sources]</a:t>
            </a:r>
          </a:p>
          <a:p xmlns:a="http://schemas.openxmlformats.org/drawingml/2006/main">
            <a:r>
              <a:t>- KNTSF_REPORT_UPDATED_WITH_PILOT_RESULTS_AND_BUDGET.docx</a:t>
            </a:r>
          </a:p>
          <a:p xmlns:a="http://schemas.openxmlformats.org/drawingml/2006/main">
            <a:r>
              <a:t>- KNTSF_PRESENTATION_STORYBOARD_SPEAKING_GUIDE.md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7215c5699043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f4f7cb18fb4f20" /><Relationship Type="http://schemas.openxmlformats.org/officeDocument/2006/relationships/slideLayout" Target="/ppt/slideLayouts/slideLayout1.xml" Id="R63844bd987bc47f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844bd987bc47f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0611f1d13f4507" /><Relationship Type="http://schemas.openxmlformats.org/officeDocument/2006/relationships/image" Target="/ppt/media/image.jpeg" Id="R629a023e1ed74489" /><Relationship Type="http://schemas.openxmlformats.org/officeDocument/2006/relationships/image" Target="/ppt/media/image.png" Id="Rc424e6c9159e4fce" /><Relationship Type="http://schemas.openxmlformats.org/officeDocument/2006/relationships/notesSlide" Target="/ppt/notesSlides/notesSlide1.xml" Id="R1906757f590f42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2c0a251c2ca46ff" /><Relationship Type="http://schemas.openxmlformats.org/officeDocument/2006/relationships/notesSlide" Target="/ppt/notesSlides/notesSlide2.xml" Id="Rbd7706aa3a2747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5a2ad4287f44f5" /><Relationship Type="http://schemas.openxmlformats.org/officeDocument/2006/relationships/notesSlide" Target="/ppt/notesSlides/notesSlide3.xml" Id="Rc31d717d6d194f8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a9b6c742970404f" /><Relationship Type="http://schemas.openxmlformats.org/officeDocument/2006/relationships/notesSlide" Target="/ppt/notesSlides/notesSlide4.xml" Id="Ree2de7b35d0844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4cf592989274a7d" /><Relationship Type="http://schemas.openxmlformats.org/officeDocument/2006/relationships/notesSlide" Target="/ppt/notesSlides/notesSlide5.xml" Id="R61fdd809e0d847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2abd4b2c434f3a" /><Relationship Type="http://schemas.openxmlformats.org/officeDocument/2006/relationships/image" Target="/ppt/media/image2.png" Id="Re3ad83a7489a4f4b" /><Relationship Type="http://schemas.openxmlformats.org/officeDocument/2006/relationships/notesSlide" Target="/ppt/notesSlides/notesSlide6.xml" Id="R83c25cb7160b44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23905761fa34d99" /><Relationship Type="http://schemas.openxmlformats.org/officeDocument/2006/relationships/image" Target="/ppt/media/image3.png" Id="Rb2b67795283940c9" /><Relationship Type="http://schemas.openxmlformats.org/officeDocument/2006/relationships/image" Target="/ppt/media/image4.png" Id="Rb9974ede017548dc" /><Relationship Type="http://schemas.openxmlformats.org/officeDocument/2006/relationships/notesSlide" Target="/ppt/notesSlides/notesSlide7.xml" Id="R0dbba372e7d04b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cb8273b19747de" /><Relationship Type="http://schemas.openxmlformats.org/officeDocument/2006/relationships/notesSlide" Target="/ppt/notesSlides/notesSlide8.xml" Id="Rfa8113b15bd047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fe33c2561c44cc4" /><Relationship Type="http://schemas.openxmlformats.org/officeDocument/2006/relationships/notesSlide" Target="/ppt/notesSlides/notesSlide9.xml" Id="Rf67fae654472433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23077b0e75f4630" /><Relationship Type="http://schemas.openxmlformats.org/officeDocument/2006/relationships/notesSlide" Target="/ppt/notesSlides/notesSlide10.xml" Id="R51b92e869d7743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b5b55cc1474e78" /><Relationship Type="http://schemas.openxmlformats.org/officeDocument/2006/relationships/notesSlide" Target="/ppt/notesSlides/notesSlide11.xml" Id="Ra3cc793f90a949c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293e73151164eb4" /><Relationship Type="http://schemas.openxmlformats.org/officeDocument/2006/relationships/image" Target="/ppt/media/image5.png" Id="R75be45fc33004ef5" /><Relationship Type="http://schemas.openxmlformats.org/officeDocument/2006/relationships/image" Target="/ppt/media/image6.png" Id="Rb35e1e84d133464a" /><Relationship Type="http://schemas.openxmlformats.org/officeDocument/2006/relationships/image" Target="/ppt/media/image7.png" Id="R9add877c753841ce" /><Relationship Type="http://schemas.openxmlformats.org/officeDocument/2006/relationships/notesSlide" Target="/ppt/notesSlides/notesSlide12.xml" Id="R54c327889dfa46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79ddc55d3b149bd" /><Relationship Type="http://schemas.openxmlformats.org/officeDocument/2006/relationships/notesSlide" Target="/ppt/notesSlides/notesSlide13.xml" Id="R0b35677e365349ac" /></Relationships>
</file>

<file path=ppt/slides/slide1.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622E10A-2883-4271-8257-CF6E49E8D134}"/>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6C5CE7"/>
          </a:solidFill>
          <a:ln xmlns:a="http://schemas.openxmlformats.org/drawingml/2006/main" w="0">
            <a:solidFill>
              <a:srgbClr val="6C5CE7"/>
            </a:solidFill>
            <a:prstDash val="solid"/>
          </a:ln>
        </p:spPr>
      </p:sp>
      <p:sp>
        <p:nvSpPr>
          <p:cNvPr id="2" name="">
            <a:extLst xmlns:a="http://schemas.openxmlformats.org/drawingml/2006/main">
              <a:ext uri="{FF2B5EF4-FFF2-40B4-BE49-F238E27FC236}">
                <a16:creationId xmlns:a16="http://schemas.microsoft.com/office/drawing/2014/main" id="{B3A4461C-3C03-46EA-897C-A82529512567}"/>
              </a:ext>
            </a:extLst>
          </p:cNvPr>
          <p:cNvSpPr>
            <a:spLocks xmlns:a="http://schemas.openxmlformats.org/drawingml/2006/main" noGrp="1"/>
          </p:cNvSpPr>
          <p:nvPr/>
        </p:nvSpPr>
        <p:spPr>
          <a:xfrm xmlns:a="http://schemas.openxmlformats.org/drawingml/2006/main">
            <a:off x="552450" y="43815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C5CE7"/>
                </a:solidFill>
                <a:latin typeface="Arial"/>
                <a:ea typeface="Arial"/>
                <a:cs typeface="Arial"/>
              </a:defRPr>
            </a:pPr>
            <a:r>
              <a:rPr sz="1050" b="1">
                <a:solidFill>
                  <a:srgbClr val="6C5CE7"/>
                </a:solidFill>
                <a:latin typeface="Arial"/>
                <a:ea typeface="Arial"/>
                <a:cs typeface="Arial"/>
              </a:rPr>
              <a:t>FINAL YEAR PROJECT</a:t>
            </a:r>
          </a:p>
        </p:txBody>
      </p:sp>
      <p:sp>
        <p:nvSpPr>
          <p:cNvPr id="3" name="">
            <a:extLst xmlns:a="http://schemas.openxmlformats.org/drawingml/2006/main">
              <a:ext uri="{FF2B5EF4-FFF2-40B4-BE49-F238E27FC236}">
                <a16:creationId xmlns:a16="http://schemas.microsoft.com/office/drawing/2014/main" id="{29FA15FF-E4EA-4F3D-A338-6122B7AFA935}"/>
              </a:ext>
            </a:extLst>
          </p:cNvPr>
          <p:cNvSpPr>
            <a:spLocks xmlns:a="http://schemas.openxmlformats.org/drawingml/2006/main" noGrp="1"/>
          </p:cNvSpPr>
          <p:nvPr/>
        </p:nvSpPr>
        <p:spPr>
          <a:xfrm xmlns:a="http://schemas.openxmlformats.org/drawingml/2006/main">
            <a:off x="552450" y="1028700"/>
            <a:ext cx="53340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5000"/>
              </a:lnSpc>
              <a:buNone/>
              <a:defRPr sz="4050" b="1">
                <a:solidFill>
                  <a:srgbClr val="101828"/>
                </a:solidFill>
                <a:latin typeface="Arial"/>
                <a:ea typeface="Arial"/>
                <a:cs typeface="Arial"/>
              </a:defRPr>
            </a:pPr>
            <a:r>
              <a:rPr sz="4050" b="1">
                <a:solidFill>
                  <a:srgbClr val="101828"/>
                </a:solidFill>
                <a:latin typeface="Arial"/>
                <a:ea typeface="Arial"/>
                <a:cs typeface="Arial"/>
              </a:rPr>
              <a:t>NFC-Based Student Permit Verification and Governance Management System</a:t>
            </a:r>
          </a:p>
        </p:txBody>
      </p:sp>
      <p:sp>
        <p:nvSpPr>
          <p:cNvPr id="4" name="">
            <a:extLst xmlns:a="http://schemas.openxmlformats.org/drawingml/2006/main">
              <a:ext uri="{FF2B5EF4-FFF2-40B4-BE49-F238E27FC236}">
                <a16:creationId xmlns:a16="http://schemas.microsoft.com/office/drawing/2014/main" id="{15D2C716-06AD-40E0-AC95-E9BA0991EF61}"/>
              </a:ext>
            </a:extLst>
          </p:cNvPr>
          <p:cNvSpPr>
            <a:spLocks xmlns:a="http://schemas.openxmlformats.org/drawingml/2006/main" noGrp="1"/>
          </p:cNvSpPr>
          <p:nvPr/>
        </p:nvSpPr>
        <p:spPr>
          <a:xfrm xmlns:a="http://schemas.openxmlformats.org/drawingml/2006/main">
            <a:off x="552450" y="3657600"/>
            <a:ext cx="519112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rial"/>
                <a:ea typeface="Arial"/>
                <a:cs typeface="Arial"/>
              </a:defRPr>
            </a:pPr>
            <a:r>
              <a:rPr sz="1725" b="0">
                <a:solidFill>
                  <a:srgbClr val="667085"/>
                </a:solidFill>
                <a:latin typeface="Arial"/>
                <a:ea typeface="Arial"/>
                <a:cs typeface="Arial"/>
              </a:rPr>
              <a:t>One connected platform for permits, verified payments, SRC operations, and student verification.</a:t>
            </a:r>
          </a:p>
        </p:txBody>
      </p:sp>
      <p:sp>
        <p:nvSpPr>
          <p:cNvPr id="5" name="">
            <a:extLst xmlns:a="http://schemas.openxmlformats.org/drawingml/2006/main">
              <a:ext uri="{FF2B5EF4-FFF2-40B4-BE49-F238E27FC236}">
                <a16:creationId xmlns:a16="http://schemas.microsoft.com/office/drawing/2014/main" id="{F7F02959-6919-4B89-8632-8DED9793320B}"/>
              </a:ext>
            </a:extLst>
          </p:cNvPr>
          <p:cNvSpPr>
            <a:spLocks xmlns:a="http://schemas.openxmlformats.org/drawingml/2006/main" noGrp="1"/>
          </p:cNvSpPr>
          <p:nvPr/>
        </p:nvSpPr>
        <p:spPr>
          <a:xfrm xmlns:a="http://schemas.openxmlformats.org/drawingml/2006/main">
            <a:off x="552450" y="5124450"/>
            <a:ext cx="542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a:solidFill>
                  <a:srgbClr val="101828"/>
                </a:solidFill>
                <a:latin typeface="Arial"/>
                <a:ea typeface="Arial"/>
                <a:cs typeface="Arial"/>
              </a:defRPr>
            </a:pPr>
            <a:r>
              <a:rPr sz="1275" b="1">
                <a:solidFill>
                  <a:srgbClr val="101828"/>
                </a:solidFill>
                <a:latin typeface="Arial"/>
                <a:ea typeface="Arial"/>
                <a:cs typeface="Arial"/>
              </a:rPr>
              <a:t>Daud Abdul-Rahim  •  Kwuatsenu Divine  •  M'Bangot-Menard Naeem Latif Dieudonne</a:t>
            </a:r>
          </a:p>
        </p:txBody>
      </p:sp>
      <p:sp>
        <p:nvSpPr>
          <p:cNvPr id="6" name="">
            <a:extLst xmlns:a="http://schemas.openxmlformats.org/drawingml/2006/main">
              <a:ext uri="{FF2B5EF4-FFF2-40B4-BE49-F238E27FC236}">
                <a16:creationId xmlns:a16="http://schemas.microsoft.com/office/drawing/2014/main" id="{72CDCEC8-9840-4EF5-B5F8-E6FEC26AD182}"/>
              </a:ext>
            </a:extLst>
          </p:cNvPr>
          <p:cNvSpPr>
            <a:spLocks xmlns:a="http://schemas.openxmlformats.org/drawingml/2006/main" noGrp="1"/>
          </p:cNvSpPr>
          <p:nvPr/>
        </p:nvSpPr>
        <p:spPr>
          <a:xfrm xmlns:a="http://schemas.openxmlformats.org/drawingml/2006/main">
            <a:off x="552450" y="582930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Supervisor: Mr. Bryan Laryea</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29a023e1ed74489"/>
          <a:srcRect xmlns:a="http://schemas.openxmlformats.org/drawingml/2006/main" l="24127" t="0" r="24127" b="0"/>
          <a:stretch xmlns:a="http://schemas.openxmlformats.org/drawingml/2006/main">
            <a:fillRect l="0" t="0" r="0" b="0"/>
          </a:stretch>
        </p:blipFill>
        <p:spPr>
          <a:xfrm xmlns:a="http://schemas.openxmlformats.org/drawingml/2006/main">
            <a:off x="6381750" y="400050"/>
            <a:ext cx="5334000" cy="5810250"/>
          </a:xfrm>
          <a:prstGeom xmlns:a="http://schemas.openxmlformats.org/drawingml/2006/main" prst="roundRect">
            <a:avLst>
              <a:gd name="adj" fmla="val 3214"/>
            </a:avLst>
          </a:prstGeom>
        </p:spPr>
      </p:pic>
      <p:sp>
        <p:nvSpPr>
          <p:cNvPr id="8" name="">
            <a:extLst xmlns:a="http://schemas.openxmlformats.org/drawingml/2006/main">
              <a:ext uri="{FF2B5EF4-FFF2-40B4-BE49-F238E27FC236}">
                <a16:creationId xmlns:a16="http://schemas.microsoft.com/office/drawing/2014/main" id="{1BB8F640-FE84-424F-84FE-223E8571B15A}"/>
              </a:ext>
            </a:extLst>
          </p:cNvPr>
          <p:cNvSpPr>
            <a:spLocks xmlns:a="http://schemas.openxmlformats.org/drawingml/2006/main" noGrp="1"/>
          </p:cNvSpPr>
          <p:nvPr/>
        </p:nvSpPr>
        <p:spPr>
          <a:xfrm xmlns:a="http://schemas.openxmlformats.org/drawingml/2006/main">
            <a:off x="6591300" y="628650"/>
            <a:ext cx="1123950" cy="1123950"/>
          </a:xfrm>
          <a:prstGeom xmlns:a="http://schemas.openxmlformats.org/drawingml/2006/main" prst="roundRect">
            <a:avLst>
              <a:gd name="adj" fmla="val 13559"/>
            </a:avLst>
          </a:prstGeom>
          <a:solidFill xmlns:a="http://schemas.openxmlformats.org/drawingml/2006/main">
            <a:srgbClr val="FFFFFF"/>
          </a:solidFill>
          <a:ln xmlns:a="http://schemas.openxmlformats.org/drawingml/2006/main" w="0">
            <a:solidFill>
              <a:srgbClr val="FFFFFF"/>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424e6c9159e4fce"/>
          <a:stretch xmlns:a="http://schemas.openxmlformats.org/drawingml/2006/main"/>
        </p:blipFill>
        <p:spPr>
          <a:xfrm xmlns:a="http://schemas.openxmlformats.org/drawingml/2006/main">
            <a:off x="6686550" y="723900"/>
            <a:ext cx="933450" cy="9334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766ABF7-78BD-446F-8277-495C00F55B6C}"/>
              </a:ext>
            </a:extLst>
          </p:cNvPr>
          <p:cNvSpPr>
            <a:spLocks xmlns:a="http://schemas.openxmlformats.org/drawingml/2006/main" noGrp="1"/>
          </p:cNvSpPr>
          <p:nvPr/>
        </p:nvSpPr>
        <p:spPr>
          <a:xfrm xmlns:a="http://schemas.openxmlformats.org/drawingml/2006/main">
            <a:off x="6572250" y="5657850"/>
            <a:ext cx="4895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275" b="1">
                <a:solidFill>
                  <a:srgbClr val="FFFFFF"/>
                </a:solidFill>
                <a:latin typeface="Arial"/>
                <a:ea typeface="Arial"/>
                <a:cs typeface="Arial"/>
              </a:defRPr>
            </a:pPr>
            <a:r>
              <a:rPr sz="1275" b="1">
                <a:solidFill>
                  <a:srgbClr val="FFFFFF"/>
                </a:solidFill>
                <a:latin typeface="Arial"/>
                <a:ea typeface="Arial"/>
                <a:cs typeface="Arial"/>
              </a:rPr>
              <a:t>Faster services • stronger accountability • safer verification</a:t>
            </a:r>
          </a:p>
        </p:txBody>
      </p:sp>
    </p:spTree>
    <p:extLst>
      <p:ext uri="{BB962C8B-B14F-4D97-AF65-F5344CB8AC3E}">
        <p14:creationId xmlns:p14="http://schemas.microsoft.com/office/powerpoint/2010/main" val="1094075146"/>
      </p:ext>
    </p:extLst>
  </p:cSld>
</p:sld>
</file>

<file path=ppt/slides/slide2.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8620714-534C-4813-9F65-F0B9F5E48AFD}"/>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37695162-EAF5-476F-95F1-F0CF814B5035}"/>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9270"/>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Disconnected processes created delays and weak accountability</a:t>
            </a:r>
          </a:p>
        </p:txBody>
      </p:sp>
      <p:cxnSp>
        <p:nvCxnSpPr>
          <p:cNvPr id="27"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ECC95B10-FE4A-46A0-86FD-E4D01E394055}"/>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610544D6-131B-45FE-B5D2-73049D13000D}"/>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35E29F9B-CD91-42C3-B8E8-F082A0AD2321}"/>
              </a:ext>
            </a:extLst>
          </p:cNvPr>
          <p:cNvSpPr>
            <a:spLocks xmlns:a="http://schemas.openxmlformats.org/drawingml/2006/main" noGrp="1"/>
          </p:cNvSpPr>
          <p:nvPr/>
        </p:nvSpPr>
        <p:spPr>
          <a:xfrm xmlns:a="http://schemas.openxmlformats.org/drawingml/2006/main">
            <a:off x="457200" y="14287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667085"/>
                </a:solidFill>
                <a:latin typeface="Arial"/>
                <a:ea typeface="Arial"/>
                <a:cs typeface="Arial"/>
              </a:defRPr>
            </a:pPr>
            <a:r>
              <a:rPr sz="1875" b="0">
                <a:solidFill>
                  <a:srgbClr val="667085"/>
                </a:solidFill>
                <a:latin typeface="Arial"/>
                <a:ea typeface="Arial"/>
                <a:cs typeface="Arial"/>
              </a:rPr>
              <a:t>The challenge was not just a paper form. It was the missing connection between each decision.</a:t>
            </a:r>
          </a:p>
        </p:txBody>
      </p:sp>
      <p:sp>
        <p:nvSpPr>
          <p:cNvPr id="7" name="">
            <a:extLst xmlns:a="http://schemas.openxmlformats.org/drawingml/2006/main">
              <a:ext uri="{FF2B5EF4-FFF2-40B4-BE49-F238E27FC236}">
                <a16:creationId xmlns:a16="http://schemas.microsoft.com/office/drawing/2014/main" id="{462C9D2A-A725-47C1-A948-35F8114ED8CE}"/>
              </a:ext>
            </a:extLst>
          </p:cNvPr>
          <p:cNvSpPr>
            <a:spLocks xmlns:a="http://schemas.openxmlformats.org/drawingml/2006/main" noGrp="1"/>
          </p:cNvSpPr>
          <p:nvPr/>
        </p:nvSpPr>
        <p:spPr>
          <a:xfrm xmlns:a="http://schemas.openxmlformats.org/drawingml/2006/main">
            <a:off x="457200" y="2495550"/>
            <a:ext cx="53340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4" indent="-14">
              <a:spcAft>
                <a:spcPts val="24"/>
              </a:spcAft>
              <a:buChar char="•"/>
              <a:defRPr sz="1650">
                <a:solidFill>
                  <a:srgbClr val="101828"/>
                </a:solidFill>
                <a:latin typeface="Arial"/>
                <a:ea typeface="Arial"/>
                <a:cs typeface="Arial"/>
              </a:defRPr>
            </a:pPr>
            <a:r>
              <a:rPr sz="1650" b="1">
                <a:solidFill>
                  <a:srgbClr val="101828"/>
                </a:solidFill>
                <a:latin typeface="Arial"/>
                <a:ea typeface="Arial"/>
                <a:cs typeface="Arial"/>
              </a:rPr>
              <a:t>Students</a:t>
            </a:r>
            <a:r>
              <a:rPr sz="1650">
                <a:solidFill>
                  <a:srgbClr val="101828"/>
                </a:solidFill>
                <a:latin typeface="Arial"/>
                <a:ea typeface="Arial"/>
                <a:cs typeface="Arial"/>
              </a:rPr>
              <a:t> could wait while eligibility and payment were confirmed.</a:t>
            </a:r>
          </a:p>
          <a:p xmlns:a="http://schemas.openxmlformats.org/drawingml/2006/main">
            <a:pPr marL="24" indent="-14">
              <a:spcAft>
                <a:spcPts val="24"/>
              </a:spcAft>
              <a:buChar char="•"/>
              <a:defRPr sz="1650">
                <a:solidFill>
                  <a:srgbClr val="101828"/>
                </a:solidFill>
                <a:latin typeface="Arial"/>
                <a:ea typeface="Arial"/>
                <a:cs typeface="Arial"/>
              </a:defRPr>
            </a:pPr>
            <a:r>
              <a:rPr sz="1650" b="1">
                <a:solidFill>
                  <a:srgbClr val="101828"/>
                </a:solidFill>
                <a:latin typeface="Arial"/>
                <a:ea typeface="Arial"/>
                <a:cs typeface="Arial"/>
              </a:rPr>
              <a:t>Administrators</a:t>
            </a:r>
            <a:r>
              <a:rPr sz="1650">
                <a:solidFill>
                  <a:srgbClr val="101828"/>
                </a:solidFill>
                <a:latin typeface="Arial"/>
                <a:ea typeface="Arial"/>
                <a:cs typeface="Arial"/>
              </a:rPr>
              <a:t> had to coordinate records across separate activities.</a:t>
            </a:r>
          </a:p>
          <a:p xmlns:a="http://schemas.openxmlformats.org/drawingml/2006/main">
            <a:pPr marL="24" indent="-14">
              <a:spcAft>
                <a:spcPts val="24"/>
              </a:spcAft>
              <a:buChar char="•"/>
              <a:defRPr sz="1650">
                <a:solidFill>
                  <a:srgbClr val="101828"/>
                </a:solidFill>
                <a:latin typeface="Arial"/>
                <a:ea typeface="Arial"/>
                <a:cs typeface="Arial"/>
              </a:defRPr>
            </a:pPr>
            <a:r>
              <a:rPr sz="1650" b="1">
                <a:solidFill>
                  <a:srgbClr val="101828"/>
                </a:solidFill>
                <a:latin typeface="Arial"/>
                <a:ea typeface="Arial"/>
                <a:cs typeface="Arial"/>
              </a:rPr>
              <a:t>Verification staff</a:t>
            </a:r>
            <a:r>
              <a:rPr sz="1650">
                <a:solidFill>
                  <a:srgbClr val="101828"/>
                </a:solidFill>
                <a:latin typeface="Arial"/>
                <a:ea typeface="Arial"/>
                <a:cs typeface="Arial"/>
              </a:rPr>
              <a:t> needed a current, auditable permit decision.</a:t>
            </a:r>
          </a:p>
        </p:txBody>
      </p:sp>
      <p:sp>
        <p:nvSpPr>
          <p:cNvPr id="8" name="">
            <a:extLst xmlns:a="http://schemas.openxmlformats.org/drawingml/2006/main">
              <a:ext uri="{FF2B5EF4-FFF2-40B4-BE49-F238E27FC236}">
                <a16:creationId xmlns:a16="http://schemas.microsoft.com/office/drawing/2014/main" id="{2DAEC53C-CCEB-4B37-ACE8-216D758ABF66}"/>
              </a:ext>
            </a:extLst>
          </p:cNvPr>
          <p:cNvSpPr>
            <a:spLocks xmlns:a="http://schemas.openxmlformats.org/drawingml/2006/main" noGrp="1"/>
          </p:cNvSpPr>
          <p:nvPr/>
        </p:nvSpPr>
        <p:spPr>
          <a:xfrm xmlns:a="http://schemas.openxmlformats.org/drawingml/2006/main">
            <a:off x="6667500" y="14668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A fragmented journey</a:t>
            </a:r>
          </a:p>
        </p:txBody>
      </p:sp>
      <p:sp>
        <p:nvSpPr>
          <p:cNvPr id="9" name="">
            <a:extLst xmlns:a="http://schemas.openxmlformats.org/drawingml/2006/main">
              <a:ext uri="{FF2B5EF4-FFF2-40B4-BE49-F238E27FC236}">
                <a16:creationId xmlns:a16="http://schemas.microsoft.com/office/drawing/2014/main" id="{EBD8DB6B-4210-4C56-8FE1-81D723404BC3}"/>
              </a:ext>
            </a:extLst>
          </p:cNvPr>
          <p:cNvSpPr>
            <a:spLocks xmlns:a="http://schemas.openxmlformats.org/drawingml/2006/main" noGrp="1"/>
          </p:cNvSpPr>
          <p:nvPr/>
        </p:nvSpPr>
        <p:spPr>
          <a:xfrm xmlns:a="http://schemas.openxmlformats.org/drawingml/2006/main">
            <a:off x="6705600" y="2038350"/>
            <a:ext cx="3790950" cy="628650"/>
          </a:xfrm>
          <a:prstGeom xmlns:a="http://schemas.openxmlformats.org/drawingml/2006/main" prst="roundRect">
            <a:avLst>
              <a:gd name="adj" fmla="val 15152"/>
            </a:avLst>
          </a:prstGeom>
          <a:solidFill xmlns:a="http://schemas.openxmlformats.org/drawingml/2006/main">
            <a:srgbClr val="FFFFFF"/>
          </a:solidFill>
          <a:ln xmlns:a="http://schemas.openxmlformats.org/drawingml/2006/main" w="9525">
            <a:solidFill>
              <a:srgbClr val="D0D5DD"/>
            </a:solidFill>
            <a:prstDash val="solid"/>
          </a:ln>
        </p:spPr>
      </p:sp>
      <p:sp>
        <p:nvSpPr>
          <p:cNvPr id="10" name="">
            <a:extLst xmlns:a="http://schemas.openxmlformats.org/drawingml/2006/main">
              <a:ext uri="{FF2B5EF4-FFF2-40B4-BE49-F238E27FC236}">
                <a16:creationId xmlns:a16="http://schemas.microsoft.com/office/drawing/2014/main" id="{B93753F0-57AA-4EAF-94CC-D7A4C2B61563}"/>
              </a:ext>
            </a:extLst>
          </p:cNvPr>
          <p:cNvSpPr>
            <a:spLocks xmlns:a="http://schemas.openxmlformats.org/drawingml/2006/main" noGrp="1"/>
          </p:cNvSpPr>
          <p:nvPr/>
        </p:nvSpPr>
        <p:spPr>
          <a:xfrm xmlns:a="http://schemas.openxmlformats.org/drawingml/2006/main">
            <a:off x="6934200" y="22002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01  Request</a:t>
            </a:r>
          </a:p>
        </p:txBody>
      </p:sp>
      <p:cxnSp>
        <p:nvCxnSpPr>
          <p:cNvPr id="35" name=""/>
          <p:cNvCxnSpPr/>
          <p:nvPr/>
        </p:nvCxnSpPr>
        <p:spPr>
          <a:xfrm xmlns:a="http://schemas.openxmlformats.org/drawingml/2006/main">
            <a:off x="8601075" y="2667000"/>
            <a:ext cx="0" cy="266700"/>
          </a:xfrm>
          <a:prstGeom xmlns:a="http://schemas.openxmlformats.org/drawingml/2006/main" prst="straightConnector1">
            <a:avLst/>
          </a:prstGeom>
          <a:ln xmlns:a="http://schemas.openxmlformats.org/drawingml/2006/main" w="19050">
            <a:solidFill>
              <a:srgbClr val="D0D5DD"/>
            </a:solidFill>
            <a:prstDash val="solid"/>
          </a:ln>
        </p:spPr>
      </p:cxnSp>
      <p:sp>
        <p:nvSpPr>
          <p:cNvPr id="12" name="">
            <a:extLst xmlns:a="http://schemas.openxmlformats.org/drawingml/2006/main">
              <a:ext uri="{FF2B5EF4-FFF2-40B4-BE49-F238E27FC236}">
                <a16:creationId xmlns:a16="http://schemas.microsoft.com/office/drawing/2014/main" id="{A2DC59AC-154F-4602-B8AD-B7601A705D9B}"/>
              </a:ext>
            </a:extLst>
          </p:cNvPr>
          <p:cNvSpPr>
            <a:spLocks xmlns:a="http://schemas.openxmlformats.org/drawingml/2006/main" noGrp="1"/>
          </p:cNvSpPr>
          <p:nvPr/>
        </p:nvSpPr>
        <p:spPr>
          <a:xfrm xmlns:a="http://schemas.openxmlformats.org/drawingml/2006/main">
            <a:off x="8724900" y="27051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B42318"/>
                </a:solidFill>
                <a:latin typeface="Arial"/>
                <a:ea typeface="Arial"/>
                <a:cs typeface="Arial"/>
              </a:defRPr>
            </a:pPr>
            <a:r>
              <a:rPr sz="900" b="1">
                <a:solidFill>
                  <a:srgbClr val="B42318"/>
                </a:solidFill>
                <a:latin typeface="Arial"/>
                <a:ea typeface="Arial"/>
                <a:cs typeface="Arial"/>
              </a:rPr>
              <a:t>break</a:t>
            </a:r>
          </a:p>
        </p:txBody>
      </p:sp>
      <p:sp>
        <p:nvSpPr>
          <p:cNvPr id="13" name="">
            <a:extLst xmlns:a="http://schemas.openxmlformats.org/drawingml/2006/main">
              <a:ext uri="{FF2B5EF4-FFF2-40B4-BE49-F238E27FC236}">
                <a16:creationId xmlns:a16="http://schemas.microsoft.com/office/drawing/2014/main" id="{E523F998-70AD-4664-AD3B-1E75448E160B}"/>
              </a:ext>
            </a:extLst>
          </p:cNvPr>
          <p:cNvSpPr>
            <a:spLocks xmlns:a="http://schemas.openxmlformats.org/drawingml/2006/main" noGrp="1"/>
          </p:cNvSpPr>
          <p:nvPr/>
        </p:nvSpPr>
        <p:spPr>
          <a:xfrm xmlns:a="http://schemas.openxmlformats.org/drawingml/2006/main">
            <a:off x="6705600" y="2933700"/>
            <a:ext cx="3790950" cy="628650"/>
          </a:xfrm>
          <a:prstGeom xmlns:a="http://schemas.openxmlformats.org/drawingml/2006/main" prst="roundRect">
            <a:avLst>
              <a:gd name="adj" fmla="val 15152"/>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09C9DA1B-6608-46FF-AF6C-35C6B61C55BF}"/>
              </a:ext>
            </a:extLst>
          </p:cNvPr>
          <p:cNvSpPr>
            <a:spLocks xmlns:a="http://schemas.openxmlformats.org/drawingml/2006/main" noGrp="1"/>
          </p:cNvSpPr>
          <p:nvPr/>
        </p:nvSpPr>
        <p:spPr>
          <a:xfrm xmlns:a="http://schemas.openxmlformats.org/drawingml/2006/main">
            <a:off x="6934200" y="309562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02  Payment</a:t>
            </a:r>
          </a:p>
        </p:txBody>
      </p:sp>
      <p:cxnSp>
        <p:nvCxnSpPr>
          <p:cNvPr id="39" name=""/>
          <p:cNvCxnSpPr/>
          <p:nvPr/>
        </p:nvCxnSpPr>
        <p:spPr>
          <a:xfrm xmlns:a="http://schemas.openxmlformats.org/drawingml/2006/main">
            <a:off x="8601075" y="3562350"/>
            <a:ext cx="0" cy="266700"/>
          </a:xfrm>
          <a:prstGeom xmlns:a="http://schemas.openxmlformats.org/drawingml/2006/main" prst="straightConnector1">
            <a:avLst/>
          </a:prstGeom>
          <a:ln xmlns:a="http://schemas.openxmlformats.org/drawingml/2006/main" w="19050">
            <a:solidFill>
              <a:srgbClr val="D0D5DD"/>
            </a:solidFill>
            <a:prstDash val="solid"/>
          </a:ln>
        </p:spPr>
      </p:cxnSp>
      <p:sp>
        <p:nvSpPr>
          <p:cNvPr id="16" name="">
            <a:extLst xmlns:a="http://schemas.openxmlformats.org/drawingml/2006/main">
              <a:ext uri="{FF2B5EF4-FFF2-40B4-BE49-F238E27FC236}">
                <a16:creationId xmlns:a16="http://schemas.microsoft.com/office/drawing/2014/main" id="{30B3F6D7-8322-4D70-859B-5CFF761935AD}"/>
              </a:ext>
            </a:extLst>
          </p:cNvPr>
          <p:cNvSpPr>
            <a:spLocks xmlns:a="http://schemas.openxmlformats.org/drawingml/2006/main" noGrp="1"/>
          </p:cNvSpPr>
          <p:nvPr/>
        </p:nvSpPr>
        <p:spPr>
          <a:xfrm xmlns:a="http://schemas.openxmlformats.org/drawingml/2006/main">
            <a:off x="8724900" y="360045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B42318"/>
                </a:solidFill>
                <a:latin typeface="Arial"/>
                <a:ea typeface="Arial"/>
                <a:cs typeface="Arial"/>
              </a:defRPr>
            </a:pPr>
            <a:r>
              <a:rPr sz="900" b="1">
                <a:solidFill>
                  <a:srgbClr val="B42318"/>
                </a:solidFill>
                <a:latin typeface="Arial"/>
                <a:ea typeface="Arial"/>
                <a:cs typeface="Arial"/>
              </a:rPr>
              <a:t>break</a:t>
            </a:r>
          </a:p>
        </p:txBody>
      </p:sp>
      <p:sp>
        <p:nvSpPr>
          <p:cNvPr id="17" name="">
            <a:extLst xmlns:a="http://schemas.openxmlformats.org/drawingml/2006/main">
              <a:ext uri="{FF2B5EF4-FFF2-40B4-BE49-F238E27FC236}">
                <a16:creationId xmlns:a16="http://schemas.microsoft.com/office/drawing/2014/main" id="{6950E4E0-E457-466B-BA31-6B7C5126E4D9}"/>
              </a:ext>
            </a:extLst>
          </p:cNvPr>
          <p:cNvSpPr>
            <a:spLocks xmlns:a="http://schemas.openxmlformats.org/drawingml/2006/main" noGrp="1"/>
          </p:cNvSpPr>
          <p:nvPr/>
        </p:nvSpPr>
        <p:spPr>
          <a:xfrm xmlns:a="http://schemas.openxmlformats.org/drawingml/2006/main">
            <a:off x="6705600" y="3829050"/>
            <a:ext cx="3790950" cy="628650"/>
          </a:xfrm>
          <a:prstGeom xmlns:a="http://schemas.openxmlformats.org/drawingml/2006/main" prst="roundRect">
            <a:avLst>
              <a:gd name="adj" fmla="val 15152"/>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BC1EAD06-6F52-4A65-BCCD-D841F241B2F1}"/>
              </a:ext>
            </a:extLst>
          </p:cNvPr>
          <p:cNvSpPr>
            <a:spLocks xmlns:a="http://schemas.openxmlformats.org/drawingml/2006/main" noGrp="1"/>
          </p:cNvSpPr>
          <p:nvPr/>
        </p:nvSpPr>
        <p:spPr>
          <a:xfrm xmlns:a="http://schemas.openxmlformats.org/drawingml/2006/main">
            <a:off x="6934200" y="399097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03  Approval</a:t>
            </a:r>
          </a:p>
        </p:txBody>
      </p:sp>
      <p:cxnSp>
        <p:nvCxnSpPr>
          <p:cNvPr id="43" name=""/>
          <p:cNvCxnSpPr/>
          <p:nvPr/>
        </p:nvCxnSpPr>
        <p:spPr>
          <a:xfrm xmlns:a="http://schemas.openxmlformats.org/drawingml/2006/main">
            <a:off x="8601075" y="4457700"/>
            <a:ext cx="0" cy="266700"/>
          </a:xfrm>
          <a:prstGeom xmlns:a="http://schemas.openxmlformats.org/drawingml/2006/main" prst="straightConnector1">
            <a:avLst/>
          </a:prstGeom>
          <a:ln xmlns:a="http://schemas.openxmlformats.org/drawingml/2006/main" w="19050">
            <a:solidFill>
              <a:srgbClr val="D0D5DD"/>
            </a:solidFill>
            <a:prstDash val="solid"/>
          </a:ln>
        </p:spPr>
      </p:cxnSp>
      <p:sp>
        <p:nvSpPr>
          <p:cNvPr id="20" name="">
            <a:extLst xmlns:a="http://schemas.openxmlformats.org/drawingml/2006/main">
              <a:ext uri="{FF2B5EF4-FFF2-40B4-BE49-F238E27FC236}">
                <a16:creationId xmlns:a16="http://schemas.microsoft.com/office/drawing/2014/main" id="{F125D5F4-DF7A-4147-BCE7-4FDE42296FF2}"/>
              </a:ext>
            </a:extLst>
          </p:cNvPr>
          <p:cNvSpPr>
            <a:spLocks xmlns:a="http://schemas.openxmlformats.org/drawingml/2006/main" noGrp="1"/>
          </p:cNvSpPr>
          <p:nvPr/>
        </p:nvSpPr>
        <p:spPr>
          <a:xfrm xmlns:a="http://schemas.openxmlformats.org/drawingml/2006/main">
            <a:off x="8724900" y="44958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B42318"/>
                </a:solidFill>
                <a:latin typeface="Arial"/>
                <a:ea typeface="Arial"/>
                <a:cs typeface="Arial"/>
              </a:defRPr>
            </a:pPr>
            <a:r>
              <a:rPr sz="900" b="1">
                <a:solidFill>
                  <a:srgbClr val="B42318"/>
                </a:solidFill>
                <a:latin typeface="Arial"/>
                <a:ea typeface="Arial"/>
                <a:cs typeface="Arial"/>
              </a:rPr>
              <a:t>break</a:t>
            </a:r>
          </a:p>
        </p:txBody>
      </p:sp>
      <p:sp>
        <p:nvSpPr>
          <p:cNvPr id="21" name="">
            <a:extLst xmlns:a="http://schemas.openxmlformats.org/drawingml/2006/main">
              <a:ext uri="{FF2B5EF4-FFF2-40B4-BE49-F238E27FC236}">
                <a16:creationId xmlns:a16="http://schemas.microsoft.com/office/drawing/2014/main" id="{C98A15A9-56C1-4A40-AD9C-C1BC243B28DE}"/>
              </a:ext>
            </a:extLst>
          </p:cNvPr>
          <p:cNvSpPr>
            <a:spLocks xmlns:a="http://schemas.openxmlformats.org/drawingml/2006/main" noGrp="1"/>
          </p:cNvSpPr>
          <p:nvPr/>
        </p:nvSpPr>
        <p:spPr>
          <a:xfrm xmlns:a="http://schemas.openxmlformats.org/drawingml/2006/main">
            <a:off x="6705600" y="4724400"/>
            <a:ext cx="3790950" cy="628650"/>
          </a:xfrm>
          <a:prstGeom xmlns:a="http://schemas.openxmlformats.org/drawingml/2006/main" prst="roundRect">
            <a:avLst>
              <a:gd name="adj" fmla="val 15152"/>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E67FFE95-34E0-4E0B-AB17-4910D2309917}"/>
              </a:ext>
            </a:extLst>
          </p:cNvPr>
          <p:cNvSpPr>
            <a:spLocks xmlns:a="http://schemas.openxmlformats.org/drawingml/2006/main" noGrp="1"/>
          </p:cNvSpPr>
          <p:nvPr/>
        </p:nvSpPr>
        <p:spPr>
          <a:xfrm xmlns:a="http://schemas.openxmlformats.org/drawingml/2006/main">
            <a:off x="6934200" y="4886325"/>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a:solidFill>
                  <a:srgbClr val="101828"/>
                </a:solidFill>
                <a:latin typeface="Arial"/>
                <a:ea typeface="Arial"/>
                <a:cs typeface="Arial"/>
              </a:defRPr>
            </a:pPr>
            <a:r>
              <a:rPr sz="1650" b="1">
                <a:solidFill>
                  <a:srgbClr val="101828"/>
                </a:solidFill>
                <a:latin typeface="Arial"/>
                <a:ea typeface="Arial"/>
                <a:cs typeface="Arial"/>
              </a:rPr>
              <a:t>04  Verification</a:t>
            </a:r>
          </a:p>
        </p:txBody>
      </p:sp>
      <p:sp>
        <p:nvSpPr>
          <p:cNvPr id="23" name="">
            <a:extLst xmlns:a="http://schemas.openxmlformats.org/drawingml/2006/main">
              <a:ext uri="{FF2B5EF4-FFF2-40B4-BE49-F238E27FC236}">
                <a16:creationId xmlns:a16="http://schemas.microsoft.com/office/drawing/2014/main" id="{025529C6-F943-420F-AF1F-059CD6E4F6F0}"/>
              </a:ext>
            </a:extLst>
          </p:cNvPr>
          <p:cNvSpPr>
            <a:spLocks xmlns:a="http://schemas.openxmlformats.org/drawingml/2006/main" noGrp="1"/>
          </p:cNvSpPr>
          <p:nvPr/>
        </p:nvSpPr>
        <p:spPr>
          <a:xfrm xmlns:a="http://schemas.openxmlformats.org/drawingml/2006/main">
            <a:off x="6667500" y="5753100"/>
            <a:ext cx="4133850" cy="400050"/>
          </a:xfrm>
          <a:prstGeom xmlns:a="http://schemas.openxmlformats.org/drawingml/2006/main" prst="roundRect">
            <a:avLst>
              <a:gd name="adj" fmla="val 19048"/>
            </a:avLst>
          </a:prstGeom>
          <a:solidFill xmlns:a="http://schemas.openxmlformats.org/drawingml/2006/main">
            <a:srgbClr val="FEE4E2"/>
          </a:solidFill>
          <a:ln xmlns:a="http://schemas.openxmlformats.org/drawingml/2006/main" w="0">
            <a:solidFill>
              <a:srgbClr val="FEE4E2"/>
            </a:solidFill>
            <a:prstDash val="solid"/>
          </a:ln>
        </p:spPr>
      </p:sp>
      <p:sp>
        <p:nvSpPr>
          <p:cNvPr id="24" name="">
            <a:extLst xmlns:a="http://schemas.openxmlformats.org/drawingml/2006/main">
              <a:ext uri="{FF2B5EF4-FFF2-40B4-BE49-F238E27FC236}">
                <a16:creationId xmlns:a16="http://schemas.microsoft.com/office/drawing/2014/main" id="{5E52E513-3A19-460D-BBE9-0CC6B4F12181}"/>
              </a:ext>
            </a:extLst>
          </p:cNvPr>
          <p:cNvSpPr>
            <a:spLocks xmlns:a="http://schemas.openxmlformats.org/drawingml/2006/main" noGrp="1"/>
          </p:cNvSpPr>
          <p:nvPr/>
        </p:nvSpPr>
        <p:spPr>
          <a:xfrm xmlns:a="http://schemas.openxmlformats.org/drawingml/2006/main">
            <a:off x="6838950" y="5857875"/>
            <a:ext cx="37909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B42318"/>
                </a:solidFill>
                <a:latin typeface="Arial"/>
                <a:ea typeface="Arial"/>
                <a:cs typeface="Arial"/>
              </a:defRPr>
            </a:pPr>
            <a:r>
              <a:rPr sz="1200" b="1">
                <a:solidFill>
                  <a:srgbClr val="B42318"/>
                </a:solidFill>
                <a:latin typeface="Arial"/>
                <a:ea typeface="Arial"/>
                <a:cs typeface="Arial"/>
              </a:rPr>
              <a:t>Result: slower service and limited audit visibility</a:t>
            </a:r>
          </a:p>
        </p:txBody>
      </p:sp>
    </p:spTree>
    <p:extLst>
      <p:ext uri="{BB962C8B-B14F-4D97-AF65-F5344CB8AC3E}">
        <p14:creationId xmlns:p14="http://schemas.microsoft.com/office/powerpoint/2010/main" val="1473058170"/>
      </p:ext>
    </p:extLst>
  </p:cSld>
</p:sld>
</file>

<file path=ppt/slides/slide3.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542F2E0-75E0-44B1-980B-A6C33199BD2B}"/>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THE SOLUTION</a:t>
            </a:r>
          </a:p>
        </p:txBody>
      </p:sp>
      <p:sp>
        <p:nvSpPr>
          <p:cNvPr id="2" name="">
            <a:extLst xmlns:a="http://schemas.openxmlformats.org/drawingml/2006/main">
              <a:ext uri="{FF2B5EF4-FFF2-40B4-BE49-F238E27FC236}">
                <a16:creationId xmlns:a16="http://schemas.microsoft.com/office/drawing/2014/main" id="{BAB3810C-A1ED-4314-93F2-187DB5A26F43}"/>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68989"/>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One backend connects the website, mobile app, and verification decisions</a:t>
            </a:r>
          </a:p>
        </p:txBody>
      </p:sp>
      <p:cxnSp>
        <p:nvCxnSpPr>
          <p:cNvPr id="24"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1294F1D5-6692-4525-9570-DA374CC43F22}"/>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89CD9E4A-68DD-438C-8A22-422F2BE33BBA}"/>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03</a:t>
            </a:r>
          </a:p>
        </p:txBody>
      </p:sp>
      <p:sp>
        <p:nvSpPr>
          <p:cNvPr id="6" name="">
            <a:extLst xmlns:a="http://schemas.openxmlformats.org/drawingml/2006/main">
              <a:ext uri="{FF2B5EF4-FFF2-40B4-BE49-F238E27FC236}">
                <a16:creationId xmlns:a16="http://schemas.microsoft.com/office/drawing/2014/main" id="{A4AA6751-50AE-4C1A-BEEF-8164F67C8213}"/>
              </a:ext>
            </a:extLst>
          </p:cNvPr>
          <p:cNvSpPr>
            <a:spLocks xmlns:a="http://schemas.openxmlformats.org/drawingml/2006/main" noGrp="1"/>
          </p:cNvSpPr>
          <p:nvPr/>
        </p:nvSpPr>
        <p:spPr>
          <a:xfrm xmlns:a="http://schemas.openxmlformats.org/drawingml/2006/main">
            <a:off x="457200" y="1428750"/>
            <a:ext cx="571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667085"/>
                </a:solidFill>
                <a:latin typeface="Arial"/>
                <a:ea typeface="Arial"/>
                <a:cs typeface="Arial"/>
              </a:defRPr>
            </a:pPr>
            <a:r>
              <a:rPr sz="1875" b="0">
                <a:solidFill>
                  <a:srgbClr val="667085"/>
                </a:solidFill>
                <a:latin typeface="Arial"/>
                <a:ea typeface="Arial"/>
                <a:cs typeface="Arial"/>
              </a:rPr>
              <a:t>Different interfaces. One controlled source of truth.</a:t>
            </a:r>
          </a:p>
        </p:txBody>
      </p:sp>
      <p:cxnSp>
        <p:nvCxnSpPr>
          <p:cNvPr id="28" name=""/>
          <p:cNvCxnSpPr/>
          <p:nvPr/>
        </p:nvCxnSpPr>
        <p:spPr>
          <a:xfrm xmlns:a="http://schemas.openxmlformats.org/drawingml/2006/main">
            <a:off x="3886200" y="2343150"/>
            <a:ext cx="838200" cy="1028700"/>
          </a:xfrm>
          <a:prstGeom xmlns:a="http://schemas.openxmlformats.org/drawingml/2006/main" prst="straightConnector1">
            <a:avLst/>
          </a:prstGeom>
          <a:ln xmlns:a="http://schemas.openxmlformats.org/drawingml/2006/main" w="28575">
            <a:solidFill>
              <a:srgbClr val="6C5CE7"/>
            </a:solidFill>
            <a:prstDash val="solid"/>
          </a:ln>
        </p:spPr>
      </p:cxnSp>
      <p:cxnSp>
        <p:nvCxnSpPr>
          <p:cNvPr id="29" name=""/>
          <p:cNvCxnSpPr/>
          <p:nvPr/>
        </p:nvCxnSpPr>
        <p:spPr>
          <a:xfrm xmlns:a="http://schemas.openxmlformats.org/drawingml/2006/main">
            <a:off x="7467600" y="2343150"/>
            <a:ext cx="838200" cy="1028700"/>
          </a:xfrm>
          <a:prstGeom xmlns:a="http://schemas.openxmlformats.org/drawingml/2006/main" prst="straightConnector1">
            <a:avLst/>
          </a:prstGeom>
          <a:ln xmlns:a="http://schemas.openxmlformats.org/drawingml/2006/main" w="28575">
            <a:solidFill>
              <a:srgbClr val="6C5CE7"/>
            </a:solidFill>
            <a:prstDash val="solid"/>
          </a:ln>
        </p:spPr>
      </p:cxnSp>
      <p:cxnSp>
        <p:nvCxnSpPr>
          <p:cNvPr id="30" name=""/>
          <p:cNvCxnSpPr/>
          <p:nvPr/>
        </p:nvCxnSpPr>
        <p:spPr>
          <a:xfrm xmlns:a="http://schemas.openxmlformats.org/drawingml/2006/main">
            <a:off x="6096000" y="3371850"/>
            <a:ext cx="0" cy="1790700"/>
          </a:xfrm>
          <a:prstGeom xmlns:a="http://schemas.openxmlformats.org/drawingml/2006/main" prst="straightConnector1">
            <a:avLst/>
          </a:prstGeom>
          <a:ln xmlns:a="http://schemas.openxmlformats.org/drawingml/2006/main" w="28575">
            <a:solidFill>
              <a:srgbClr val="6C5CE7"/>
            </a:solidFill>
            <a:prstDash val="solid"/>
          </a:ln>
        </p:spPr>
      </p:cxnSp>
      <p:sp>
        <p:nvSpPr>
          <p:cNvPr id="10" name="">
            <a:extLst xmlns:a="http://schemas.openxmlformats.org/drawingml/2006/main">
              <a:ext uri="{FF2B5EF4-FFF2-40B4-BE49-F238E27FC236}">
                <a16:creationId xmlns:a16="http://schemas.microsoft.com/office/drawing/2014/main" id="{F9D3D3C5-4FFB-4EA7-8A0D-44F0493868CC}"/>
              </a:ext>
            </a:extLst>
          </p:cNvPr>
          <p:cNvSpPr>
            <a:spLocks xmlns:a="http://schemas.openxmlformats.org/drawingml/2006/main" noGrp="1"/>
          </p:cNvSpPr>
          <p:nvPr/>
        </p:nvSpPr>
        <p:spPr>
          <a:xfrm xmlns:a="http://schemas.openxmlformats.org/drawingml/2006/main">
            <a:off x="4724400" y="2647950"/>
            <a:ext cx="2743200" cy="1447800"/>
          </a:xfrm>
          <a:prstGeom xmlns:a="http://schemas.openxmlformats.org/drawingml/2006/main" prst="roundRect">
            <a:avLst>
              <a:gd name="adj" fmla="val 11842"/>
            </a:avLst>
          </a:prstGeom>
          <a:solidFill xmlns:a="http://schemas.openxmlformats.org/drawingml/2006/main">
            <a:srgbClr val="111827"/>
          </a:solidFill>
          <a:ln xmlns:a="http://schemas.openxmlformats.org/drawingml/2006/main" w="0">
            <a:solidFill>
              <a:srgbClr val="111827"/>
            </a:solidFill>
            <a:prstDash val="solid"/>
          </a:ln>
        </p:spPr>
      </p:sp>
      <p:sp>
        <p:nvSpPr>
          <p:cNvPr id="11" name="">
            <a:extLst xmlns:a="http://schemas.openxmlformats.org/drawingml/2006/main">
              <a:ext uri="{FF2B5EF4-FFF2-40B4-BE49-F238E27FC236}">
                <a16:creationId xmlns:a16="http://schemas.microsoft.com/office/drawing/2014/main" id="{106A8A83-B648-4545-9B1F-245DE5451B80}"/>
              </a:ext>
            </a:extLst>
          </p:cNvPr>
          <p:cNvSpPr>
            <a:spLocks xmlns:a="http://schemas.openxmlformats.org/drawingml/2006/main" noGrp="1"/>
          </p:cNvSpPr>
          <p:nvPr/>
        </p:nvSpPr>
        <p:spPr>
          <a:xfrm xmlns:a="http://schemas.openxmlformats.org/drawingml/2006/main">
            <a:off x="5029200" y="2924175"/>
            <a:ext cx="2133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1">
                <a:solidFill>
                  <a:srgbClr val="C4B5FD"/>
                </a:solidFill>
                <a:latin typeface="Arial"/>
                <a:ea typeface="Arial"/>
                <a:cs typeface="Arial"/>
              </a:defRPr>
            </a:pPr>
            <a:r>
              <a:rPr sz="1350" b="1">
                <a:solidFill>
                  <a:srgbClr val="C4B5FD"/>
                </a:solidFill>
                <a:latin typeface="Arial"/>
                <a:ea typeface="Arial"/>
                <a:cs typeface="Arial"/>
              </a:rPr>
              <a:t>SHARED BACKEND</a:t>
            </a:r>
          </a:p>
        </p:txBody>
      </p:sp>
      <p:sp>
        <p:nvSpPr>
          <p:cNvPr id="12" name="">
            <a:extLst xmlns:a="http://schemas.openxmlformats.org/drawingml/2006/main">
              <a:ext uri="{FF2B5EF4-FFF2-40B4-BE49-F238E27FC236}">
                <a16:creationId xmlns:a16="http://schemas.microsoft.com/office/drawing/2014/main" id="{7D64E50C-AAB3-42B7-8930-92E2FC19C527}"/>
              </a:ext>
            </a:extLst>
          </p:cNvPr>
          <p:cNvSpPr>
            <a:spLocks xmlns:a="http://schemas.openxmlformats.org/drawingml/2006/main" noGrp="1"/>
          </p:cNvSpPr>
          <p:nvPr/>
        </p:nvSpPr>
        <p:spPr>
          <a:xfrm xmlns:a="http://schemas.openxmlformats.org/drawingml/2006/main">
            <a:off x="5029200" y="3314700"/>
            <a:ext cx="2133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6667"/>
          </a:bodyPr>
          <a:lstStyle xmlns:a="http://schemas.openxmlformats.org/drawingml/2006/main"/>
          <a:p xmlns:a="http://schemas.openxmlformats.org/drawingml/2006/main">
            <a:pPr algn="ctr">
              <a:defRPr sz="1875" b="1">
                <a:solidFill>
                  <a:srgbClr val="FFFFFF"/>
                </a:solidFill>
                <a:latin typeface="Arial"/>
                <a:ea typeface="Arial"/>
                <a:cs typeface="Arial"/>
              </a:defRPr>
            </a:pPr>
            <a:r>
              <a:rPr sz="1875" b="1">
                <a:solidFill>
                  <a:srgbClr val="FFFFFF"/>
                </a:solidFill>
                <a:latin typeface="Arial"/>
                <a:ea typeface="Arial"/>
                <a:cs typeface="Arial"/>
              </a:rPr>
              <a:t>Laravel rules + one database</a:t>
            </a:r>
          </a:p>
        </p:txBody>
      </p:sp>
      <p:sp>
        <p:nvSpPr>
          <p:cNvPr id="13" name="">
            <a:extLst xmlns:a="http://schemas.openxmlformats.org/drawingml/2006/main">
              <a:ext uri="{FF2B5EF4-FFF2-40B4-BE49-F238E27FC236}">
                <a16:creationId xmlns:a16="http://schemas.microsoft.com/office/drawing/2014/main" id="{124B64A3-0692-45C3-8A74-8109E978579A}"/>
              </a:ext>
            </a:extLst>
          </p:cNvPr>
          <p:cNvSpPr>
            <a:spLocks xmlns:a="http://schemas.openxmlformats.org/drawingml/2006/main" noGrp="1"/>
          </p:cNvSpPr>
          <p:nvPr/>
        </p:nvSpPr>
        <p:spPr>
          <a:xfrm xmlns:a="http://schemas.openxmlformats.org/drawingml/2006/main">
            <a:off x="838200" y="1676400"/>
            <a:ext cx="304800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37AB90F3-B889-440A-A34B-7372786FAA22}"/>
              </a:ext>
            </a:extLst>
          </p:cNvPr>
          <p:cNvSpPr>
            <a:spLocks xmlns:a="http://schemas.openxmlformats.org/drawingml/2006/main" noGrp="1"/>
          </p:cNvSpPr>
          <p:nvPr/>
        </p:nvSpPr>
        <p:spPr>
          <a:xfrm xmlns:a="http://schemas.openxmlformats.org/drawingml/2006/main">
            <a:off x="1066800" y="186690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6C5CE7"/>
                </a:solidFill>
                <a:latin typeface="Arial"/>
                <a:ea typeface="Arial"/>
                <a:cs typeface="Arial"/>
              </a:defRPr>
            </a:pPr>
            <a:r>
              <a:rPr sz="1800" b="1">
                <a:solidFill>
                  <a:srgbClr val="6C5CE7"/>
                </a:solidFill>
                <a:latin typeface="Arial"/>
                <a:ea typeface="Arial"/>
                <a:cs typeface="Arial"/>
              </a:rPr>
              <a:t>Website</a:t>
            </a:r>
          </a:p>
        </p:txBody>
      </p:sp>
      <p:sp>
        <p:nvSpPr>
          <p:cNvPr id="15" name="">
            <a:extLst xmlns:a="http://schemas.openxmlformats.org/drawingml/2006/main">
              <a:ext uri="{FF2B5EF4-FFF2-40B4-BE49-F238E27FC236}">
                <a16:creationId xmlns:a16="http://schemas.microsoft.com/office/drawing/2014/main" id="{DBD29CA5-9AB2-495D-AF4D-D5E0C4FDCC40}"/>
              </a:ext>
            </a:extLst>
          </p:cNvPr>
          <p:cNvSpPr>
            <a:spLocks xmlns:a="http://schemas.openxmlformats.org/drawingml/2006/main" noGrp="1"/>
          </p:cNvSpPr>
          <p:nvPr/>
        </p:nvSpPr>
        <p:spPr>
          <a:xfrm xmlns:a="http://schemas.openxmlformats.org/drawingml/2006/main">
            <a:off x="1066800" y="2247900"/>
            <a:ext cx="259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Public information and administrative operations</a:t>
            </a:r>
          </a:p>
        </p:txBody>
      </p:sp>
      <p:sp>
        <p:nvSpPr>
          <p:cNvPr id="16" name="">
            <a:extLst xmlns:a="http://schemas.openxmlformats.org/drawingml/2006/main">
              <a:ext uri="{FF2B5EF4-FFF2-40B4-BE49-F238E27FC236}">
                <a16:creationId xmlns:a16="http://schemas.microsoft.com/office/drawing/2014/main" id="{1C2CB638-548D-43E6-934E-E67EE3A2B076}"/>
              </a:ext>
            </a:extLst>
          </p:cNvPr>
          <p:cNvSpPr>
            <a:spLocks xmlns:a="http://schemas.openxmlformats.org/drawingml/2006/main" noGrp="1"/>
          </p:cNvSpPr>
          <p:nvPr/>
        </p:nvSpPr>
        <p:spPr>
          <a:xfrm xmlns:a="http://schemas.openxmlformats.org/drawingml/2006/main">
            <a:off x="8305800" y="1676400"/>
            <a:ext cx="304800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0D5DD"/>
            </a:solidFill>
            <a:prstDash val="solid"/>
          </a:ln>
        </p:spPr>
      </p:sp>
      <p:sp>
        <p:nvSpPr>
          <p:cNvPr id="17" name="">
            <a:extLst xmlns:a="http://schemas.openxmlformats.org/drawingml/2006/main">
              <a:ext uri="{FF2B5EF4-FFF2-40B4-BE49-F238E27FC236}">
                <a16:creationId xmlns:a16="http://schemas.microsoft.com/office/drawing/2014/main" id="{78D7E9D4-B109-45CD-8430-D56FB759AD97}"/>
              </a:ext>
            </a:extLst>
          </p:cNvPr>
          <p:cNvSpPr>
            <a:spLocks xmlns:a="http://schemas.openxmlformats.org/drawingml/2006/main" noGrp="1"/>
          </p:cNvSpPr>
          <p:nvPr/>
        </p:nvSpPr>
        <p:spPr>
          <a:xfrm xmlns:a="http://schemas.openxmlformats.org/drawingml/2006/main">
            <a:off x="8534400" y="1866900"/>
            <a:ext cx="25908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6C5CE7"/>
                </a:solidFill>
                <a:latin typeface="Arial"/>
                <a:ea typeface="Arial"/>
                <a:cs typeface="Arial"/>
              </a:defRPr>
            </a:pPr>
            <a:r>
              <a:rPr sz="1800" b="1">
                <a:solidFill>
                  <a:srgbClr val="6C5CE7"/>
                </a:solidFill>
                <a:latin typeface="Arial"/>
                <a:ea typeface="Arial"/>
                <a:cs typeface="Arial"/>
              </a:rPr>
              <a:t>Mobile app</a:t>
            </a:r>
          </a:p>
        </p:txBody>
      </p:sp>
      <p:sp>
        <p:nvSpPr>
          <p:cNvPr id="18" name="">
            <a:extLst xmlns:a="http://schemas.openxmlformats.org/drawingml/2006/main">
              <a:ext uri="{FF2B5EF4-FFF2-40B4-BE49-F238E27FC236}">
                <a16:creationId xmlns:a16="http://schemas.microsoft.com/office/drawing/2014/main" id="{889C2E49-CBB5-4983-85CF-FFFB4164FAE8}"/>
              </a:ext>
            </a:extLst>
          </p:cNvPr>
          <p:cNvSpPr>
            <a:spLocks xmlns:a="http://schemas.openxmlformats.org/drawingml/2006/main" noGrp="1"/>
          </p:cNvSpPr>
          <p:nvPr/>
        </p:nvSpPr>
        <p:spPr>
          <a:xfrm xmlns:a="http://schemas.openxmlformats.org/drawingml/2006/main">
            <a:off x="8534400" y="2247900"/>
            <a:ext cx="259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Student services and authorized staff verification</a:t>
            </a:r>
          </a:p>
        </p:txBody>
      </p:sp>
      <p:sp>
        <p:nvSpPr>
          <p:cNvPr id="19" name="">
            <a:extLst xmlns:a="http://schemas.openxmlformats.org/drawingml/2006/main">
              <a:ext uri="{FF2B5EF4-FFF2-40B4-BE49-F238E27FC236}">
                <a16:creationId xmlns:a16="http://schemas.microsoft.com/office/drawing/2014/main" id="{4D6C0DC4-1FCD-4299-ACAC-E1BBCDC78665}"/>
              </a:ext>
            </a:extLst>
          </p:cNvPr>
          <p:cNvSpPr>
            <a:spLocks xmlns:a="http://schemas.openxmlformats.org/drawingml/2006/main" noGrp="1"/>
          </p:cNvSpPr>
          <p:nvPr/>
        </p:nvSpPr>
        <p:spPr>
          <a:xfrm xmlns:a="http://schemas.openxmlformats.org/drawingml/2006/main">
            <a:off x="4591050" y="4857750"/>
            <a:ext cx="3009900" cy="1200150"/>
          </a:xfrm>
          <a:prstGeom xmlns:a="http://schemas.openxmlformats.org/drawingml/2006/main" prst="roundRect">
            <a:avLst>
              <a:gd name="adj" fmla="val 11111"/>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76A13D56-09C7-4052-AA11-B92567116848}"/>
              </a:ext>
            </a:extLst>
          </p:cNvPr>
          <p:cNvSpPr>
            <a:spLocks xmlns:a="http://schemas.openxmlformats.org/drawingml/2006/main" noGrp="1"/>
          </p:cNvSpPr>
          <p:nvPr/>
        </p:nvSpPr>
        <p:spPr>
          <a:xfrm xmlns:a="http://schemas.openxmlformats.org/drawingml/2006/main">
            <a:off x="4819650" y="5048250"/>
            <a:ext cx="2552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6C5CE7"/>
                </a:solidFill>
                <a:latin typeface="Arial"/>
                <a:ea typeface="Arial"/>
                <a:cs typeface="Arial"/>
              </a:defRPr>
            </a:pPr>
            <a:r>
              <a:rPr sz="1800" b="1">
                <a:solidFill>
                  <a:srgbClr val="6C5CE7"/>
                </a:solidFill>
                <a:latin typeface="Arial"/>
                <a:ea typeface="Arial"/>
                <a:cs typeface="Arial"/>
              </a:rPr>
              <a:t>Current decision</a:t>
            </a:r>
          </a:p>
        </p:txBody>
      </p:sp>
      <p:sp>
        <p:nvSpPr>
          <p:cNvPr id="21" name="">
            <a:extLst xmlns:a="http://schemas.openxmlformats.org/drawingml/2006/main">
              <a:ext uri="{FF2B5EF4-FFF2-40B4-BE49-F238E27FC236}">
                <a16:creationId xmlns:a16="http://schemas.microsoft.com/office/drawing/2014/main" id="{1CB4123F-018D-4A69-B117-24CA4397A145}"/>
              </a:ext>
            </a:extLst>
          </p:cNvPr>
          <p:cNvSpPr>
            <a:spLocks xmlns:a="http://schemas.openxmlformats.org/drawingml/2006/main" noGrp="1"/>
          </p:cNvSpPr>
          <p:nvPr/>
        </p:nvSpPr>
        <p:spPr>
          <a:xfrm xmlns:a="http://schemas.openxmlformats.org/drawingml/2006/main">
            <a:off x="4819650" y="5429250"/>
            <a:ext cx="2552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a:solidFill>
                  <a:srgbClr val="667085"/>
                </a:solidFill>
                <a:latin typeface="Arial"/>
                <a:ea typeface="Arial"/>
                <a:cs typeface="Arial"/>
              </a:defRPr>
            </a:pPr>
            <a:r>
              <a:rPr sz="1275" b="0">
                <a:solidFill>
                  <a:srgbClr val="667085"/>
                </a:solidFill>
                <a:latin typeface="Arial"/>
                <a:ea typeface="Arial"/>
                <a:cs typeface="Arial"/>
              </a:rPr>
              <a:t>The same permit, payment, role, and audit state everywhere</a:t>
            </a:r>
          </a:p>
        </p:txBody>
      </p:sp>
    </p:spTree>
    <p:extLst>
      <p:ext uri="{BB962C8B-B14F-4D97-AF65-F5344CB8AC3E}">
        <p14:creationId xmlns:p14="http://schemas.microsoft.com/office/powerpoint/2010/main" val="1313098160"/>
      </p:ext>
    </p:extLst>
  </p:cSld>
</p:sld>
</file>

<file path=ppt/slides/slide4.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594A830A-999F-45E7-8227-07101F2D63BD}"/>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ARCHITECTURE</a:t>
            </a:r>
          </a:p>
        </p:txBody>
      </p:sp>
      <p:sp>
        <p:nvSpPr>
          <p:cNvPr id="2" name="">
            <a:extLst xmlns:a="http://schemas.openxmlformats.org/drawingml/2006/main">
              <a:ext uri="{FF2B5EF4-FFF2-40B4-BE49-F238E27FC236}">
                <a16:creationId xmlns:a16="http://schemas.microsoft.com/office/drawing/2014/main" id="{A08B3086-B0CB-41D6-8D39-1F049CAC2F48}"/>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205"/>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Laravel enforces the business rules for every channel</a:t>
            </a:r>
          </a:p>
        </p:txBody>
      </p:sp>
      <p:cxnSp>
        <p:nvCxnSpPr>
          <p:cNvPr id="36"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5D9A0FA5-EF92-4A83-B25E-E58D92A1C720}"/>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7457CF23-D98F-413A-B6FF-3F24D94FE143}"/>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04</a:t>
            </a:r>
          </a:p>
        </p:txBody>
      </p:sp>
      <p:sp>
        <p:nvSpPr>
          <p:cNvPr id="6" name="">
            <a:extLst xmlns:a="http://schemas.openxmlformats.org/drawingml/2006/main">
              <a:ext uri="{FF2B5EF4-FFF2-40B4-BE49-F238E27FC236}">
                <a16:creationId xmlns:a16="http://schemas.microsoft.com/office/drawing/2014/main" id="{4CBB75B7-D30D-4A2A-A3DD-854B9A7F1484}"/>
              </a:ext>
            </a:extLst>
          </p:cNvPr>
          <p:cNvSpPr>
            <a:spLocks xmlns:a="http://schemas.openxmlformats.org/drawingml/2006/main" noGrp="1"/>
          </p:cNvSpPr>
          <p:nvPr/>
        </p:nvSpPr>
        <p:spPr>
          <a:xfrm xmlns:a="http://schemas.openxmlformats.org/drawingml/2006/main">
            <a:off x="457200" y="1409700"/>
            <a:ext cx="10858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826"/>
          </a:bodyPr>
          <a:lstStyle xmlns:a="http://schemas.openxmlformats.org/drawingml/2006/main"/>
          <a:p xmlns:a="http://schemas.openxmlformats.org/drawingml/2006/main">
            <a:pPr algn="l">
              <a:defRPr sz="1725" b="0">
                <a:solidFill>
                  <a:srgbClr val="667085"/>
                </a:solidFill>
                <a:latin typeface="Arial"/>
                <a:ea typeface="Arial"/>
                <a:cs typeface="Arial"/>
              </a:defRPr>
            </a:pPr>
            <a:r>
              <a:rPr sz="1725" b="0">
                <a:solidFill>
                  <a:srgbClr val="667085"/>
                </a:solidFill>
                <a:latin typeface="Arial"/>
                <a:ea typeface="Arial"/>
                <a:cs typeface="Arial"/>
              </a:rPr>
              <a:t>Web and mobile remain independent interfaces, while permissions, payments, permits, and verification stay centralized.</a:t>
            </a:r>
          </a:p>
        </p:txBody>
      </p:sp>
      <p:cxnSp>
        <p:nvCxnSpPr>
          <p:cNvPr id="40" name=""/>
          <p:cNvCxnSpPr/>
          <p:nvPr/>
        </p:nvCxnSpPr>
        <p:spPr>
          <a:xfrm xmlns:a="http://schemas.openxmlformats.org/drawingml/2006/main">
            <a:off x="3143250" y="2838450"/>
            <a:ext cx="1524000" cy="0"/>
          </a:xfrm>
          <a:prstGeom xmlns:a="http://schemas.openxmlformats.org/drawingml/2006/main" prst="straightConnector1">
            <a:avLst/>
          </a:prstGeom>
          <a:ln xmlns:a="http://schemas.openxmlformats.org/drawingml/2006/main" w="28575">
            <a:solidFill>
              <a:srgbClr val="D0D5DD"/>
            </a:solidFill>
            <a:prstDash val="solid"/>
          </a:ln>
        </p:spPr>
      </p:cxnSp>
      <p:cxnSp>
        <p:nvCxnSpPr>
          <p:cNvPr id="41" name=""/>
          <p:cNvCxnSpPr/>
          <p:nvPr/>
        </p:nvCxnSpPr>
        <p:spPr>
          <a:xfrm xmlns:a="http://schemas.openxmlformats.org/drawingml/2006/main">
            <a:off x="3143250" y="4552950"/>
            <a:ext cx="762000" cy="0"/>
          </a:xfrm>
          <a:prstGeom xmlns:a="http://schemas.openxmlformats.org/drawingml/2006/main" prst="straightConnector1">
            <a:avLst/>
          </a:prstGeom>
          <a:ln xmlns:a="http://schemas.openxmlformats.org/drawingml/2006/main" w="28575">
            <a:solidFill>
              <a:srgbClr val="D0D5DD"/>
            </a:solidFill>
            <a:prstDash val="solid"/>
          </a:ln>
        </p:spPr>
      </p:cxnSp>
      <p:cxnSp>
        <p:nvCxnSpPr>
          <p:cNvPr id="42" name=""/>
          <p:cNvCxnSpPr/>
          <p:nvPr/>
        </p:nvCxnSpPr>
        <p:spPr>
          <a:xfrm xmlns:a="http://schemas.openxmlformats.org/drawingml/2006/main">
            <a:off x="3905250" y="2838450"/>
            <a:ext cx="0" cy="1714500"/>
          </a:xfrm>
          <a:prstGeom xmlns:a="http://schemas.openxmlformats.org/drawingml/2006/main" prst="straightConnector1">
            <a:avLst/>
          </a:prstGeom>
          <a:ln xmlns:a="http://schemas.openxmlformats.org/drawingml/2006/main" w="28575">
            <a:solidFill>
              <a:srgbClr val="D0D5DD"/>
            </a:solidFill>
            <a:prstDash val="solid"/>
          </a:ln>
        </p:spPr>
      </p:cxnSp>
      <p:cxnSp>
        <p:nvCxnSpPr>
          <p:cNvPr id="43" name=""/>
          <p:cNvCxnSpPr/>
          <p:nvPr/>
        </p:nvCxnSpPr>
        <p:spPr>
          <a:xfrm xmlns:a="http://schemas.openxmlformats.org/drawingml/2006/main">
            <a:off x="3905250" y="2838450"/>
            <a:ext cx="762000" cy="0"/>
          </a:xfrm>
          <a:prstGeom xmlns:a="http://schemas.openxmlformats.org/drawingml/2006/main" prst="straightConnector1">
            <a:avLst/>
          </a:prstGeom>
          <a:ln xmlns:a="http://schemas.openxmlformats.org/drawingml/2006/main" w="28575">
            <a:solidFill>
              <a:srgbClr val="D0D5DD"/>
            </a:solidFill>
            <a:prstDash val="solid"/>
          </a:ln>
        </p:spPr>
      </p:cxnSp>
      <p:cxnSp>
        <p:nvCxnSpPr>
          <p:cNvPr id="44" name=""/>
          <p:cNvCxnSpPr/>
          <p:nvPr/>
        </p:nvCxnSpPr>
        <p:spPr>
          <a:xfrm xmlns:a="http://schemas.openxmlformats.org/drawingml/2006/main">
            <a:off x="7429500" y="2838450"/>
            <a:ext cx="1390650" cy="0"/>
          </a:xfrm>
          <a:prstGeom xmlns:a="http://schemas.openxmlformats.org/drawingml/2006/main" prst="straightConnector1">
            <a:avLst/>
          </a:prstGeom>
          <a:ln xmlns:a="http://schemas.openxmlformats.org/drawingml/2006/main" w="28575">
            <a:solidFill>
              <a:srgbClr val="D0D5DD"/>
            </a:solidFill>
            <a:prstDash val="solid"/>
          </a:ln>
        </p:spPr>
      </p:cxnSp>
      <p:cxnSp>
        <p:nvCxnSpPr>
          <p:cNvPr id="45" name=""/>
          <p:cNvCxnSpPr/>
          <p:nvPr/>
        </p:nvCxnSpPr>
        <p:spPr>
          <a:xfrm xmlns:a="http://schemas.openxmlformats.org/drawingml/2006/main">
            <a:off x="6096000" y="3676650"/>
            <a:ext cx="0" cy="1143000"/>
          </a:xfrm>
          <a:prstGeom xmlns:a="http://schemas.openxmlformats.org/drawingml/2006/main" prst="straightConnector1">
            <a:avLst/>
          </a:prstGeom>
          <a:ln xmlns:a="http://schemas.openxmlformats.org/drawingml/2006/main" w="28575">
            <a:solidFill>
              <a:srgbClr val="D0D5DD"/>
            </a:solidFill>
            <a:prstDash val="solid"/>
          </a:ln>
        </p:spPr>
      </p:cxnSp>
      <p:cxnSp>
        <p:nvCxnSpPr>
          <p:cNvPr id="46" name=""/>
          <p:cNvCxnSpPr/>
          <p:nvPr/>
        </p:nvCxnSpPr>
        <p:spPr>
          <a:xfrm xmlns:a="http://schemas.openxmlformats.org/drawingml/2006/main">
            <a:off x="6096000" y="3676650"/>
            <a:ext cx="3143250" cy="1143000"/>
          </a:xfrm>
          <a:prstGeom xmlns:a="http://schemas.openxmlformats.org/drawingml/2006/main" prst="straightConnector1">
            <a:avLst/>
          </a:prstGeom>
          <a:ln xmlns:a="http://schemas.openxmlformats.org/drawingml/2006/main" w="28575">
            <a:solidFill>
              <a:srgbClr val="D0D5DD"/>
            </a:solidFill>
            <a:prstDash val="solid"/>
          </a:ln>
        </p:spPr>
      </p:cxnSp>
      <p:sp>
        <p:nvSpPr>
          <p:cNvPr id="14" name="">
            <a:extLst xmlns:a="http://schemas.openxmlformats.org/drawingml/2006/main">
              <a:ext uri="{FF2B5EF4-FFF2-40B4-BE49-F238E27FC236}">
                <a16:creationId xmlns:a16="http://schemas.microsoft.com/office/drawing/2014/main" id="{D334DEFC-791D-4D14-90BE-429F65D3708D}"/>
              </a:ext>
            </a:extLst>
          </p:cNvPr>
          <p:cNvSpPr>
            <a:spLocks xmlns:a="http://schemas.openxmlformats.org/drawingml/2006/main" noGrp="1"/>
          </p:cNvSpPr>
          <p:nvPr/>
        </p:nvSpPr>
        <p:spPr>
          <a:xfrm xmlns:a="http://schemas.openxmlformats.org/drawingml/2006/main">
            <a:off x="571500" y="2247900"/>
            <a:ext cx="2571750" cy="1181100"/>
          </a:xfrm>
          <a:prstGeom xmlns:a="http://schemas.openxmlformats.org/drawingml/2006/main" prst="roundRect">
            <a:avLst>
              <a:gd name="adj" fmla="val 11290"/>
            </a:avLst>
          </a:prstGeom>
          <a:solidFill xmlns:a="http://schemas.openxmlformats.org/drawingml/2006/main">
            <a:srgbClr val="FFFFFF"/>
          </a:solidFill>
          <a:ln xmlns:a="http://schemas.openxmlformats.org/drawingml/2006/main" w="9525">
            <a:solidFill>
              <a:srgbClr val="D0D5DD"/>
            </a:solidFill>
            <a:prstDash val="solid"/>
          </a:ln>
        </p:spPr>
      </p:sp>
      <p:sp>
        <p:nvSpPr>
          <p:cNvPr id="15" name="">
            <a:extLst xmlns:a="http://schemas.openxmlformats.org/drawingml/2006/main">
              <a:ext uri="{FF2B5EF4-FFF2-40B4-BE49-F238E27FC236}">
                <a16:creationId xmlns:a16="http://schemas.microsoft.com/office/drawing/2014/main" id="{AA8B5162-7D37-4549-A3FB-ABA90BB96CF7}"/>
              </a:ext>
            </a:extLst>
          </p:cNvPr>
          <p:cNvSpPr>
            <a:spLocks xmlns:a="http://schemas.openxmlformats.org/drawingml/2006/main" noGrp="1"/>
          </p:cNvSpPr>
          <p:nvPr/>
        </p:nvSpPr>
        <p:spPr>
          <a:xfrm xmlns:a="http://schemas.openxmlformats.org/drawingml/2006/main">
            <a:off x="762000" y="2419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01828"/>
                </a:solidFill>
                <a:latin typeface="Arial"/>
                <a:ea typeface="Arial"/>
                <a:cs typeface="Arial"/>
              </a:defRPr>
            </a:pPr>
            <a:r>
              <a:rPr sz="1725" b="1">
                <a:solidFill>
                  <a:srgbClr val="101828"/>
                </a:solidFill>
                <a:latin typeface="Arial"/>
                <a:ea typeface="Arial"/>
                <a:cs typeface="Arial"/>
              </a:rPr>
              <a:t>Website</a:t>
            </a:r>
          </a:p>
        </p:txBody>
      </p:sp>
      <p:sp>
        <p:nvSpPr>
          <p:cNvPr id="16" name="">
            <a:extLst xmlns:a="http://schemas.openxmlformats.org/drawingml/2006/main">
              <a:ext uri="{FF2B5EF4-FFF2-40B4-BE49-F238E27FC236}">
                <a16:creationId xmlns:a16="http://schemas.microsoft.com/office/drawing/2014/main" id="{57E71F7A-1DBC-4F9E-8470-150BE9324B55}"/>
              </a:ext>
            </a:extLst>
          </p:cNvPr>
          <p:cNvSpPr>
            <a:spLocks xmlns:a="http://schemas.openxmlformats.org/drawingml/2006/main" noGrp="1"/>
          </p:cNvSpPr>
          <p:nvPr/>
        </p:nvSpPr>
        <p:spPr>
          <a:xfrm xmlns:a="http://schemas.openxmlformats.org/drawingml/2006/main">
            <a:off x="762000" y="28003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Inertia • React • TypeScript</a:t>
            </a:r>
          </a:p>
        </p:txBody>
      </p:sp>
      <p:sp>
        <p:nvSpPr>
          <p:cNvPr id="17" name="">
            <a:extLst xmlns:a="http://schemas.openxmlformats.org/drawingml/2006/main">
              <a:ext uri="{FF2B5EF4-FFF2-40B4-BE49-F238E27FC236}">
                <a16:creationId xmlns:a16="http://schemas.microsoft.com/office/drawing/2014/main" id="{F0BFF943-1B21-4F15-B737-B59F6B406920}"/>
              </a:ext>
            </a:extLst>
          </p:cNvPr>
          <p:cNvSpPr>
            <a:spLocks xmlns:a="http://schemas.openxmlformats.org/drawingml/2006/main" noGrp="1"/>
          </p:cNvSpPr>
          <p:nvPr/>
        </p:nvSpPr>
        <p:spPr>
          <a:xfrm xmlns:a="http://schemas.openxmlformats.org/drawingml/2006/main">
            <a:off x="571500" y="3962400"/>
            <a:ext cx="2571750" cy="1181100"/>
          </a:xfrm>
          <a:prstGeom xmlns:a="http://schemas.openxmlformats.org/drawingml/2006/main" prst="roundRect">
            <a:avLst>
              <a:gd name="adj" fmla="val 11290"/>
            </a:avLst>
          </a:prstGeom>
          <a:solidFill xmlns:a="http://schemas.openxmlformats.org/drawingml/2006/main">
            <a:srgbClr val="FFFFFF"/>
          </a:solidFill>
          <a:ln xmlns:a="http://schemas.openxmlformats.org/drawingml/2006/main" w="9525">
            <a:solidFill>
              <a:srgbClr val="D0D5DD"/>
            </a:solidFill>
            <a:prstDash val="solid"/>
          </a:ln>
        </p:spPr>
      </p:sp>
      <p:sp>
        <p:nvSpPr>
          <p:cNvPr id="18" name="">
            <a:extLst xmlns:a="http://schemas.openxmlformats.org/drawingml/2006/main">
              <a:ext uri="{FF2B5EF4-FFF2-40B4-BE49-F238E27FC236}">
                <a16:creationId xmlns:a16="http://schemas.microsoft.com/office/drawing/2014/main" id="{3A7C5BF8-1ECA-47E6-A012-1CBC1A8B01CB}"/>
              </a:ext>
            </a:extLst>
          </p:cNvPr>
          <p:cNvSpPr>
            <a:spLocks xmlns:a="http://schemas.openxmlformats.org/drawingml/2006/main" noGrp="1"/>
          </p:cNvSpPr>
          <p:nvPr/>
        </p:nvSpPr>
        <p:spPr>
          <a:xfrm xmlns:a="http://schemas.openxmlformats.org/drawingml/2006/main">
            <a:off x="762000" y="41338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01828"/>
                </a:solidFill>
                <a:latin typeface="Arial"/>
                <a:ea typeface="Arial"/>
                <a:cs typeface="Arial"/>
              </a:defRPr>
            </a:pPr>
            <a:r>
              <a:rPr sz="1725" b="1">
                <a:solidFill>
                  <a:srgbClr val="101828"/>
                </a:solidFill>
                <a:latin typeface="Arial"/>
                <a:ea typeface="Arial"/>
                <a:cs typeface="Arial"/>
              </a:rPr>
              <a:t>Mobile app</a:t>
            </a:r>
          </a:p>
        </p:txBody>
      </p:sp>
      <p:sp>
        <p:nvSpPr>
          <p:cNvPr id="19" name="">
            <a:extLst xmlns:a="http://schemas.openxmlformats.org/drawingml/2006/main">
              <a:ext uri="{FF2B5EF4-FFF2-40B4-BE49-F238E27FC236}">
                <a16:creationId xmlns:a16="http://schemas.microsoft.com/office/drawing/2014/main" id="{F84AE3B0-40C3-4229-B1D7-CB870E474427}"/>
              </a:ext>
            </a:extLst>
          </p:cNvPr>
          <p:cNvSpPr>
            <a:spLocks xmlns:a="http://schemas.openxmlformats.org/drawingml/2006/main" noGrp="1"/>
          </p:cNvSpPr>
          <p:nvPr/>
        </p:nvSpPr>
        <p:spPr>
          <a:xfrm xmlns:a="http://schemas.openxmlformats.org/drawingml/2006/main">
            <a:off x="762000" y="45148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Expo React Native</a:t>
            </a:r>
          </a:p>
        </p:txBody>
      </p:sp>
      <p:sp>
        <p:nvSpPr>
          <p:cNvPr id="20" name="">
            <a:extLst xmlns:a="http://schemas.openxmlformats.org/drawingml/2006/main">
              <a:ext uri="{FF2B5EF4-FFF2-40B4-BE49-F238E27FC236}">
                <a16:creationId xmlns:a16="http://schemas.microsoft.com/office/drawing/2014/main" id="{97D4AD61-F6F7-4469-BCF8-2EB0961374C0}"/>
              </a:ext>
            </a:extLst>
          </p:cNvPr>
          <p:cNvSpPr>
            <a:spLocks xmlns:a="http://schemas.openxmlformats.org/drawingml/2006/main" noGrp="1"/>
          </p:cNvSpPr>
          <p:nvPr/>
        </p:nvSpPr>
        <p:spPr>
          <a:xfrm xmlns:a="http://schemas.openxmlformats.org/drawingml/2006/main">
            <a:off x="4667250" y="2152650"/>
            <a:ext cx="2762250" cy="1524000"/>
          </a:xfrm>
          <a:prstGeom xmlns:a="http://schemas.openxmlformats.org/drawingml/2006/main" prst="roundRect">
            <a:avLst>
              <a:gd name="adj" fmla="val 8750"/>
            </a:avLst>
          </a:prstGeom>
          <a:solidFill xmlns:a="http://schemas.openxmlformats.org/drawingml/2006/main">
            <a:srgbClr val="111827"/>
          </a:solidFill>
          <a:ln xmlns:a="http://schemas.openxmlformats.org/drawingml/2006/main" w="9525">
            <a:solidFill>
              <a:srgbClr val="111827"/>
            </a:solidFill>
            <a:prstDash val="solid"/>
          </a:ln>
        </p:spPr>
      </p:sp>
      <p:sp>
        <p:nvSpPr>
          <p:cNvPr id="21" name="">
            <a:extLst xmlns:a="http://schemas.openxmlformats.org/drawingml/2006/main">
              <a:ext uri="{FF2B5EF4-FFF2-40B4-BE49-F238E27FC236}">
                <a16:creationId xmlns:a16="http://schemas.microsoft.com/office/drawing/2014/main" id="{1E01467F-BA9C-4C6E-AE82-06991D89ACA6}"/>
              </a:ext>
            </a:extLst>
          </p:cNvPr>
          <p:cNvSpPr>
            <a:spLocks xmlns:a="http://schemas.openxmlformats.org/drawingml/2006/main" noGrp="1"/>
          </p:cNvSpPr>
          <p:nvPr/>
        </p:nvSpPr>
        <p:spPr>
          <a:xfrm xmlns:a="http://schemas.openxmlformats.org/drawingml/2006/main">
            <a:off x="4857750" y="23241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Laravel 13</a:t>
            </a:r>
          </a:p>
        </p:txBody>
      </p:sp>
      <p:sp>
        <p:nvSpPr>
          <p:cNvPr id="22" name="">
            <a:extLst xmlns:a="http://schemas.openxmlformats.org/drawingml/2006/main">
              <a:ext uri="{FF2B5EF4-FFF2-40B4-BE49-F238E27FC236}">
                <a16:creationId xmlns:a16="http://schemas.microsoft.com/office/drawing/2014/main" id="{A69DD15A-CF35-4082-B9A1-F1AFBD4B629E}"/>
              </a:ext>
            </a:extLst>
          </p:cNvPr>
          <p:cNvSpPr>
            <a:spLocks xmlns:a="http://schemas.openxmlformats.org/drawingml/2006/main" noGrp="1"/>
          </p:cNvSpPr>
          <p:nvPr/>
        </p:nvSpPr>
        <p:spPr>
          <a:xfrm xmlns:a="http://schemas.openxmlformats.org/drawingml/2006/main">
            <a:off x="4857750" y="2705100"/>
            <a:ext cx="2381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D0D5DD"/>
                </a:solidFill>
                <a:latin typeface="Arial"/>
                <a:ea typeface="Arial"/>
                <a:cs typeface="Arial"/>
              </a:defRPr>
            </a:pPr>
            <a:r>
              <a:rPr sz="1200" b="0">
                <a:solidFill>
                  <a:srgbClr val="D0D5DD"/>
                </a:solidFill>
                <a:latin typeface="Arial"/>
                <a:ea typeface="Arial"/>
                <a:cs typeface="Arial"/>
              </a:rPr>
              <a:t>Application + API</a:t>
            </a:r>
          </a:p>
          <a:p xmlns:a="http://schemas.openxmlformats.org/drawingml/2006/main">
            <a:pPr algn="ctr">
              <a:defRPr sz="1200" b="0">
                <a:solidFill>
                  <a:srgbClr val="D0D5DD"/>
                </a:solidFill>
                <a:latin typeface="Arial"/>
                <a:ea typeface="Arial"/>
                <a:cs typeface="Arial"/>
              </a:defRPr>
            </a:pPr>
            <a:r>
              <a:rPr sz="1200" b="0">
                <a:solidFill>
                  <a:srgbClr val="D0D5DD"/>
                </a:solidFill>
                <a:latin typeface="Arial"/>
                <a:ea typeface="Arial"/>
                <a:cs typeface="Arial"/>
              </a:rPr>
              <a:t>Sanctum authentication</a:t>
            </a:r>
          </a:p>
        </p:txBody>
      </p:sp>
      <p:sp>
        <p:nvSpPr>
          <p:cNvPr id="23" name="">
            <a:extLst xmlns:a="http://schemas.openxmlformats.org/drawingml/2006/main">
              <a:ext uri="{FF2B5EF4-FFF2-40B4-BE49-F238E27FC236}">
                <a16:creationId xmlns:a16="http://schemas.microsoft.com/office/drawing/2014/main" id="{0F5A4F1B-1EA9-473A-9479-9F5248E44703}"/>
              </a:ext>
            </a:extLst>
          </p:cNvPr>
          <p:cNvSpPr>
            <a:spLocks xmlns:a="http://schemas.openxmlformats.org/drawingml/2006/main" noGrp="1"/>
          </p:cNvSpPr>
          <p:nvPr/>
        </p:nvSpPr>
        <p:spPr>
          <a:xfrm xmlns:a="http://schemas.openxmlformats.org/drawingml/2006/main">
            <a:off x="8820150" y="2247900"/>
            <a:ext cx="2667000" cy="1181100"/>
          </a:xfrm>
          <a:prstGeom xmlns:a="http://schemas.openxmlformats.org/drawingml/2006/main" prst="roundRect">
            <a:avLst>
              <a:gd name="adj" fmla="val 11290"/>
            </a:avLst>
          </a:prstGeom>
          <a:solidFill xmlns:a="http://schemas.openxmlformats.org/drawingml/2006/main">
            <a:srgbClr val="FFFFFF"/>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7EEDC0AE-14C7-4540-9E61-962FBBB0AF15}"/>
              </a:ext>
            </a:extLst>
          </p:cNvPr>
          <p:cNvSpPr>
            <a:spLocks xmlns:a="http://schemas.openxmlformats.org/drawingml/2006/main" noGrp="1"/>
          </p:cNvSpPr>
          <p:nvPr/>
        </p:nvSpPr>
        <p:spPr>
          <a:xfrm xmlns:a="http://schemas.openxmlformats.org/drawingml/2006/main">
            <a:off x="9010650" y="24193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01828"/>
                </a:solidFill>
                <a:latin typeface="Arial"/>
                <a:ea typeface="Arial"/>
                <a:cs typeface="Arial"/>
              </a:defRPr>
            </a:pPr>
            <a:r>
              <a:rPr sz="1725" b="1">
                <a:solidFill>
                  <a:srgbClr val="101828"/>
                </a:solidFill>
                <a:latin typeface="Arial"/>
                <a:ea typeface="Arial"/>
                <a:cs typeface="Arial"/>
              </a:rPr>
              <a:t>PostgreSQL</a:t>
            </a:r>
          </a:p>
        </p:txBody>
      </p:sp>
      <p:sp>
        <p:nvSpPr>
          <p:cNvPr id="25" name="">
            <a:extLst xmlns:a="http://schemas.openxmlformats.org/drawingml/2006/main">
              <a:ext uri="{FF2B5EF4-FFF2-40B4-BE49-F238E27FC236}">
                <a16:creationId xmlns:a16="http://schemas.microsoft.com/office/drawing/2014/main" id="{0DC646D4-2E15-4368-A762-0FE39C48EF26}"/>
              </a:ext>
            </a:extLst>
          </p:cNvPr>
          <p:cNvSpPr>
            <a:spLocks xmlns:a="http://schemas.openxmlformats.org/drawingml/2006/main" noGrp="1"/>
          </p:cNvSpPr>
          <p:nvPr/>
        </p:nvSpPr>
        <p:spPr>
          <a:xfrm xmlns:a="http://schemas.openxmlformats.org/drawingml/2006/main">
            <a:off x="9010650" y="2800350"/>
            <a:ext cx="228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Production data store</a:t>
            </a:r>
          </a:p>
        </p:txBody>
      </p:sp>
      <p:sp>
        <p:nvSpPr>
          <p:cNvPr id="26" name="">
            <a:extLst xmlns:a="http://schemas.openxmlformats.org/drawingml/2006/main">
              <a:ext uri="{FF2B5EF4-FFF2-40B4-BE49-F238E27FC236}">
                <a16:creationId xmlns:a16="http://schemas.microsoft.com/office/drawing/2014/main" id="{BC2A2475-ECF7-41AF-A126-D159111EB117}"/>
              </a:ext>
            </a:extLst>
          </p:cNvPr>
          <p:cNvSpPr>
            <a:spLocks xmlns:a="http://schemas.openxmlformats.org/drawingml/2006/main" noGrp="1"/>
          </p:cNvSpPr>
          <p:nvPr/>
        </p:nvSpPr>
        <p:spPr>
          <a:xfrm xmlns:a="http://schemas.openxmlformats.org/drawingml/2006/main">
            <a:off x="4686300" y="4819650"/>
            <a:ext cx="2819400" cy="1066800"/>
          </a:xfrm>
          <a:prstGeom xmlns:a="http://schemas.openxmlformats.org/drawingml/2006/main" prst="roundRect">
            <a:avLst>
              <a:gd name="adj" fmla="val 12500"/>
            </a:avLst>
          </a:prstGeom>
          <a:solidFill xmlns:a="http://schemas.openxmlformats.org/drawingml/2006/main">
            <a:srgbClr val="EEEAFE"/>
          </a:solidFill>
          <a:ln xmlns:a="http://schemas.openxmlformats.org/drawingml/2006/main" w="9525">
            <a:solidFill>
              <a:srgbClr val="EEEAFE"/>
            </a:solidFill>
            <a:prstDash val="solid"/>
          </a:ln>
        </p:spPr>
      </p:sp>
      <p:sp>
        <p:nvSpPr>
          <p:cNvPr id="27" name="">
            <a:extLst xmlns:a="http://schemas.openxmlformats.org/drawingml/2006/main">
              <a:ext uri="{FF2B5EF4-FFF2-40B4-BE49-F238E27FC236}">
                <a16:creationId xmlns:a16="http://schemas.microsoft.com/office/drawing/2014/main" id="{0F716A23-3206-4145-BDFB-4D40957A87D2}"/>
              </a:ext>
            </a:extLst>
          </p:cNvPr>
          <p:cNvSpPr>
            <a:spLocks xmlns:a="http://schemas.openxmlformats.org/drawingml/2006/main" noGrp="1"/>
          </p:cNvSpPr>
          <p:nvPr/>
        </p:nvSpPr>
        <p:spPr>
          <a:xfrm xmlns:a="http://schemas.openxmlformats.org/drawingml/2006/main">
            <a:off x="4876800" y="49911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6C5CE7"/>
                </a:solidFill>
                <a:latin typeface="Arial"/>
                <a:ea typeface="Arial"/>
                <a:cs typeface="Arial"/>
              </a:defRPr>
            </a:pPr>
            <a:r>
              <a:rPr sz="1725" b="1">
                <a:solidFill>
                  <a:srgbClr val="6C5CE7"/>
                </a:solidFill>
                <a:latin typeface="Arial"/>
                <a:ea typeface="Arial"/>
                <a:cs typeface="Arial"/>
              </a:rPr>
              <a:t>Paystack</a:t>
            </a:r>
          </a:p>
        </p:txBody>
      </p:sp>
      <p:sp>
        <p:nvSpPr>
          <p:cNvPr id="28" name="">
            <a:extLst xmlns:a="http://schemas.openxmlformats.org/drawingml/2006/main">
              <a:ext uri="{FF2B5EF4-FFF2-40B4-BE49-F238E27FC236}">
                <a16:creationId xmlns:a16="http://schemas.microsoft.com/office/drawing/2014/main" id="{CC5EEA36-B16F-43ED-9E01-F3264CCB8A2B}"/>
              </a:ext>
            </a:extLst>
          </p:cNvPr>
          <p:cNvSpPr>
            <a:spLocks xmlns:a="http://schemas.openxmlformats.org/drawingml/2006/main" noGrp="1"/>
          </p:cNvSpPr>
          <p:nvPr/>
        </p:nvSpPr>
        <p:spPr>
          <a:xfrm xmlns:a="http://schemas.openxmlformats.org/drawingml/2006/main">
            <a:off x="4876800" y="5372100"/>
            <a:ext cx="2438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Server-side payment verification</a:t>
            </a:r>
          </a:p>
        </p:txBody>
      </p:sp>
      <p:sp>
        <p:nvSpPr>
          <p:cNvPr id="29" name="">
            <a:extLst xmlns:a="http://schemas.openxmlformats.org/drawingml/2006/main">
              <a:ext uri="{FF2B5EF4-FFF2-40B4-BE49-F238E27FC236}">
                <a16:creationId xmlns:a16="http://schemas.microsoft.com/office/drawing/2014/main" id="{0CFBD37C-C092-41A3-AF3F-B60EA6BCE32E}"/>
              </a:ext>
            </a:extLst>
          </p:cNvPr>
          <p:cNvSpPr>
            <a:spLocks xmlns:a="http://schemas.openxmlformats.org/drawingml/2006/main" noGrp="1"/>
          </p:cNvSpPr>
          <p:nvPr/>
        </p:nvSpPr>
        <p:spPr>
          <a:xfrm xmlns:a="http://schemas.openxmlformats.org/drawingml/2006/main">
            <a:off x="8248650" y="4819650"/>
            <a:ext cx="3238500" cy="1066800"/>
          </a:xfrm>
          <a:prstGeom xmlns:a="http://schemas.openxmlformats.org/drawingml/2006/main" prst="roundRect">
            <a:avLst>
              <a:gd name="adj" fmla="val 12500"/>
            </a:avLst>
          </a:prstGeom>
          <a:solidFill xmlns:a="http://schemas.openxmlformats.org/drawingml/2006/main">
            <a:srgbClr val="DCFCE7"/>
          </a:solidFill>
          <a:ln xmlns:a="http://schemas.openxmlformats.org/drawingml/2006/main" w="9525">
            <a:solidFill>
              <a:srgbClr val="DCFCE7"/>
            </a:solidFill>
            <a:prstDash val="solid"/>
          </a:ln>
        </p:spPr>
      </p:sp>
      <p:sp>
        <p:nvSpPr>
          <p:cNvPr id="30" name="">
            <a:extLst xmlns:a="http://schemas.openxmlformats.org/drawingml/2006/main">
              <a:ext uri="{FF2B5EF4-FFF2-40B4-BE49-F238E27FC236}">
                <a16:creationId xmlns:a16="http://schemas.microsoft.com/office/drawing/2014/main" id="{AEC33928-D769-42B9-A2D3-EB56ED7E41B3}"/>
              </a:ext>
            </a:extLst>
          </p:cNvPr>
          <p:cNvSpPr>
            <a:spLocks xmlns:a="http://schemas.openxmlformats.org/drawingml/2006/main" noGrp="1"/>
          </p:cNvSpPr>
          <p:nvPr/>
        </p:nvSpPr>
        <p:spPr>
          <a:xfrm xmlns:a="http://schemas.openxmlformats.org/drawingml/2006/main">
            <a:off x="8439150" y="49911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087A5B"/>
                </a:solidFill>
                <a:latin typeface="Arial"/>
                <a:ea typeface="Arial"/>
                <a:cs typeface="Arial"/>
              </a:defRPr>
            </a:pPr>
            <a:r>
              <a:rPr sz="1725" b="1">
                <a:solidFill>
                  <a:srgbClr val="087A5B"/>
                </a:solidFill>
                <a:latin typeface="Arial"/>
                <a:ea typeface="Arial"/>
                <a:cs typeface="Arial"/>
              </a:rPr>
              <a:t>NFC + staff device</a:t>
            </a:r>
          </a:p>
        </p:txBody>
      </p:sp>
      <p:sp>
        <p:nvSpPr>
          <p:cNvPr id="31" name="">
            <a:extLst xmlns:a="http://schemas.openxmlformats.org/drawingml/2006/main">
              <a:ext uri="{FF2B5EF4-FFF2-40B4-BE49-F238E27FC236}">
                <a16:creationId xmlns:a16="http://schemas.microsoft.com/office/drawing/2014/main" id="{EB55A039-BD4E-45F7-B6C6-FA199C089196}"/>
              </a:ext>
            </a:extLst>
          </p:cNvPr>
          <p:cNvSpPr>
            <a:spLocks xmlns:a="http://schemas.openxmlformats.org/drawingml/2006/main" noGrp="1"/>
          </p:cNvSpPr>
          <p:nvPr/>
        </p:nvSpPr>
        <p:spPr>
          <a:xfrm xmlns:a="http://schemas.openxmlformats.org/drawingml/2006/main">
            <a:off x="8439150" y="5372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0">
                <a:solidFill>
                  <a:srgbClr val="667085"/>
                </a:solidFill>
                <a:latin typeface="Arial"/>
                <a:ea typeface="Arial"/>
                <a:cs typeface="Arial"/>
              </a:defRPr>
            </a:pPr>
            <a:r>
              <a:rPr sz="1200" b="0">
                <a:solidFill>
                  <a:srgbClr val="667085"/>
                </a:solidFill>
                <a:latin typeface="Arial"/>
                <a:ea typeface="Arial"/>
                <a:cs typeface="Arial"/>
              </a:rPr>
              <a:t>Identifier initiates an authenticated lookup</a:t>
            </a:r>
          </a:p>
        </p:txBody>
      </p:sp>
      <p:sp>
        <p:nvSpPr>
          <p:cNvPr id="32" name="">
            <a:extLst xmlns:a="http://schemas.openxmlformats.org/drawingml/2006/main">
              <a:ext uri="{FF2B5EF4-FFF2-40B4-BE49-F238E27FC236}">
                <a16:creationId xmlns:a16="http://schemas.microsoft.com/office/drawing/2014/main" id="{BC3584C9-D256-4AB9-BF5D-BAA42EDE5A0A}"/>
              </a:ext>
            </a:extLst>
          </p:cNvPr>
          <p:cNvSpPr>
            <a:spLocks xmlns:a="http://schemas.openxmlformats.org/drawingml/2006/main" noGrp="1"/>
          </p:cNvSpPr>
          <p:nvPr/>
        </p:nvSpPr>
        <p:spPr>
          <a:xfrm xmlns:a="http://schemas.openxmlformats.org/drawingml/2006/main">
            <a:off x="3714750" y="4000500"/>
            <a:ext cx="4762500" cy="552450"/>
          </a:xfrm>
          <a:prstGeom xmlns:a="http://schemas.openxmlformats.org/drawingml/2006/main" prst="roundRect">
            <a:avLst>
              <a:gd name="adj" fmla="val 13793"/>
            </a:avLst>
          </a:prstGeom>
          <a:solidFill xmlns:a="http://schemas.openxmlformats.org/drawingml/2006/main">
            <a:srgbClr val="F8F9FB"/>
          </a:solidFill>
          <a:ln xmlns:a="http://schemas.openxmlformats.org/drawingml/2006/main" w="0">
            <a:solidFill>
              <a:srgbClr val="F8F9FB"/>
            </a:solidFill>
            <a:prstDash val="solid"/>
          </a:ln>
        </p:spPr>
      </p:sp>
      <p:sp>
        <p:nvSpPr>
          <p:cNvPr id="33" name="">
            <a:extLst xmlns:a="http://schemas.openxmlformats.org/drawingml/2006/main">
              <a:ext uri="{FF2B5EF4-FFF2-40B4-BE49-F238E27FC236}">
                <a16:creationId xmlns:a16="http://schemas.microsoft.com/office/drawing/2014/main" id="{4FEEECA7-65F1-46E6-94E0-A7CF94275A24}"/>
              </a:ext>
            </a:extLst>
          </p:cNvPr>
          <p:cNvSpPr>
            <a:spLocks xmlns:a="http://schemas.openxmlformats.org/drawingml/2006/main" noGrp="1"/>
          </p:cNvSpPr>
          <p:nvPr/>
        </p:nvSpPr>
        <p:spPr>
          <a:xfrm xmlns:a="http://schemas.openxmlformats.org/drawingml/2006/main">
            <a:off x="3810000" y="4095750"/>
            <a:ext cx="457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892"/>
          </a:bodyPr>
          <a:lstStyle xmlns:a="http://schemas.openxmlformats.org/drawingml/2006/main"/>
          <a:p xmlns:a="http://schemas.openxmlformats.org/drawingml/2006/main">
            <a:pPr algn="ctr">
              <a:defRPr sz="1350" b="1">
                <a:solidFill>
                  <a:srgbClr val="6C5CE7"/>
                </a:solidFill>
                <a:latin typeface="Arial"/>
                <a:ea typeface="Arial"/>
                <a:cs typeface="Arial"/>
              </a:defRPr>
            </a:pPr>
            <a:r>
              <a:rPr sz="1350" b="1">
                <a:solidFill>
                  <a:srgbClr val="6C5CE7"/>
                </a:solidFill>
                <a:latin typeface="Arial"/>
                <a:ea typeface="Arial"/>
                <a:cs typeface="Arial"/>
              </a:rPr>
              <a:t>Central rule: clients display the backend's current decision</a:t>
            </a:r>
          </a:p>
        </p:txBody>
      </p:sp>
    </p:spTree>
    <p:extLst>
      <p:ext uri="{BB962C8B-B14F-4D97-AF65-F5344CB8AC3E}">
        <p14:creationId xmlns:p14="http://schemas.microsoft.com/office/powerpoint/2010/main" val="271036691"/>
      </p:ext>
    </p:extLst>
  </p:cSld>
</p:sld>
</file>

<file path=ppt/slides/slide5.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5010BB92-6A4F-4B51-9DEC-88A2D7ACDD81}"/>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CONTROLLED WORKFLOW</a:t>
            </a:r>
          </a:p>
        </p:txBody>
      </p:sp>
      <p:sp>
        <p:nvSpPr>
          <p:cNvPr id="2" name="">
            <a:extLst xmlns:a="http://schemas.openxmlformats.org/drawingml/2006/main">
              <a:ext uri="{FF2B5EF4-FFF2-40B4-BE49-F238E27FC236}">
                <a16:creationId xmlns:a16="http://schemas.microsoft.com/office/drawing/2014/main" id="{4F83386E-9A5C-4DA8-B8A2-693E58A2A1AD}"/>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6095"/>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A permit is issued only after eligibility and verified payment</a:t>
            </a:r>
          </a:p>
        </p:txBody>
      </p:sp>
      <p:cxnSp>
        <p:nvCxnSpPr>
          <p:cNvPr id="29"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BF061DC4-FF43-4CB1-AA1E-78E147C7E120}"/>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86610E60-E0BE-4B03-A0C1-D3A00CD956C0}"/>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05</a:t>
            </a:r>
          </a:p>
        </p:txBody>
      </p:sp>
      <p:sp>
        <p:nvSpPr>
          <p:cNvPr id="6" name="">
            <a:extLst xmlns:a="http://schemas.openxmlformats.org/drawingml/2006/main">
              <a:ext uri="{FF2B5EF4-FFF2-40B4-BE49-F238E27FC236}">
                <a16:creationId xmlns:a16="http://schemas.microsoft.com/office/drawing/2014/main" id="{571D83CA-F33E-41E0-A765-706BA3BF7EFD}"/>
              </a:ext>
            </a:extLst>
          </p:cNvPr>
          <p:cNvSpPr>
            <a:spLocks xmlns:a="http://schemas.openxmlformats.org/drawingml/2006/main" noGrp="1"/>
          </p:cNvSpPr>
          <p:nvPr/>
        </p:nvSpPr>
        <p:spPr>
          <a:xfrm xmlns:a="http://schemas.openxmlformats.org/drawingml/2006/main">
            <a:off x="457200" y="14097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rial"/>
                <a:ea typeface="Arial"/>
                <a:cs typeface="Arial"/>
              </a:defRPr>
            </a:pPr>
            <a:r>
              <a:rPr sz="1725" b="0">
                <a:solidFill>
                  <a:srgbClr val="667085"/>
                </a:solidFill>
                <a:latin typeface="Arial"/>
                <a:ea typeface="Arial"/>
                <a:cs typeface="Arial"/>
              </a:rPr>
              <a:t>A browser redirect is not accepted as proof of payment; the backend verifies the transaction first.</a:t>
            </a:r>
          </a:p>
        </p:txBody>
      </p:sp>
      <p:cxnSp>
        <p:nvCxnSpPr>
          <p:cNvPr id="33" name=""/>
          <p:cNvCxnSpPr/>
          <p:nvPr/>
        </p:nvCxnSpPr>
        <p:spPr>
          <a:xfrm xmlns:a="http://schemas.openxmlformats.org/drawingml/2006/main">
            <a:off x="1104900" y="3295650"/>
            <a:ext cx="9525000" cy="0"/>
          </a:xfrm>
          <a:prstGeom xmlns:a="http://schemas.openxmlformats.org/drawingml/2006/main" prst="straightConnector1">
            <a:avLst/>
          </a:prstGeom>
          <a:ln xmlns:a="http://schemas.openxmlformats.org/drawingml/2006/main" w="28575">
            <a:solidFill>
              <a:srgbClr val="D0D5DD"/>
            </a:solidFill>
            <a:prstDash val="solid"/>
          </a:ln>
        </p:spPr>
      </p:cxnSp>
      <p:sp>
        <p:nvSpPr>
          <p:cNvPr id="8" name="">
            <a:extLst xmlns:a="http://schemas.openxmlformats.org/drawingml/2006/main">
              <a:ext uri="{FF2B5EF4-FFF2-40B4-BE49-F238E27FC236}">
                <a16:creationId xmlns:a16="http://schemas.microsoft.com/office/drawing/2014/main" id="{24ABDAF0-460B-40E2-8DFD-D86215524FB2}"/>
              </a:ext>
            </a:extLst>
          </p:cNvPr>
          <p:cNvSpPr>
            <a:spLocks xmlns:a="http://schemas.openxmlformats.org/drawingml/2006/main" noGrp="1"/>
          </p:cNvSpPr>
          <p:nvPr/>
        </p:nvSpPr>
        <p:spPr>
          <a:xfrm xmlns:a="http://schemas.openxmlformats.org/drawingml/2006/main">
            <a:off x="1695450" y="3124200"/>
            <a:ext cx="342900" cy="342900"/>
          </a:xfrm>
          <a:prstGeom xmlns:a="http://schemas.openxmlformats.org/drawingml/2006/main" prst="ellipse">
            <a:avLst/>
          </a:prstGeom>
          <a:solidFill xmlns:a="http://schemas.openxmlformats.org/drawingml/2006/main">
            <a:srgbClr val="6C5CE7"/>
          </a:solidFill>
          <a:ln xmlns:a="http://schemas.openxmlformats.org/drawingml/2006/main" w="0">
            <a:solidFill>
              <a:srgbClr val="6C5CE7"/>
            </a:solidFill>
            <a:prstDash val="solid"/>
          </a:ln>
        </p:spPr>
      </p:sp>
      <p:sp>
        <p:nvSpPr>
          <p:cNvPr id="9" name="">
            <a:extLst xmlns:a="http://schemas.openxmlformats.org/drawingml/2006/main">
              <a:ext uri="{FF2B5EF4-FFF2-40B4-BE49-F238E27FC236}">
                <a16:creationId xmlns:a16="http://schemas.microsoft.com/office/drawing/2014/main" id="{3E827BA8-169B-44F2-B880-AD0DCB6EE7B4}"/>
              </a:ext>
            </a:extLst>
          </p:cNvPr>
          <p:cNvSpPr>
            <a:spLocks xmlns:a="http://schemas.openxmlformats.org/drawingml/2006/main" noGrp="1"/>
          </p:cNvSpPr>
          <p:nvPr/>
        </p:nvSpPr>
        <p:spPr>
          <a:xfrm xmlns:a="http://schemas.openxmlformats.org/drawingml/2006/main">
            <a:off x="781050" y="23050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6C5CE7"/>
                </a:solidFill>
                <a:latin typeface="Arial"/>
                <a:ea typeface="Arial"/>
                <a:cs typeface="Arial"/>
              </a:defRPr>
            </a:pPr>
            <a:r>
              <a:rPr sz="1200" b="1">
                <a:solidFill>
                  <a:srgbClr val="6C5CE7"/>
                </a:solidFill>
                <a:latin typeface="Arial"/>
                <a:ea typeface="Arial"/>
                <a:cs typeface="Arial"/>
              </a:rPr>
              <a:t>01</a:t>
            </a:r>
          </a:p>
        </p:txBody>
      </p:sp>
      <p:sp>
        <p:nvSpPr>
          <p:cNvPr id="10" name="">
            <a:extLst xmlns:a="http://schemas.openxmlformats.org/drawingml/2006/main">
              <a:ext uri="{FF2B5EF4-FFF2-40B4-BE49-F238E27FC236}">
                <a16:creationId xmlns:a16="http://schemas.microsoft.com/office/drawing/2014/main" id="{158B651B-1C06-48FD-95D2-8499D31EC587}"/>
              </a:ext>
            </a:extLst>
          </p:cNvPr>
          <p:cNvSpPr>
            <a:spLocks xmlns:a="http://schemas.openxmlformats.org/drawingml/2006/main" noGrp="1"/>
          </p:cNvSpPr>
          <p:nvPr/>
        </p:nvSpPr>
        <p:spPr>
          <a:xfrm xmlns:a="http://schemas.openxmlformats.org/drawingml/2006/main">
            <a:off x="781050" y="266700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Request</a:t>
            </a:r>
          </a:p>
        </p:txBody>
      </p:sp>
      <p:sp>
        <p:nvSpPr>
          <p:cNvPr id="11" name="">
            <a:extLst xmlns:a="http://schemas.openxmlformats.org/drawingml/2006/main">
              <a:ext uri="{FF2B5EF4-FFF2-40B4-BE49-F238E27FC236}">
                <a16:creationId xmlns:a16="http://schemas.microsoft.com/office/drawing/2014/main" id="{CE9417AB-E145-414F-9645-178AED16155E}"/>
              </a:ext>
            </a:extLst>
          </p:cNvPr>
          <p:cNvSpPr>
            <a:spLocks xmlns:a="http://schemas.openxmlformats.org/drawingml/2006/main" noGrp="1"/>
          </p:cNvSpPr>
          <p:nvPr/>
        </p:nvSpPr>
        <p:spPr>
          <a:xfrm xmlns:a="http://schemas.openxmlformats.org/drawingml/2006/main">
            <a:off x="781050" y="3733800"/>
            <a:ext cx="2133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Student submits the permit request.</a:t>
            </a:r>
          </a:p>
        </p:txBody>
      </p:sp>
      <p:sp>
        <p:nvSpPr>
          <p:cNvPr id="12" name="">
            <a:extLst xmlns:a="http://schemas.openxmlformats.org/drawingml/2006/main">
              <a:ext uri="{FF2B5EF4-FFF2-40B4-BE49-F238E27FC236}">
                <a16:creationId xmlns:a16="http://schemas.microsoft.com/office/drawing/2014/main" id="{1CBB205B-CDC8-40E9-A365-D301825202E0}"/>
              </a:ext>
            </a:extLst>
          </p:cNvPr>
          <p:cNvSpPr>
            <a:spLocks xmlns:a="http://schemas.openxmlformats.org/drawingml/2006/main" noGrp="1"/>
          </p:cNvSpPr>
          <p:nvPr/>
        </p:nvSpPr>
        <p:spPr>
          <a:xfrm xmlns:a="http://schemas.openxmlformats.org/drawingml/2006/main">
            <a:off x="4171950" y="3124200"/>
            <a:ext cx="342900" cy="342900"/>
          </a:xfrm>
          <a:prstGeom xmlns:a="http://schemas.openxmlformats.org/drawingml/2006/main" prst="ellipse">
            <a:avLst/>
          </a:prstGeom>
          <a:solidFill xmlns:a="http://schemas.openxmlformats.org/drawingml/2006/main">
            <a:srgbClr val="6C5CE7"/>
          </a:solidFill>
          <a:ln xmlns:a="http://schemas.openxmlformats.org/drawingml/2006/main" w="0">
            <a:solidFill>
              <a:srgbClr val="6C5CE7"/>
            </a:solidFill>
            <a:prstDash val="solid"/>
          </a:ln>
        </p:spPr>
      </p:sp>
      <p:sp>
        <p:nvSpPr>
          <p:cNvPr id="13" name="">
            <a:extLst xmlns:a="http://schemas.openxmlformats.org/drawingml/2006/main">
              <a:ext uri="{FF2B5EF4-FFF2-40B4-BE49-F238E27FC236}">
                <a16:creationId xmlns:a16="http://schemas.microsoft.com/office/drawing/2014/main" id="{F0DA2604-2671-4E9F-8327-9DAA80ABEC18}"/>
              </a:ext>
            </a:extLst>
          </p:cNvPr>
          <p:cNvSpPr>
            <a:spLocks xmlns:a="http://schemas.openxmlformats.org/drawingml/2006/main" noGrp="1"/>
          </p:cNvSpPr>
          <p:nvPr/>
        </p:nvSpPr>
        <p:spPr>
          <a:xfrm xmlns:a="http://schemas.openxmlformats.org/drawingml/2006/main">
            <a:off x="3257550" y="23050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6C5CE7"/>
                </a:solidFill>
                <a:latin typeface="Arial"/>
                <a:ea typeface="Arial"/>
                <a:cs typeface="Arial"/>
              </a:defRPr>
            </a:pPr>
            <a:r>
              <a:rPr sz="1200" b="1">
                <a:solidFill>
                  <a:srgbClr val="6C5CE7"/>
                </a:solidFill>
                <a:latin typeface="Arial"/>
                <a:ea typeface="Arial"/>
                <a:cs typeface="Arial"/>
              </a:rPr>
              <a:t>02</a:t>
            </a:r>
          </a:p>
        </p:txBody>
      </p:sp>
      <p:sp>
        <p:nvSpPr>
          <p:cNvPr id="14" name="">
            <a:extLst xmlns:a="http://schemas.openxmlformats.org/drawingml/2006/main">
              <a:ext uri="{FF2B5EF4-FFF2-40B4-BE49-F238E27FC236}">
                <a16:creationId xmlns:a16="http://schemas.microsoft.com/office/drawing/2014/main" id="{D7E5381C-373B-4D8D-B9C3-63710B2CEC4D}"/>
              </a:ext>
            </a:extLst>
          </p:cNvPr>
          <p:cNvSpPr>
            <a:spLocks xmlns:a="http://schemas.openxmlformats.org/drawingml/2006/main" noGrp="1"/>
          </p:cNvSpPr>
          <p:nvPr/>
        </p:nvSpPr>
        <p:spPr>
          <a:xfrm xmlns:a="http://schemas.openxmlformats.org/drawingml/2006/main">
            <a:off x="3257550" y="266700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Eligibility</a:t>
            </a:r>
          </a:p>
        </p:txBody>
      </p:sp>
      <p:sp>
        <p:nvSpPr>
          <p:cNvPr id="15" name="">
            <a:extLst xmlns:a="http://schemas.openxmlformats.org/drawingml/2006/main">
              <a:ext uri="{FF2B5EF4-FFF2-40B4-BE49-F238E27FC236}">
                <a16:creationId xmlns:a16="http://schemas.microsoft.com/office/drawing/2014/main" id="{E7EABCF4-D2CE-4181-BC6E-D618CC8D585A}"/>
              </a:ext>
            </a:extLst>
          </p:cNvPr>
          <p:cNvSpPr>
            <a:spLocks xmlns:a="http://schemas.openxmlformats.org/drawingml/2006/main" noGrp="1"/>
          </p:cNvSpPr>
          <p:nvPr/>
        </p:nvSpPr>
        <p:spPr>
          <a:xfrm xmlns:a="http://schemas.openxmlformats.org/drawingml/2006/main">
            <a:off x="3257550" y="3733800"/>
            <a:ext cx="2133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Backend applies the required checks.</a:t>
            </a:r>
          </a:p>
        </p:txBody>
      </p:sp>
      <p:sp>
        <p:nvSpPr>
          <p:cNvPr id="16" name="">
            <a:extLst xmlns:a="http://schemas.openxmlformats.org/drawingml/2006/main">
              <a:ext uri="{FF2B5EF4-FFF2-40B4-BE49-F238E27FC236}">
                <a16:creationId xmlns:a16="http://schemas.microsoft.com/office/drawing/2014/main" id="{847AC0FC-3A69-444B-A893-DE5D65435337}"/>
              </a:ext>
            </a:extLst>
          </p:cNvPr>
          <p:cNvSpPr>
            <a:spLocks xmlns:a="http://schemas.openxmlformats.org/drawingml/2006/main" noGrp="1"/>
          </p:cNvSpPr>
          <p:nvPr/>
        </p:nvSpPr>
        <p:spPr>
          <a:xfrm xmlns:a="http://schemas.openxmlformats.org/drawingml/2006/main">
            <a:off x="6648450" y="3124200"/>
            <a:ext cx="342900" cy="342900"/>
          </a:xfrm>
          <a:prstGeom xmlns:a="http://schemas.openxmlformats.org/drawingml/2006/main" prst="ellipse">
            <a:avLst/>
          </a:prstGeom>
          <a:solidFill xmlns:a="http://schemas.openxmlformats.org/drawingml/2006/main">
            <a:srgbClr val="6C5CE7"/>
          </a:solidFill>
          <a:ln xmlns:a="http://schemas.openxmlformats.org/drawingml/2006/main" w="0">
            <a:solidFill>
              <a:srgbClr val="6C5CE7"/>
            </a:solidFill>
            <a:prstDash val="solid"/>
          </a:ln>
        </p:spPr>
      </p:sp>
      <p:sp>
        <p:nvSpPr>
          <p:cNvPr id="17" name="">
            <a:extLst xmlns:a="http://schemas.openxmlformats.org/drawingml/2006/main">
              <a:ext uri="{FF2B5EF4-FFF2-40B4-BE49-F238E27FC236}">
                <a16:creationId xmlns:a16="http://schemas.microsoft.com/office/drawing/2014/main" id="{2C1AD61F-3D64-4389-930A-67FECA836239}"/>
              </a:ext>
            </a:extLst>
          </p:cNvPr>
          <p:cNvSpPr>
            <a:spLocks xmlns:a="http://schemas.openxmlformats.org/drawingml/2006/main" noGrp="1"/>
          </p:cNvSpPr>
          <p:nvPr/>
        </p:nvSpPr>
        <p:spPr>
          <a:xfrm xmlns:a="http://schemas.openxmlformats.org/drawingml/2006/main">
            <a:off x="5734050" y="23050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6C5CE7"/>
                </a:solidFill>
                <a:latin typeface="Arial"/>
                <a:ea typeface="Arial"/>
                <a:cs typeface="Arial"/>
              </a:defRPr>
            </a:pPr>
            <a:r>
              <a:rPr sz="1200" b="1">
                <a:solidFill>
                  <a:srgbClr val="6C5CE7"/>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B0045CD1-3A0D-468B-80E1-4F0C4BC346F0}"/>
              </a:ext>
            </a:extLst>
          </p:cNvPr>
          <p:cNvSpPr>
            <a:spLocks xmlns:a="http://schemas.openxmlformats.org/drawingml/2006/main" noGrp="1"/>
          </p:cNvSpPr>
          <p:nvPr/>
        </p:nvSpPr>
        <p:spPr>
          <a:xfrm xmlns:a="http://schemas.openxmlformats.org/drawingml/2006/main">
            <a:off x="5734050" y="266700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Verify payment</a:t>
            </a:r>
          </a:p>
        </p:txBody>
      </p:sp>
      <p:sp>
        <p:nvSpPr>
          <p:cNvPr id="19" name="">
            <a:extLst xmlns:a="http://schemas.openxmlformats.org/drawingml/2006/main">
              <a:ext uri="{FF2B5EF4-FFF2-40B4-BE49-F238E27FC236}">
                <a16:creationId xmlns:a16="http://schemas.microsoft.com/office/drawing/2014/main" id="{F9F44695-9B1C-4899-8CB0-D0DA8F1E4232}"/>
              </a:ext>
            </a:extLst>
          </p:cNvPr>
          <p:cNvSpPr>
            <a:spLocks xmlns:a="http://schemas.openxmlformats.org/drawingml/2006/main" noGrp="1"/>
          </p:cNvSpPr>
          <p:nvPr/>
        </p:nvSpPr>
        <p:spPr>
          <a:xfrm xmlns:a="http://schemas.openxmlformats.org/drawingml/2006/main">
            <a:off x="5734050" y="3733800"/>
            <a:ext cx="2133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Paystack result is confirmed server-side.</a:t>
            </a:r>
          </a:p>
        </p:txBody>
      </p:sp>
      <p:sp>
        <p:nvSpPr>
          <p:cNvPr id="20" name="">
            <a:extLst xmlns:a="http://schemas.openxmlformats.org/drawingml/2006/main">
              <a:ext uri="{FF2B5EF4-FFF2-40B4-BE49-F238E27FC236}">
                <a16:creationId xmlns:a16="http://schemas.microsoft.com/office/drawing/2014/main" id="{D3435BBE-D86A-49ED-8F22-4C67D1460F66}"/>
              </a:ext>
            </a:extLst>
          </p:cNvPr>
          <p:cNvSpPr>
            <a:spLocks xmlns:a="http://schemas.openxmlformats.org/drawingml/2006/main" noGrp="1"/>
          </p:cNvSpPr>
          <p:nvPr/>
        </p:nvSpPr>
        <p:spPr>
          <a:xfrm xmlns:a="http://schemas.openxmlformats.org/drawingml/2006/main">
            <a:off x="9124950" y="3124200"/>
            <a:ext cx="342900" cy="342900"/>
          </a:xfrm>
          <a:prstGeom xmlns:a="http://schemas.openxmlformats.org/drawingml/2006/main" prst="ellipse">
            <a:avLst/>
          </a:prstGeom>
          <a:solidFill xmlns:a="http://schemas.openxmlformats.org/drawingml/2006/main">
            <a:srgbClr val="087A5B"/>
          </a:solidFill>
          <a:ln xmlns:a="http://schemas.openxmlformats.org/drawingml/2006/main" w="0">
            <a:solidFill>
              <a:srgbClr val="087A5B"/>
            </a:solidFill>
            <a:prstDash val="solid"/>
          </a:ln>
        </p:spPr>
      </p:sp>
      <p:sp>
        <p:nvSpPr>
          <p:cNvPr id="21" name="">
            <a:extLst xmlns:a="http://schemas.openxmlformats.org/drawingml/2006/main">
              <a:ext uri="{FF2B5EF4-FFF2-40B4-BE49-F238E27FC236}">
                <a16:creationId xmlns:a16="http://schemas.microsoft.com/office/drawing/2014/main" id="{84709B5E-1829-4046-B75B-BD2FCB8BFFB8}"/>
              </a:ext>
            </a:extLst>
          </p:cNvPr>
          <p:cNvSpPr>
            <a:spLocks xmlns:a="http://schemas.openxmlformats.org/drawingml/2006/main" noGrp="1"/>
          </p:cNvSpPr>
          <p:nvPr/>
        </p:nvSpPr>
        <p:spPr>
          <a:xfrm xmlns:a="http://schemas.openxmlformats.org/drawingml/2006/main">
            <a:off x="8210550" y="23050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6C5CE7"/>
                </a:solidFill>
                <a:latin typeface="Arial"/>
                <a:ea typeface="Arial"/>
                <a:cs typeface="Arial"/>
              </a:defRPr>
            </a:pPr>
            <a:r>
              <a:rPr sz="1200" b="1">
                <a:solidFill>
                  <a:srgbClr val="6C5CE7"/>
                </a:solidFill>
                <a:latin typeface="Arial"/>
                <a:ea typeface="Arial"/>
                <a:cs typeface="Arial"/>
              </a:rPr>
              <a:t>04</a:t>
            </a:r>
          </a:p>
        </p:txBody>
      </p:sp>
      <p:sp>
        <p:nvSpPr>
          <p:cNvPr id="22" name="">
            <a:extLst xmlns:a="http://schemas.openxmlformats.org/drawingml/2006/main">
              <a:ext uri="{FF2B5EF4-FFF2-40B4-BE49-F238E27FC236}">
                <a16:creationId xmlns:a16="http://schemas.microsoft.com/office/drawing/2014/main" id="{30A015D8-D8EB-4E6E-8A04-0E9E56FB6D95}"/>
              </a:ext>
            </a:extLst>
          </p:cNvPr>
          <p:cNvSpPr>
            <a:spLocks xmlns:a="http://schemas.openxmlformats.org/drawingml/2006/main" noGrp="1"/>
          </p:cNvSpPr>
          <p:nvPr/>
        </p:nvSpPr>
        <p:spPr>
          <a:xfrm xmlns:a="http://schemas.openxmlformats.org/drawingml/2006/main">
            <a:off x="8210550" y="2667000"/>
            <a:ext cx="2133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Issue permit</a:t>
            </a:r>
          </a:p>
        </p:txBody>
      </p:sp>
      <p:sp>
        <p:nvSpPr>
          <p:cNvPr id="23" name="">
            <a:extLst xmlns:a="http://schemas.openxmlformats.org/drawingml/2006/main">
              <a:ext uri="{FF2B5EF4-FFF2-40B4-BE49-F238E27FC236}">
                <a16:creationId xmlns:a16="http://schemas.microsoft.com/office/drawing/2014/main" id="{97918C2C-6609-431E-A57F-E578FC1601ED}"/>
              </a:ext>
            </a:extLst>
          </p:cNvPr>
          <p:cNvSpPr>
            <a:spLocks xmlns:a="http://schemas.openxmlformats.org/drawingml/2006/main" noGrp="1"/>
          </p:cNvSpPr>
          <p:nvPr/>
        </p:nvSpPr>
        <p:spPr>
          <a:xfrm xmlns:a="http://schemas.openxmlformats.org/drawingml/2006/main">
            <a:off x="8210550" y="3733800"/>
            <a:ext cx="2133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Receipt, history, renewal, and verification use the same record.</a:t>
            </a:r>
          </a:p>
        </p:txBody>
      </p:sp>
      <p:sp>
        <p:nvSpPr>
          <p:cNvPr id="24" name="">
            <a:extLst xmlns:a="http://schemas.openxmlformats.org/drawingml/2006/main">
              <a:ext uri="{FF2B5EF4-FFF2-40B4-BE49-F238E27FC236}">
                <a16:creationId xmlns:a16="http://schemas.microsoft.com/office/drawing/2014/main" id="{C142902A-CA32-4E25-934D-23926B27A1D3}"/>
              </a:ext>
            </a:extLst>
          </p:cNvPr>
          <p:cNvSpPr>
            <a:spLocks xmlns:a="http://schemas.openxmlformats.org/drawingml/2006/main" noGrp="1"/>
          </p:cNvSpPr>
          <p:nvPr/>
        </p:nvSpPr>
        <p:spPr>
          <a:xfrm xmlns:a="http://schemas.openxmlformats.org/drawingml/2006/main">
            <a:off x="781050" y="5219700"/>
            <a:ext cx="9563100" cy="685800"/>
          </a:xfrm>
          <a:prstGeom xmlns:a="http://schemas.openxmlformats.org/drawingml/2006/main" prst="roundRect">
            <a:avLst>
              <a:gd name="adj" fmla="val 13889"/>
            </a:avLst>
          </a:prstGeom>
          <a:solidFill xmlns:a="http://schemas.openxmlformats.org/drawingml/2006/main">
            <a:srgbClr val="DCFCE7"/>
          </a:solidFill>
          <a:ln xmlns:a="http://schemas.openxmlformats.org/drawingml/2006/main" w="0">
            <a:solidFill>
              <a:srgbClr val="DCFCE7"/>
            </a:solidFill>
            <a:prstDash val="solid"/>
          </a:ln>
        </p:spPr>
      </p:sp>
      <p:sp>
        <p:nvSpPr>
          <p:cNvPr id="25" name="">
            <a:extLst xmlns:a="http://schemas.openxmlformats.org/drawingml/2006/main">
              <a:ext uri="{FF2B5EF4-FFF2-40B4-BE49-F238E27FC236}">
                <a16:creationId xmlns:a16="http://schemas.microsoft.com/office/drawing/2014/main" id="{5F34CEAE-6EFA-489E-8B56-508EA8B9B8F1}"/>
              </a:ext>
            </a:extLst>
          </p:cNvPr>
          <p:cNvSpPr>
            <a:spLocks xmlns:a="http://schemas.openxmlformats.org/drawingml/2006/main" noGrp="1"/>
          </p:cNvSpPr>
          <p:nvPr/>
        </p:nvSpPr>
        <p:spPr>
          <a:xfrm xmlns:a="http://schemas.openxmlformats.org/drawingml/2006/main">
            <a:off x="1009650" y="5410200"/>
            <a:ext cx="933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087A5B"/>
                </a:solidFill>
                <a:latin typeface="Arial"/>
                <a:ea typeface="Arial"/>
                <a:cs typeface="Arial"/>
              </a:defRPr>
            </a:pPr>
            <a:r>
              <a:rPr sz="1200" b="1">
                <a:solidFill>
                  <a:srgbClr val="087A5B"/>
                </a:solidFill>
                <a:latin typeface="Arial"/>
                <a:ea typeface="Arial"/>
                <a:cs typeface="Arial"/>
              </a:rPr>
              <a:t>Outcome</a:t>
            </a:r>
          </a:p>
        </p:txBody>
      </p:sp>
      <p:sp>
        <p:nvSpPr>
          <p:cNvPr id="26" name="">
            <a:extLst xmlns:a="http://schemas.openxmlformats.org/drawingml/2006/main">
              <a:ext uri="{FF2B5EF4-FFF2-40B4-BE49-F238E27FC236}">
                <a16:creationId xmlns:a16="http://schemas.microsoft.com/office/drawing/2014/main" id="{1555B921-D48D-42CD-9EEA-1E1B0516AC70}"/>
              </a:ext>
            </a:extLst>
          </p:cNvPr>
          <p:cNvSpPr>
            <a:spLocks xmlns:a="http://schemas.openxmlformats.org/drawingml/2006/main" noGrp="1"/>
          </p:cNvSpPr>
          <p:nvPr/>
        </p:nvSpPr>
        <p:spPr>
          <a:xfrm xmlns:a="http://schemas.openxmlformats.org/drawingml/2006/main">
            <a:off x="2095500" y="5353050"/>
            <a:ext cx="792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177"/>
          </a:bodyPr>
          <a:lstStyle xmlns:a="http://schemas.openxmlformats.org/drawingml/2006/main"/>
          <a:p xmlns:a="http://schemas.openxmlformats.org/drawingml/2006/main">
            <a:pPr algn="l">
              <a:defRPr sz="1500" b="1">
                <a:solidFill>
                  <a:srgbClr val="087A5B"/>
                </a:solidFill>
                <a:latin typeface="Arial"/>
                <a:ea typeface="Arial"/>
                <a:cs typeface="Arial"/>
              </a:defRPr>
            </a:pPr>
            <a:r>
              <a:rPr sz="1500" b="1">
                <a:solidFill>
                  <a:srgbClr val="087A5B"/>
                </a:solidFill>
                <a:latin typeface="Arial"/>
                <a:ea typeface="Arial"/>
                <a:cs typeface="Arial"/>
              </a:rPr>
              <a:t>The permit is created only from a verified backend state; duplicate processing is controlled.</a:t>
            </a:r>
          </a:p>
        </p:txBody>
      </p:sp>
    </p:spTree>
    <p:extLst>
      <p:ext uri="{BB962C8B-B14F-4D97-AF65-F5344CB8AC3E}">
        <p14:creationId xmlns:p14="http://schemas.microsoft.com/office/powerpoint/2010/main" val="802206179"/>
      </p:ext>
    </p:extLst>
  </p:cSld>
</p:sld>
</file>

<file path=ppt/slides/slide6.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CFA996E-8007-4275-B015-5B0F776409EA}"/>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WEBSITE EXPERIENCE</a:t>
            </a:r>
          </a:p>
        </p:txBody>
      </p:sp>
      <p:sp>
        <p:nvSpPr>
          <p:cNvPr id="2" name="">
            <a:extLst xmlns:a="http://schemas.openxmlformats.org/drawingml/2006/main">
              <a:ext uri="{FF2B5EF4-FFF2-40B4-BE49-F238E27FC236}">
                <a16:creationId xmlns:a16="http://schemas.microsoft.com/office/drawing/2014/main" id="{F1B04EA9-514E-4CF0-8D56-DE0A5C41013E}"/>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The website centralizes daily SRC operations</a:t>
            </a:r>
          </a:p>
        </p:txBody>
      </p:sp>
      <p:cxnSp>
        <p:nvCxnSpPr>
          <p:cNvPr id="14"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2E9EA353-9B5F-4350-8A01-1CC96B213594}"/>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D132579A-F4CD-46A2-9B3F-BAF77B5FBFF1}"/>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3ad83a7489a4f4b"/>
          <a:stretch xmlns:a="http://schemas.openxmlformats.org/drawingml/2006/main"/>
        </p:blipFill>
        <p:spPr>
          <a:xfrm xmlns:a="http://schemas.openxmlformats.org/drawingml/2006/main">
            <a:off x="457200" y="1658541"/>
            <a:ext cx="6667500" cy="3750469"/>
          </a:xfrm>
          <a:prstGeom xmlns:a="http://schemas.openxmlformats.org/drawingml/2006/main" prst="roundRect">
            <a:avLst>
              <a:gd name="adj" fmla="val 2765"/>
            </a:avLst>
          </a:prstGeom>
        </p:spPr>
      </p:pic>
      <p:sp>
        <p:nvSpPr>
          <p:cNvPr id="7" name="">
            <a:extLst xmlns:a="http://schemas.openxmlformats.org/drawingml/2006/main">
              <a:ext uri="{FF2B5EF4-FFF2-40B4-BE49-F238E27FC236}">
                <a16:creationId xmlns:a16="http://schemas.microsoft.com/office/drawing/2014/main" id="{69AC51EB-E6FF-4658-B1AB-C887D5CBAEE5}"/>
              </a:ext>
            </a:extLst>
          </p:cNvPr>
          <p:cNvSpPr>
            <a:spLocks xmlns:a="http://schemas.openxmlformats.org/drawingml/2006/main" noGrp="1"/>
          </p:cNvSpPr>
          <p:nvPr/>
        </p:nvSpPr>
        <p:spPr>
          <a:xfrm xmlns:a="http://schemas.openxmlformats.org/drawingml/2006/main">
            <a:off x="7410450" y="1466850"/>
            <a:ext cx="3848100" cy="4133850"/>
          </a:xfrm>
          <a:prstGeom xmlns:a="http://schemas.openxmlformats.org/drawingml/2006/main" prst="roundRect">
            <a:avLst>
              <a:gd name="adj" fmla="val 2970"/>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342F6D53-A58F-4EA1-ADE5-E56E4B5225D4}"/>
              </a:ext>
            </a:extLst>
          </p:cNvPr>
          <p:cNvSpPr>
            <a:spLocks xmlns:a="http://schemas.openxmlformats.org/drawingml/2006/main" noGrp="1"/>
          </p:cNvSpPr>
          <p:nvPr/>
        </p:nvSpPr>
        <p:spPr>
          <a:xfrm xmlns:a="http://schemas.openxmlformats.org/drawingml/2006/main">
            <a:off x="7715250" y="1752600"/>
            <a:ext cx="320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6C5CE7"/>
                </a:solidFill>
                <a:latin typeface="Arial"/>
                <a:ea typeface="Arial"/>
                <a:cs typeface="Arial"/>
              </a:defRPr>
            </a:pPr>
            <a:r>
              <a:rPr sz="1800" b="1">
                <a:solidFill>
                  <a:srgbClr val="6C5CE7"/>
                </a:solidFill>
                <a:latin typeface="Arial"/>
                <a:ea typeface="Arial"/>
                <a:cs typeface="Arial"/>
              </a:rPr>
              <a:t>Authorized workspace</a:t>
            </a:r>
          </a:p>
        </p:txBody>
      </p:sp>
      <p:sp>
        <p:nvSpPr>
          <p:cNvPr id="9" name="">
            <a:extLst xmlns:a="http://schemas.openxmlformats.org/drawingml/2006/main">
              <a:ext uri="{FF2B5EF4-FFF2-40B4-BE49-F238E27FC236}">
                <a16:creationId xmlns:a16="http://schemas.microsoft.com/office/drawing/2014/main" id="{A4F9802C-7F88-4704-803C-42CAD2DE89FF}"/>
              </a:ext>
            </a:extLst>
          </p:cNvPr>
          <p:cNvSpPr>
            <a:spLocks xmlns:a="http://schemas.openxmlformats.org/drawingml/2006/main" noGrp="1"/>
          </p:cNvSpPr>
          <p:nvPr/>
        </p:nvSpPr>
        <p:spPr>
          <a:xfrm xmlns:a="http://schemas.openxmlformats.org/drawingml/2006/main">
            <a:off x="7715250" y="2324100"/>
            <a:ext cx="31623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4" indent="-14">
              <a:spcAft>
                <a:spcPts val="16"/>
              </a:spcAft>
              <a:buChar char="•"/>
              <a:defRPr sz="1500">
                <a:solidFill>
                  <a:srgbClr val="101828"/>
                </a:solidFill>
                <a:latin typeface="Arial"/>
                <a:ea typeface="Arial"/>
                <a:cs typeface="Arial"/>
              </a:defRPr>
            </a:pPr>
            <a:r>
              <a:rPr sz="1500">
                <a:solidFill>
                  <a:srgbClr val="101828"/>
                </a:solidFill>
                <a:latin typeface="Arial"/>
                <a:ea typeface="Arial"/>
                <a:cs typeface="Arial"/>
              </a:rPr>
              <a:t>Review permit activity and payment records</a:t>
            </a:r>
          </a:p>
          <a:p xmlns:a="http://schemas.openxmlformats.org/drawingml/2006/main">
            <a:pPr marL="24" indent="-14">
              <a:spcAft>
                <a:spcPts val="16"/>
              </a:spcAft>
              <a:buChar char="•"/>
              <a:defRPr sz="1500">
                <a:solidFill>
                  <a:srgbClr val="101828"/>
                </a:solidFill>
                <a:latin typeface="Arial"/>
                <a:ea typeface="Arial"/>
                <a:cs typeface="Arial"/>
              </a:defRPr>
            </a:pPr>
            <a:r>
              <a:rPr sz="1500">
                <a:solidFill>
                  <a:srgbClr val="101828"/>
                </a:solidFill>
                <a:latin typeface="Arial"/>
                <a:ea typeface="Arial"/>
                <a:cs typeface="Arial"/>
              </a:rPr>
              <a:t>Issue receipts and monitor status history</a:t>
            </a:r>
          </a:p>
          <a:p xmlns:a="http://schemas.openxmlformats.org/drawingml/2006/main">
            <a:pPr marL="24" indent="-14">
              <a:spcAft>
                <a:spcPts val="16"/>
              </a:spcAft>
              <a:buChar char="•"/>
              <a:defRPr sz="1500">
                <a:solidFill>
                  <a:srgbClr val="101828"/>
                </a:solidFill>
                <a:latin typeface="Arial"/>
                <a:ea typeface="Arial"/>
                <a:cs typeface="Arial"/>
              </a:defRPr>
            </a:pPr>
            <a:r>
              <a:rPr sz="1500">
                <a:solidFill>
                  <a:srgbClr val="101828"/>
                </a:solidFill>
                <a:latin typeface="Arial"/>
                <a:ea typeface="Arial"/>
                <a:cs typeface="Arial"/>
              </a:rPr>
              <a:t>Manage complaints, announcements, budgets, reports, and elections</a:t>
            </a:r>
          </a:p>
          <a:p xmlns:a="http://schemas.openxmlformats.org/drawingml/2006/main">
            <a:pPr marL="24" indent="-14">
              <a:spcAft>
                <a:spcPts val="16"/>
              </a:spcAft>
              <a:buChar char="•"/>
              <a:defRPr sz="1500">
                <a:solidFill>
                  <a:srgbClr val="101828"/>
                </a:solidFill>
                <a:latin typeface="Arial"/>
                <a:ea typeface="Arial"/>
                <a:cs typeface="Arial"/>
              </a:defRPr>
            </a:pPr>
            <a:r>
              <a:rPr sz="1500">
                <a:solidFill>
                  <a:srgbClr val="101828"/>
                </a:solidFill>
                <a:latin typeface="Arial"/>
                <a:ea typeface="Arial"/>
                <a:cs typeface="Arial"/>
              </a:rPr>
              <a:t>Separate public information from restricted administrative records</a:t>
            </a:r>
          </a:p>
        </p:txBody>
      </p:sp>
      <p:sp>
        <p:nvSpPr>
          <p:cNvPr id="10" name="">
            <a:extLst xmlns:a="http://schemas.openxmlformats.org/drawingml/2006/main">
              <a:ext uri="{FF2B5EF4-FFF2-40B4-BE49-F238E27FC236}">
                <a16:creationId xmlns:a16="http://schemas.microsoft.com/office/drawing/2014/main" id="{6F4B3086-1DE1-40B1-B502-E1C612C85723}"/>
              </a:ext>
            </a:extLst>
          </p:cNvPr>
          <p:cNvSpPr>
            <a:spLocks xmlns:a="http://schemas.openxmlformats.org/drawingml/2006/main" noGrp="1"/>
          </p:cNvSpPr>
          <p:nvPr/>
        </p:nvSpPr>
        <p:spPr>
          <a:xfrm xmlns:a="http://schemas.openxmlformats.org/drawingml/2006/main">
            <a:off x="7715250" y="4972050"/>
            <a:ext cx="3200400" cy="419100"/>
          </a:xfrm>
          <a:prstGeom xmlns:a="http://schemas.openxmlformats.org/drawingml/2006/main" prst="roundRect">
            <a:avLst>
              <a:gd name="adj" fmla="val 18182"/>
            </a:avLst>
          </a:prstGeom>
          <a:solidFill xmlns:a="http://schemas.openxmlformats.org/drawingml/2006/main">
            <a:srgbClr val="EEEAFE"/>
          </a:solidFill>
          <a:ln xmlns:a="http://schemas.openxmlformats.org/drawingml/2006/main" w="0">
            <a:solidFill>
              <a:srgbClr val="EEEAFE"/>
            </a:solidFill>
            <a:prstDash val="solid"/>
          </a:ln>
        </p:spPr>
      </p:sp>
      <p:sp>
        <p:nvSpPr>
          <p:cNvPr id="11" name="">
            <a:extLst xmlns:a="http://schemas.openxmlformats.org/drawingml/2006/main">
              <a:ext uri="{FF2B5EF4-FFF2-40B4-BE49-F238E27FC236}">
                <a16:creationId xmlns:a16="http://schemas.microsoft.com/office/drawing/2014/main" id="{CDD174DF-B176-4BEE-88DF-C419D92BF819}"/>
              </a:ext>
            </a:extLst>
          </p:cNvPr>
          <p:cNvSpPr>
            <a:spLocks xmlns:a="http://schemas.openxmlformats.org/drawingml/2006/main" noGrp="1"/>
          </p:cNvSpPr>
          <p:nvPr/>
        </p:nvSpPr>
        <p:spPr>
          <a:xfrm xmlns:a="http://schemas.openxmlformats.org/drawingml/2006/main">
            <a:off x="7867650" y="5076825"/>
            <a:ext cx="2895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6C5CE7"/>
                </a:solidFill>
                <a:latin typeface="Arial"/>
                <a:ea typeface="Arial"/>
                <a:cs typeface="Arial"/>
              </a:defRPr>
            </a:pPr>
            <a:r>
              <a:rPr sz="1275" b="1">
                <a:solidFill>
                  <a:srgbClr val="6C5CE7"/>
                </a:solidFill>
                <a:latin typeface="Arial"/>
                <a:ea typeface="Arial"/>
                <a:cs typeface="Arial"/>
              </a:rPr>
              <a:t>Role permissions control access</a:t>
            </a:r>
          </a:p>
        </p:txBody>
      </p:sp>
    </p:spTree>
    <p:extLst>
      <p:ext uri="{BB962C8B-B14F-4D97-AF65-F5344CB8AC3E}">
        <p14:creationId xmlns:p14="http://schemas.microsoft.com/office/powerpoint/2010/main" val="345673302"/>
      </p:ext>
    </p:extLst>
  </p:cSld>
</p:sld>
</file>

<file path=ppt/slides/slide7.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C2F4804-C5FD-4D31-863F-B4CF1A5251AB}"/>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MOBILE EXPERIENCE</a:t>
            </a:r>
          </a:p>
        </p:txBody>
      </p:sp>
      <p:sp>
        <p:nvSpPr>
          <p:cNvPr id="2" name="">
            <a:extLst xmlns:a="http://schemas.openxmlformats.org/drawingml/2006/main">
              <a:ext uri="{FF2B5EF4-FFF2-40B4-BE49-F238E27FC236}">
                <a16:creationId xmlns:a16="http://schemas.microsoft.com/office/drawing/2014/main" id="{E71EB7DF-63F8-42DC-BE06-D20CFC75B40B}"/>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13"/>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One mobile app presents different workflows by role</a:t>
            </a:r>
          </a:p>
        </p:txBody>
      </p:sp>
      <p:cxnSp>
        <p:nvCxnSpPr>
          <p:cNvPr id="17"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96E7C9D2-51B4-4398-B145-479F42E2ACF1}"/>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8238E762-408A-4D2B-89D1-11D2021CF541}"/>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07</a:t>
            </a:r>
          </a:p>
        </p:txBody>
      </p:sp>
      <p:sp>
        <p:nvSpPr>
          <p:cNvPr id="6" name="">
            <a:extLst xmlns:a="http://schemas.openxmlformats.org/drawingml/2006/main">
              <a:ext uri="{FF2B5EF4-FFF2-40B4-BE49-F238E27FC236}">
                <a16:creationId xmlns:a16="http://schemas.microsoft.com/office/drawing/2014/main" id="{F560A55E-FEC2-4865-B9EB-13B5CB32A7D4}"/>
              </a:ext>
            </a:extLst>
          </p:cNvPr>
          <p:cNvSpPr>
            <a:spLocks xmlns:a="http://schemas.openxmlformats.org/drawingml/2006/main" noGrp="1"/>
          </p:cNvSpPr>
          <p:nvPr/>
        </p:nvSpPr>
        <p:spPr>
          <a:xfrm xmlns:a="http://schemas.openxmlformats.org/drawingml/2006/main">
            <a:off x="457200" y="1390650"/>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67085"/>
                </a:solidFill>
                <a:latin typeface="Arial"/>
                <a:ea typeface="Arial"/>
                <a:cs typeface="Arial"/>
              </a:defRPr>
            </a:pPr>
            <a:r>
              <a:rPr sz="1650" b="0">
                <a:solidFill>
                  <a:srgbClr val="667085"/>
                </a:solidFill>
                <a:latin typeface="Arial"/>
                <a:ea typeface="Arial"/>
                <a:cs typeface="Arial"/>
              </a:rPr>
              <a:t>The app displays the backend's decision; it does not independently decide whether a permit is valid.</a:t>
            </a:r>
          </a:p>
        </p:txBody>
      </p:sp>
      <p:sp>
        <p:nvSpPr>
          <p:cNvPr id="7" name="">
            <a:extLst xmlns:a="http://schemas.openxmlformats.org/drawingml/2006/main">
              <a:ext uri="{FF2B5EF4-FFF2-40B4-BE49-F238E27FC236}">
                <a16:creationId xmlns:a16="http://schemas.microsoft.com/office/drawing/2014/main" id="{4E19BAFD-479C-4B36-8507-31BE4FCA60BC}"/>
              </a:ext>
            </a:extLst>
          </p:cNvPr>
          <p:cNvSpPr>
            <a:spLocks xmlns:a="http://schemas.openxmlformats.org/drawingml/2006/main" noGrp="1"/>
          </p:cNvSpPr>
          <p:nvPr/>
        </p:nvSpPr>
        <p:spPr>
          <a:xfrm xmlns:a="http://schemas.openxmlformats.org/drawingml/2006/main">
            <a:off x="457200" y="2038350"/>
            <a:ext cx="5219700" cy="37338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D75B0E3D-5511-4094-8E7D-6D06E745A619}"/>
              </a:ext>
            </a:extLst>
          </p:cNvPr>
          <p:cNvSpPr>
            <a:spLocks xmlns:a="http://schemas.openxmlformats.org/drawingml/2006/main" noGrp="1"/>
          </p:cNvSpPr>
          <p:nvPr/>
        </p:nvSpPr>
        <p:spPr>
          <a:xfrm xmlns:a="http://schemas.openxmlformats.org/drawingml/2006/main">
            <a:off x="6057900" y="2038350"/>
            <a:ext cx="5219700" cy="3733800"/>
          </a:xfrm>
          <a:prstGeom xmlns:a="http://schemas.openxmlformats.org/drawingml/2006/main" prst="roundRect">
            <a:avLst>
              <a:gd name="adj" fmla="val 3571"/>
            </a:avLst>
          </a:prstGeom>
          <a:solidFill xmlns:a="http://schemas.openxmlformats.org/drawingml/2006/main">
            <a:srgbClr val="FFFFFF"/>
          </a:solidFill>
          <a:ln xmlns:a="http://schemas.openxmlformats.org/drawingml/2006/main" w="9525">
            <a:solidFill>
              <a:srgbClr val="D0D5DD"/>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b2b67795283940c9"/>
          <a:srcRect xmlns:a="http://schemas.openxmlformats.org/drawingml/2006/main" l="35283" t="0" r="35283" b="0"/>
          <a:stretch xmlns:a="http://schemas.openxmlformats.org/drawingml/2006/main">
            <a:fillRect l="0" t="0" r="0" b="0"/>
          </a:stretch>
        </p:blipFill>
        <p:spPr>
          <a:xfrm xmlns:a="http://schemas.openxmlformats.org/drawingml/2006/main">
            <a:off x="742950" y="2266950"/>
            <a:ext cx="1714500" cy="3276600"/>
          </a:xfrm>
          <a:prstGeom xmlns:a="http://schemas.openxmlformats.org/drawingml/2006/main" prst="roundRect">
            <a:avLst>
              <a:gd name="adj" fmla="val 5556"/>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b9974ede017548dc"/>
          <a:srcRect xmlns:a="http://schemas.openxmlformats.org/drawingml/2006/main" l="35283" t="0" r="35283" b="0"/>
          <a:stretch xmlns:a="http://schemas.openxmlformats.org/drawingml/2006/main">
            <a:fillRect l="0" t="0" r="0" b="0"/>
          </a:stretch>
        </p:blipFill>
        <p:spPr>
          <a:xfrm xmlns:a="http://schemas.openxmlformats.org/drawingml/2006/main">
            <a:off x="6343650" y="2266950"/>
            <a:ext cx="1714500" cy="3276600"/>
          </a:xfrm>
          <a:prstGeom xmlns:a="http://schemas.openxmlformats.org/drawingml/2006/main" prst="roundRect">
            <a:avLst>
              <a:gd name="adj" fmla="val 5556"/>
            </a:avLst>
          </a:prstGeom>
        </p:spPr>
      </p:pic>
      <p:sp>
        <p:nvSpPr>
          <p:cNvPr id="11" name="">
            <a:extLst xmlns:a="http://schemas.openxmlformats.org/drawingml/2006/main">
              <a:ext uri="{FF2B5EF4-FFF2-40B4-BE49-F238E27FC236}">
                <a16:creationId xmlns:a16="http://schemas.microsoft.com/office/drawing/2014/main" id="{4FF0901D-2888-49BC-AABD-9321175DA758}"/>
              </a:ext>
            </a:extLst>
          </p:cNvPr>
          <p:cNvSpPr>
            <a:spLocks xmlns:a="http://schemas.openxmlformats.org/drawingml/2006/main" noGrp="1"/>
          </p:cNvSpPr>
          <p:nvPr/>
        </p:nvSpPr>
        <p:spPr>
          <a:xfrm xmlns:a="http://schemas.openxmlformats.org/drawingml/2006/main">
            <a:off x="2781300" y="2324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6C5CE7"/>
                </a:solidFill>
                <a:latin typeface="Arial"/>
                <a:ea typeface="Arial"/>
                <a:cs typeface="Arial"/>
              </a:defRPr>
            </a:pPr>
            <a:r>
              <a:rPr sz="1875" b="1">
                <a:solidFill>
                  <a:srgbClr val="6C5CE7"/>
                </a:solidFill>
                <a:latin typeface="Arial"/>
                <a:ea typeface="Arial"/>
                <a:cs typeface="Arial"/>
              </a:rPr>
              <a:t>Student</a:t>
            </a:r>
          </a:p>
        </p:txBody>
      </p:sp>
      <p:sp>
        <p:nvSpPr>
          <p:cNvPr id="12" name="">
            <a:extLst xmlns:a="http://schemas.openxmlformats.org/drawingml/2006/main">
              <a:ext uri="{FF2B5EF4-FFF2-40B4-BE49-F238E27FC236}">
                <a16:creationId xmlns:a16="http://schemas.microsoft.com/office/drawing/2014/main" id="{AE02A671-CE27-4C61-B08A-CAFADD840D87}"/>
              </a:ext>
            </a:extLst>
          </p:cNvPr>
          <p:cNvSpPr>
            <a:spLocks xmlns:a="http://schemas.openxmlformats.org/drawingml/2006/main" noGrp="1"/>
          </p:cNvSpPr>
          <p:nvPr/>
        </p:nvSpPr>
        <p:spPr>
          <a:xfrm xmlns:a="http://schemas.openxmlformats.org/drawingml/2006/main">
            <a:off x="2781300" y="2857500"/>
            <a:ext cx="24574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4" indent="-14">
              <a:spcAft>
                <a:spcPts val="13"/>
              </a:spcAft>
              <a:buChar char="•"/>
              <a:defRPr sz="1425">
                <a:solidFill>
                  <a:srgbClr val="101828"/>
                </a:solidFill>
                <a:latin typeface="Arial"/>
                <a:ea typeface="Arial"/>
                <a:cs typeface="Arial"/>
              </a:defRPr>
            </a:pPr>
            <a:r>
              <a:rPr sz="1425">
                <a:solidFill>
                  <a:srgbClr val="101828"/>
                </a:solidFill>
                <a:latin typeface="Arial"/>
                <a:ea typeface="Arial"/>
                <a:cs typeface="Arial"/>
              </a:rPr>
              <a:t>Permit requests</a:t>
            </a:r>
          </a:p>
          <a:p xmlns:a="http://schemas.openxmlformats.org/drawingml/2006/main">
            <a:pPr marL="24" indent="-14">
              <a:spcAft>
                <a:spcPts val="13"/>
              </a:spcAft>
              <a:buChar char="•"/>
              <a:defRPr sz="1425">
                <a:solidFill>
                  <a:srgbClr val="101828"/>
                </a:solidFill>
                <a:latin typeface="Arial"/>
                <a:ea typeface="Arial"/>
                <a:cs typeface="Arial"/>
              </a:defRPr>
            </a:pPr>
            <a:r>
              <a:rPr sz="1425">
                <a:solidFill>
                  <a:srgbClr val="101828"/>
                </a:solidFill>
                <a:latin typeface="Arial"/>
                <a:ea typeface="Arial"/>
                <a:cs typeface="Arial"/>
              </a:rPr>
              <a:t>Payments and receipts</a:t>
            </a:r>
          </a:p>
          <a:p xmlns:a="http://schemas.openxmlformats.org/drawingml/2006/main">
            <a:pPr marL="24" indent="-14">
              <a:spcAft>
                <a:spcPts val="13"/>
              </a:spcAft>
              <a:buChar char="•"/>
              <a:defRPr sz="1425">
                <a:solidFill>
                  <a:srgbClr val="101828"/>
                </a:solidFill>
                <a:latin typeface="Arial"/>
                <a:ea typeface="Arial"/>
                <a:cs typeface="Arial"/>
              </a:defRPr>
            </a:pPr>
            <a:r>
              <a:rPr sz="1425">
                <a:solidFill>
                  <a:srgbClr val="101828"/>
                </a:solidFill>
                <a:latin typeface="Arial"/>
                <a:ea typeface="Arial"/>
                <a:cs typeface="Arial"/>
              </a:rPr>
              <a:t>Current permit status</a:t>
            </a:r>
          </a:p>
          <a:p xmlns:a="http://schemas.openxmlformats.org/drawingml/2006/main">
            <a:pPr marL="24" indent="-14">
              <a:spcAft>
                <a:spcPts val="13"/>
              </a:spcAft>
              <a:buChar char="•"/>
              <a:defRPr sz="1425">
                <a:solidFill>
                  <a:srgbClr val="101828"/>
                </a:solidFill>
                <a:latin typeface="Arial"/>
                <a:ea typeface="Arial"/>
                <a:cs typeface="Arial"/>
              </a:defRPr>
            </a:pPr>
            <a:r>
              <a:rPr sz="1425">
                <a:solidFill>
                  <a:srgbClr val="101828"/>
                </a:solidFill>
                <a:latin typeface="Arial"/>
                <a:ea typeface="Arial"/>
                <a:cs typeface="Arial"/>
              </a:rPr>
              <a:t>Announcements and elections</a:t>
            </a:r>
          </a:p>
        </p:txBody>
      </p:sp>
      <p:sp>
        <p:nvSpPr>
          <p:cNvPr id="13" name="">
            <a:extLst xmlns:a="http://schemas.openxmlformats.org/drawingml/2006/main">
              <a:ext uri="{FF2B5EF4-FFF2-40B4-BE49-F238E27FC236}">
                <a16:creationId xmlns:a16="http://schemas.microsoft.com/office/drawing/2014/main" id="{C6CF8006-7190-4D75-A139-2ACFB7B8B682}"/>
              </a:ext>
            </a:extLst>
          </p:cNvPr>
          <p:cNvSpPr>
            <a:spLocks xmlns:a="http://schemas.openxmlformats.org/drawingml/2006/main" noGrp="1"/>
          </p:cNvSpPr>
          <p:nvPr/>
        </p:nvSpPr>
        <p:spPr>
          <a:xfrm xmlns:a="http://schemas.openxmlformats.org/drawingml/2006/main">
            <a:off x="8382000" y="23241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87A5B"/>
                </a:solidFill>
                <a:latin typeface="Arial"/>
                <a:ea typeface="Arial"/>
                <a:cs typeface="Arial"/>
              </a:defRPr>
            </a:pPr>
            <a:r>
              <a:rPr sz="1875" b="1">
                <a:solidFill>
                  <a:srgbClr val="087A5B"/>
                </a:solidFill>
                <a:latin typeface="Arial"/>
                <a:ea typeface="Arial"/>
                <a:cs typeface="Arial"/>
              </a:rPr>
              <a:t>Authorized staff</a:t>
            </a:r>
          </a:p>
        </p:txBody>
      </p:sp>
      <p:sp>
        <p:nvSpPr>
          <p:cNvPr id="14" name="">
            <a:extLst xmlns:a="http://schemas.openxmlformats.org/drawingml/2006/main">
              <a:ext uri="{FF2B5EF4-FFF2-40B4-BE49-F238E27FC236}">
                <a16:creationId xmlns:a16="http://schemas.microsoft.com/office/drawing/2014/main" id="{47ABAF43-E0FA-4653-8599-90CF3BE34119}"/>
              </a:ext>
            </a:extLst>
          </p:cNvPr>
          <p:cNvSpPr>
            <a:spLocks xmlns:a="http://schemas.openxmlformats.org/drawingml/2006/main" noGrp="1"/>
          </p:cNvSpPr>
          <p:nvPr/>
        </p:nvSpPr>
        <p:spPr>
          <a:xfrm xmlns:a="http://schemas.openxmlformats.org/drawingml/2006/main">
            <a:off x="8382000" y="2857500"/>
            <a:ext cx="24574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4" indent="-14">
              <a:spcAft>
                <a:spcPts val="13"/>
              </a:spcAft>
              <a:buChar char="•"/>
              <a:defRPr sz="1425">
                <a:solidFill>
                  <a:srgbClr val="101828"/>
                </a:solidFill>
                <a:latin typeface="Arial"/>
                <a:ea typeface="Arial"/>
                <a:cs typeface="Arial"/>
              </a:defRPr>
            </a:pPr>
            <a:r>
              <a:rPr sz="1425">
                <a:solidFill>
                  <a:srgbClr val="101828"/>
                </a:solidFill>
                <a:latin typeface="Arial"/>
                <a:ea typeface="Arial"/>
                <a:cs typeface="Arial"/>
              </a:rPr>
              <a:t>Focused verification workflow</a:t>
            </a:r>
          </a:p>
          <a:p xmlns:a="http://schemas.openxmlformats.org/drawingml/2006/main">
            <a:pPr marL="24" indent="-14">
              <a:spcAft>
                <a:spcPts val="13"/>
              </a:spcAft>
              <a:buChar char="•"/>
              <a:defRPr sz="1425">
                <a:solidFill>
                  <a:srgbClr val="101828"/>
                </a:solidFill>
                <a:latin typeface="Arial"/>
                <a:ea typeface="Arial"/>
                <a:cs typeface="Arial"/>
              </a:defRPr>
            </a:pPr>
            <a:r>
              <a:rPr sz="1425">
                <a:solidFill>
                  <a:srgbClr val="101828"/>
                </a:solidFill>
                <a:latin typeface="Arial"/>
                <a:ea typeface="Arial"/>
                <a:cs typeface="Arial"/>
              </a:rPr>
              <a:t>Student-number fallback</a:t>
            </a:r>
          </a:p>
          <a:p xmlns:a="http://schemas.openxmlformats.org/drawingml/2006/main">
            <a:pPr marL="24" indent="-14">
              <a:spcAft>
                <a:spcPts val="13"/>
              </a:spcAft>
              <a:buChar char="•"/>
              <a:defRPr sz="1425">
                <a:solidFill>
                  <a:srgbClr val="101828"/>
                </a:solidFill>
                <a:latin typeface="Arial"/>
                <a:ea typeface="Arial"/>
                <a:cs typeface="Arial"/>
              </a:defRPr>
            </a:pPr>
            <a:r>
              <a:rPr sz="1425">
                <a:solidFill>
                  <a:srgbClr val="101828"/>
                </a:solidFill>
                <a:latin typeface="Arial"/>
                <a:ea typeface="Arial"/>
                <a:cs typeface="Arial"/>
              </a:rPr>
              <a:t>Current backend result</a:t>
            </a:r>
          </a:p>
          <a:p xmlns:a="http://schemas.openxmlformats.org/drawingml/2006/main">
            <a:pPr marL="24" indent="-14">
              <a:spcAft>
                <a:spcPts val="13"/>
              </a:spcAft>
              <a:buChar char="•"/>
              <a:defRPr sz="1425">
                <a:solidFill>
                  <a:srgbClr val="101828"/>
                </a:solidFill>
                <a:latin typeface="Arial"/>
                <a:ea typeface="Arial"/>
                <a:cs typeface="Arial"/>
              </a:defRPr>
            </a:pPr>
            <a:r>
              <a:rPr sz="1425">
                <a:solidFill>
                  <a:srgbClr val="101828"/>
                </a:solidFill>
                <a:latin typeface="Arial"/>
                <a:ea typeface="Arial"/>
                <a:cs typeface="Arial"/>
              </a:rPr>
              <a:t>Verification audit record</a:t>
            </a:r>
          </a:p>
        </p:txBody>
      </p:sp>
    </p:spTree>
    <p:extLst>
      <p:ext uri="{BB962C8B-B14F-4D97-AF65-F5344CB8AC3E}">
        <p14:creationId xmlns:p14="http://schemas.microsoft.com/office/powerpoint/2010/main" val="1957953951"/>
      </p:ext>
    </p:extLst>
  </p:cSld>
</p:sld>
</file>

<file path=ppt/slides/slide8.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CDF9016-1BA9-4564-8D23-53DF96C38007}"/>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VERIFICATION AND SECURITY</a:t>
            </a:r>
          </a:p>
        </p:txBody>
      </p:sp>
      <p:sp>
        <p:nvSpPr>
          <p:cNvPr id="2" name="">
            <a:extLst xmlns:a="http://schemas.openxmlformats.org/drawingml/2006/main">
              <a:ext uri="{FF2B5EF4-FFF2-40B4-BE49-F238E27FC236}">
                <a16:creationId xmlns:a16="http://schemas.microsoft.com/office/drawing/2014/main" id="{2EAC7372-CA51-44C2-A5CD-0F77E7D6A05D}"/>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NFC starts the lookup; the backend decides</a:t>
            </a:r>
          </a:p>
        </p:txBody>
      </p:sp>
      <p:cxnSp>
        <p:nvCxnSpPr>
          <p:cNvPr id="32"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55465877-FA4C-4DC3-9CD9-E11945FC19FA}"/>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A68932E8-C12A-4772-A77C-A27B30395D7B}"/>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08</a:t>
            </a:r>
          </a:p>
        </p:txBody>
      </p:sp>
      <p:sp>
        <p:nvSpPr>
          <p:cNvPr id="6" name="">
            <a:extLst xmlns:a="http://schemas.openxmlformats.org/drawingml/2006/main">
              <a:ext uri="{FF2B5EF4-FFF2-40B4-BE49-F238E27FC236}">
                <a16:creationId xmlns:a16="http://schemas.microsoft.com/office/drawing/2014/main" id="{84D2567D-8411-49F3-B3D3-B65096396E9A}"/>
              </a:ext>
            </a:extLst>
          </p:cNvPr>
          <p:cNvSpPr>
            <a:spLocks xmlns:a="http://schemas.openxmlformats.org/drawingml/2006/main" noGrp="1"/>
          </p:cNvSpPr>
          <p:nvPr/>
        </p:nvSpPr>
        <p:spPr>
          <a:xfrm xmlns:a="http://schemas.openxmlformats.org/drawingml/2006/main">
            <a:off x="457200" y="1390650"/>
            <a:ext cx="1076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rial"/>
                <a:ea typeface="Arial"/>
                <a:cs typeface="Arial"/>
              </a:defRPr>
            </a:pPr>
            <a:r>
              <a:rPr sz="1725" b="0">
                <a:solidFill>
                  <a:srgbClr val="667085"/>
                </a:solidFill>
                <a:latin typeface="Arial"/>
                <a:ea typeface="Arial"/>
                <a:cs typeface="Arial"/>
              </a:rPr>
              <a:t>The card carries an identifier—not a complete student profile or a permanent permit decision.</a:t>
            </a:r>
          </a:p>
        </p:txBody>
      </p:sp>
      <p:cxnSp>
        <p:nvCxnSpPr>
          <p:cNvPr id="36" name=""/>
          <p:cNvCxnSpPr/>
          <p:nvPr/>
        </p:nvCxnSpPr>
        <p:spPr>
          <a:xfrm xmlns:a="http://schemas.openxmlformats.org/drawingml/2006/main">
            <a:off x="3200400" y="3143250"/>
            <a:ext cx="1162050" cy="0"/>
          </a:xfrm>
          <a:prstGeom xmlns:a="http://schemas.openxmlformats.org/drawingml/2006/main" prst="straightConnector1">
            <a:avLst/>
          </a:prstGeom>
          <a:ln xmlns:a="http://schemas.openxmlformats.org/drawingml/2006/main" w="28575">
            <a:solidFill>
              <a:srgbClr val="6C5CE7"/>
            </a:solidFill>
            <a:prstDash val="solid"/>
          </a:ln>
        </p:spPr>
      </p:cxnSp>
      <p:cxnSp>
        <p:nvCxnSpPr>
          <p:cNvPr id="37" name=""/>
          <p:cNvCxnSpPr/>
          <p:nvPr/>
        </p:nvCxnSpPr>
        <p:spPr>
          <a:xfrm xmlns:a="http://schemas.openxmlformats.org/drawingml/2006/main">
            <a:off x="7181850" y="3143250"/>
            <a:ext cx="1162050" cy="0"/>
          </a:xfrm>
          <a:prstGeom xmlns:a="http://schemas.openxmlformats.org/drawingml/2006/main" prst="straightConnector1">
            <a:avLst/>
          </a:prstGeom>
          <a:ln xmlns:a="http://schemas.openxmlformats.org/drawingml/2006/main" w="28575">
            <a:solidFill>
              <a:srgbClr val="6C5CE7"/>
            </a:solidFill>
            <a:prstDash val="solid"/>
          </a:ln>
        </p:spPr>
      </p:cxnSp>
      <p:sp>
        <p:nvSpPr>
          <p:cNvPr id="9" name="">
            <a:extLst xmlns:a="http://schemas.openxmlformats.org/drawingml/2006/main">
              <a:ext uri="{FF2B5EF4-FFF2-40B4-BE49-F238E27FC236}">
                <a16:creationId xmlns:a16="http://schemas.microsoft.com/office/drawing/2014/main" id="{F136CBAD-DF84-48A4-B180-D504324A2F47}"/>
              </a:ext>
            </a:extLst>
          </p:cNvPr>
          <p:cNvSpPr>
            <a:spLocks xmlns:a="http://schemas.openxmlformats.org/drawingml/2006/main" noGrp="1"/>
          </p:cNvSpPr>
          <p:nvPr/>
        </p:nvSpPr>
        <p:spPr>
          <a:xfrm xmlns:a="http://schemas.openxmlformats.org/drawingml/2006/main">
            <a:off x="590550" y="2266950"/>
            <a:ext cx="2857500" cy="1771650"/>
          </a:xfrm>
          <a:prstGeom xmlns:a="http://schemas.openxmlformats.org/drawingml/2006/main" prst="roundRect">
            <a:avLst>
              <a:gd name="adj" fmla="val 8602"/>
            </a:avLst>
          </a:prstGeom>
          <a:solidFill xmlns:a="http://schemas.openxmlformats.org/drawingml/2006/main">
            <a:srgbClr val="EEEAFE"/>
          </a:solidFill>
          <a:ln xmlns:a="http://schemas.openxmlformats.org/drawingml/2006/main" w="0">
            <a:solidFill>
              <a:srgbClr val="EEEAFE"/>
            </a:solidFill>
            <a:prstDash val="solid"/>
          </a:ln>
        </p:spPr>
      </p:sp>
      <p:sp>
        <p:nvSpPr>
          <p:cNvPr id="10" name="">
            <a:extLst xmlns:a="http://schemas.openxmlformats.org/drawingml/2006/main">
              <a:ext uri="{FF2B5EF4-FFF2-40B4-BE49-F238E27FC236}">
                <a16:creationId xmlns:a16="http://schemas.microsoft.com/office/drawing/2014/main" id="{CBF24716-5F18-4BA8-AC31-8513AD6A430D}"/>
              </a:ext>
            </a:extLst>
          </p:cNvPr>
          <p:cNvSpPr>
            <a:spLocks xmlns:a="http://schemas.openxmlformats.org/drawingml/2006/main" noGrp="1"/>
          </p:cNvSpPr>
          <p:nvPr/>
        </p:nvSpPr>
        <p:spPr>
          <a:xfrm xmlns:a="http://schemas.openxmlformats.org/drawingml/2006/main">
            <a:off x="857250" y="2571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6C5CE7"/>
                </a:solidFill>
                <a:latin typeface="Arial"/>
                <a:ea typeface="Arial"/>
                <a:cs typeface="Arial"/>
              </a:defRPr>
            </a:pPr>
            <a:r>
              <a:rPr sz="1875" b="1">
                <a:solidFill>
                  <a:srgbClr val="6C5CE7"/>
                </a:solidFill>
                <a:latin typeface="Arial"/>
                <a:ea typeface="Arial"/>
                <a:cs typeface="Arial"/>
              </a:rPr>
              <a:t>1  Tap</a:t>
            </a:r>
          </a:p>
        </p:txBody>
      </p:sp>
      <p:sp>
        <p:nvSpPr>
          <p:cNvPr id="11" name="">
            <a:extLst xmlns:a="http://schemas.openxmlformats.org/drawingml/2006/main">
              <a:ext uri="{FF2B5EF4-FFF2-40B4-BE49-F238E27FC236}">
                <a16:creationId xmlns:a16="http://schemas.microsoft.com/office/drawing/2014/main" id="{73EC455A-6F80-4BD0-B7C9-44B18A592C90}"/>
              </a:ext>
            </a:extLst>
          </p:cNvPr>
          <p:cNvSpPr>
            <a:spLocks xmlns:a="http://schemas.openxmlformats.org/drawingml/2006/main" noGrp="1"/>
          </p:cNvSpPr>
          <p:nvPr/>
        </p:nvSpPr>
        <p:spPr>
          <a:xfrm xmlns:a="http://schemas.openxmlformats.org/drawingml/2006/main">
            <a:off x="857250" y="3067050"/>
            <a:ext cx="2324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The phone reads the registered NFC identifier.</a:t>
            </a:r>
          </a:p>
        </p:txBody>
      </p:sp>
      <p:sp>
        <p:nvSpPr>
          <p:cNvPr id="12" name="">
            <a:extLst xmlns:a="http://schemas.openxmlformats.org/drawingml/2006/main">
              <a:ext uri="{FF2B5EF4-FFF2-40B4-BE49-F238E27FC236}">
                <a16:creationId xmlns:a16="http://schemas.microsoft.com/office/drawing/2014/main" id="{0DCE4019-EEF0-414E-887C-A57C0FAFE694}"/>
              </a:ext>
            </a:extLst>
          </p:cNvPr>
          <p:cNvSpPr>
            <a:spLocks xmlns:a="http://schemas.openxmlformats.org/drawingml/2006/main" noGrp="1"/>
          </p:cNvSpPr>
          <p:nvPr/>
        </p:nvSpPr>
        <p:spPr>
          <a:xfrm xmlns:a="http://schemas.openxmlformats.org/drawingml/2006/main">
            <a:off x="4362450" y="2266950"/>
            <a:ext cx="2857500" cy="1771650"/>
          </a:xfrm>
          <a:prstGeom xmlns:a="http://schemas.openxmlformats.org/drawingml/2006/main" prst="roundRect">
            <a:avLst>
              <a:gd name="adj" fmla="val 8602"/>
            </a:avLst>
          </a:prstGeom>
          <a:solidFill xmlns:a="http://schemas.openxmlformats.org/drawingml/2006/main">
            <a:srgbClr val="111827"/>
          </a:solidFill>
          <a:ln xmlns:a="http://schemas.openxmlformats.org/drawingml/2006/main" w="0">
            <a:solidFill>
              <a:srgbClr val="111827"/>
            </a:solidFill>
            <a:prstDash val="solid"/>
          </a:ln>
        </p:spPr>
      </p:sp>
      <p:sp>
        <p:nvSpPr>
          <p:cNvPr id="13" name="">
            <a:extLst xmlns:a="http://schemas.openxmlformats.org/drawingml/2006/main">
              <a:ext uri="{FF2B5EF4-FFF2-40B4-BE49-F238E27FC236}">
                <a16:creationId xmlns:a16="http://schemas.microsoft.com/office/drawing/2014/main" id="{50BDB33A-5387-40B9-9570-7B1D9461C0E6}"/>
              </a:ext>
            </a:extLst>
          </p:cNvPr>
          <p:cNvSpPr>
            <a:spLocks xmlns:a="http://schemas.openxmlformats.org/drawingml/2006/main" noGrp="1"/>
          </p:cNvSpPr>
          <p:nvPr/>
        </p:nvSpPr>
        <p:spPr>
          <a:xfrm xmlns:a="http://schemas.openxmlformats.org/drawingml/2006/main">
            <a:off x="4629150" y="2571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FFFFFF"/>
                </a:solidFill>
                <a:latin typeface="Arial"/>
                <a:ea typeface="Arial"/>
                <a:cs typeface="Arial"/>
              </a:defRPr>
            </a:pPr>
            <a:r>
              <a:rPr sz="1875" b="1">
                <a:solidFill>
                  <a:srgbClr val="FFFFFF"/>
                </a:solidFill>
                <a:latin typeface="Arial"/>
                <a:ea typeface="Arial"/>
                <a:cs typeface="Arial"/>
              </a:rPr>
              <a:t>2  Check</a:t>
            </a:r>
          </a:p>
        </p:txBody>
      </p:sp>
      <p:sp>
        <p:nvSpPr>
          <p:cNvPr id="14" name="">
            <a:extLst xmlns:a="http://schemas.openxmlformats.org/drawingml/2006/main">
              <a:ext uri="{FF2B5EF4-FFF2-40B4-BE49-F238E27FC236}">
                <a16:creationId xmlns:a16="http://schemas.microsoft.com/office/drawing/2014/main" id="{19507B32-B146-4A80-973C-242D6FA27265}"/>
              </a:ext>
            </a:extLst>
          </p:cNvPr>
          <p:cNvSpPr>
            <a:spLocks xmlns:a="http://schemas.openxmlformats.org/drawingml/2006/main" noGrp="1"/>
          </p:cNvSpPr>
          <p:nvPr/>
        </p:nvSpPr>
        <p:spPr>
          <a:xfrm xmlns:a="http://schemas.openxmlformats.org/drawingml/2006/main">
            <a:off x="4629150" y="3067050"/>
            <a:ext cx="2324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E5E7EB"/>
                </a:solidFill>
                <a:latin typeface="Arial"/>
                <a:ea typeface="Arial"/>
                <a:cs typeface="Arial"/>
              </a:defRPr>
            </a:pPr>
            <a:r>
              <a:rPr sz="1425" b="0">
                <a:solidFill>
                  <a:srgbClr val="E5E7EB"/>
                </a:solidFill>
                <a:latin typeface="Arial"/>
                <a:ea typeface="Arial"/>
                <a:cs typeface="Arial"/>
              </a:rPr>
              <a:t>The backend confirms the verifier, linked record, and current permit state.</a:t>
            </a:r>
          </a:p>
        </p:txBody>
      </p:sp>
      <p:sp>
        <p:nvSpPr>
          <p:cNvPr id="15" name="">
            <a:extLst xmlns:a="http://schemas.openxmlformats.org/drawingml/2006/main">
              <a:ext uri="{FF2B5EF4-FFF2-40B4-BE49-F238E27FC236}">
                <a16:creationId xmlns:a16="http://schemas.microsoft.com/office/drawing/2014/main" id="{299E2059-9628-48A7-A1A6-BD28BF36689C}"/>
              </a:ext>
            </a:extLst>
          </p:cNvPr>
          <p:cNvSpPr>
            <a:spLocks xmlns:a="http://schemas.openxmlformats.org/drawingml/2006/main" noGrp="1"/>
          </p:cNvSpPr>
          <p:nvPr/>
        </p:nvSpPr>
        <p:spPr>
          <a:xfrm xmlns:a="http://schemas.openxmlformats.org/drawingml/2006/main">
            <a:off x="8343900" y="2266950"/>
            <a:ext cx="2857500" cy="1771650"/>
          </a:xfrm>
          <a:prstGeom xmlns:a="http://schemas.openxmlformats.org/drawingml/2006/main" prst="roundRect">
            <a:avLst>
              <a:gd name="adj" fmla="val 8602"/>
            </a:avLst>
          </a:prstGeom>
          <a:solidFill xmlns:a="http://schemas.openxmlformats.org/drawingml/2006/main">
            <a:srgbClr val="DCFCE7"/>
          </a:solidFill>
          <a:ln xmlns:a="http://schemas.openxmlformats.org/drawingml/2006/main" w="0">
            <a:solidFill>
              <a:srgbClr val="DCFCE7"/>
            </a:solidFill>
            <a:prstDash val="solid"/>
          </a:ln>
        </p:spPr>
      </p:sp>
      <p:sp>
        <p:nvSpPr>
          <p:cNvPr id="16" name="">
            <a:extLst xmlns:a="http://schemas.openxmlformats.org/drawingml/2006/main">
              <a:ext uri="{FF2B5EF4-FFF2-40B4-BE49-F238E27FC236}">
                <a16:creationId xmlns:a16="http://schemas.microsoft.com/office/drawing/2014/main" id="{E0C2DC7C-207A-4ECF-9FEF-CF9A803297F7}"/>
              </a:ext>
            </a:extLst>
          </p:cNvPr>
          <p:cNvSpPr>
            <a:spLocks xmlns:a="http://schemas.openxmlformats.org/drawingml/2006/main" noGrp="1"/>
          </p:cNvSpPr>
          <p:nvPr/>
        </p:nvSpPr>
        <p:spPr>
          <a:xfrm xmlns:a="http://schemas.openxmlformats.org/drawingml/2006/main">
            <a:off x="8610600" y="2571750"/>
            <a:ext cx="2324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087A5B"/>
                </a:solidFill>
                <a:latin typeface="Arial"/>
                <a:ea typeface="Arial"/>
                <a:cs typeface="Arial"/>
              </a:defRPr>
            </a:pPr>
            <a:r>
              <a:rPr sz="1875" b="1">
                <a:solidFill>
                  <a:srgbClr val="087A5B"/>
                </a:solidFill>
                <a:latin typeface="Arial"/>
                <a:ea typeface="Arial"/>
                <a:cs typeface="Arial"/>
              </a:rPr>
              <a:t>3  Return</a:t>
            </a:r>
          </a:p>
        </p:txBody>
      </p:sp>
      <p:sp>
        <p:nvSpPr>
          <p:cNvPr id="17" name="">
            <a:extLst xmlns:a="http://schemas.openxmlformats.org/drawingml/2006/main">
              <a:ext uri="{FF2B5EF4-FFF2-40B4-BE49-F238E27FC236}">
                <a16:creationId xmlns:a16="http://schemas.microsoft.com/office/drawing/2014/main" id="{81742B2B-5FD9-48B1-8955-52A669A1AA2C}"/>
              </a:ext>
            </a:extLst>
          </p:cNvPr>
          <p:cNvSpPr>
            <a:spLocks xmlns:a="http://schemas.openxmlformats.org/drawingml/2006/main" noGrp="1"/>
          </p:cNvSpPr>
          <p:nvPr/>
        </p:nvSpPr>
        <p:spPr>
          <a:xfrm xmlns:a="http://schemas.openxmlformats.org/drawingml/2006/main">
            <a:off x="8610600" y="3067050"/>
            <a:ext cx="23241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Only the authorized verification result is displayed and logged.</a:t>
            </a:r>
          </a:p>
        </p:txBody>
      </p:sp>
      <p:sp>
        <p:nvSpPr>
          <p:cNvPr id="18" name="">
            <a:extLst xmlns:a="http://schemas.openxmlformats.org/drawingml/2006/main">
              <a:ext uri="{FF2B5EF4-FFF2-40B4-BE49-F238E27FC236}">
                <a16:creationId xmlns:a16="http://schemas.microsoft.com/office/drawing/2014/main" id="{6404E483-3C4C-4E79-8CC5-56C4A4EB77CB}"/>
              </a:ext>
            </a:extLst>
          </p:cNvPr>
          <p:cNvSpPr>
            <a:spLocks xmlns:a="http://schemas.openxmlformats.org/drawingml/2006/main" noGrp="1"/>
          </p:cNvSpPr>
          <p:nvPr/>
        </p:nvSpPr>
        <p:spPr>
          <a:xfrm xmlns:a="http://schemas.openxmlformats.org/drawingml/2006/main">
            <a:off x="590550" y="455295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01828"/>
                </a:solidFill>
                <a:latin typeface="Arial"/>
                <a:ea typeface="Arial"/>
                <a:cs typeface="Arial"/>
              </a:defRPr>
            </a:pPr>
            <a:r>
              <a:rPr sz="1800" b="1">
                <a:solidFill>
                  <a:srgbClr val="101828"/>
                </a:solidFill>
                <a:latin typeface="Arial"/>
                <a:ea typeface="Arial"/>
                <a:cs typeface="Arial"/>
              </a:rPr>
              <a:t>Controls around the lookup</a:t>
            </a:r>
          </a:p>
        </p:txBody>
      </p:sp>
      <p:sp>
        <p:nvSpPr>
          <p:cNvPr id="19" name="">
            <a:extLst xmlns:a="http://schemas.openxmlformats.org/drawingml/2006/main">
              <a:ext uri="{FF2B5EF4-FFF2-40B4-BE49-F238E27FC236}">
                <a16:creationId xmlns:a16="http://schemas.microsoft.com/office/drawing/2014/main" id="{5D377E58-CCC9-4E1D-B3ED-8BC6BB308DA4}"/>
              </a:ext>
            </a:extLst>
          </p:cNvPr>
          <p:cNvSpPr>
            <a:spLocks xmlns:a="http://schemas.openxmlformats.org/drawingml/2006/main" noGrp="1"/>
          </p:cNvSpPr>
          <p:nvPr/>
        </p:nvSpPr>
        <p:spPr>
          <a:xfrm xmlns:a="http://schemas.openxmlformats.org/drawingml/2006/main">
            <a:off x="590550" y="5105400"/>
            <a:ext cx="18288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0D5DD"/>
            </a:solidFill>
            <a:prstDash val="solid"/>
          </a:ln>
        </p:spPr>
      </p:sp>
      <p:sp>
        <p:nvSpPr>
          <p:cNvPr id="20" name="">
            <a:extLst xmlns:a="http://schemas.openxmlformats.org/drawingml/2006/main">
              <a:ext uri="{FF2B5EF4-FFF2-40B4-BE49-F238E27FC236}">
                <a16:creationId xmlns:a16="http://schemas.microsoft.com/office/drawing/2014/main" id="{B936D820-5B14-4F9E-8459-605C449B78E4}"/>
              </a:ext>
            </a:extLst>
          </p:cNvPr>
          <p:cNvSpPr>
            <a:spLocks xmlns:a="http://schemas.openxmlformats.org/drawingml/2006/main" noGrp="1"/>
          </p:cNvSpPr>
          <p:nvPr/>
        </p:nvSpPr>
        <p:spPr>
          <a:xfrm xmlns:a="http://schemas.openxmlformats.org/drawingml/2006/main">
            <a:off x="704850" y="523875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1828"/>
                </a:solidFill>
                <a:latin typeface="Arial"/>
                <a:ea typeface="Arial"/>
                <a:cs typeface="Arial"/>
              </a:defRPr>
            </a:pPr>
            <a:r>
              <a:rPr sz="1200" b="1">
                <a:solidFill>
                  <a:srgbClr val="101828"/>
                </a:solidFill>
                <a:latin typeface="Arial"/>
                <a:ea typeface="Arial"/>
                <a:cs typeface="Arial"/>
              </a:rPr>
              <a:t>Role-based access</a:t>
            </a:r>
          </a:p>
        </p:txBody>
      </p:sp>
      <p:sp>
        <p:nvSpPr>
          <p:cNvPr id="21" name="">
            <a:extLst xmlns:a="http://schemas.openxmlformats.org/drawingml/2006/main">
              <a:ext uri="{FF2B5EF4-FFF2-40B4-BE49-F238E27FC236}">
                <a16:creationId xmlns:a16="http://schemas.microsoft.com/office/drawing/2014/main" id="{5D456D2D-B619-41AA-9003-D135EC05A6EF}"/>
              </a:ext>
            </a:extLst>
          </p:cNvPr>
          <p:cNvSpPr>
            <a:spLocks xmlns:a="http://schemas.openxmlformats.org/drawingml/2006/main" noGrp="1"/>
          </p:cNvSpPr>
          <p:nvPr/>
        </p:nvSpPr>
        <p:spPr>
          <a:xfrm xmlns:a="http://schemas.openxmlformats.org/drawingml/2006/main">
            <a:off x="2705100" y="5105400"/>
            <a:ext cx="18288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0D5DD"/>
            </a:solidFill>
            <a:prstDash val="solid"/>
          </a:ln>
        </p:spPr>
      </p:sp>
      <p:sp>
        <p:nvSpPr>
          <p:cNvPr id="22" name="">
            <a:extLst xmlns:a="http://schemas.openxmlformats.org/drawingml/2006/main">
              <a:ext uri="{FF2B5EF4-FFF2-40B4-BE49-F238E27FC236}">
                <a16:creationId xmlns:a16="http://schemas.microsoft.com/office/drawing/2014/main" id="{84880EB3-440F-4067-BFFD-2ED7E22605DD}"/>
              </a:ext>
            </a:extLst>
          </p:cNvPr>
          <p:cNvSpPr>
            <a:spLocks xmlns:a="http://schemas.openxmlformats.org/drawingml/2006/main" noGrp="1"/>
          </p:cNvSpPr>
          <p:nvPr/>
        </p:nvSpPr>
        <p:spPr>
          <a:xfrm xmlns:a="http://schemas.openxmlformats.org/drawingml/2006/main">
            <a:off x="2819400" y="523875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1828"/>
                </a:solidFill>
                <a:latin typeface="Arial"/>
                <a:ea typeface="Arial"/>
                <a:cs typeface="Arial"/>
              </a:defRPr>
            </a:pPr>
            <a:r>
              <a:rPr sz="1200" b="1">
                <a:solidFill>
                  <a:srgbClr val="101828"/>
                </a:solidFill>
                <a:latin typeface="Arial"/>
                <a:ea typeface="Arial"/>
                <a:cs typeface="Arial"/>
              </a:rPr>
              <a:t>Server validation</a:t>
            </a:r>
          </a:p>
        </p:txBody>
      </p:sp>
      <p:sp>
        <p:nvSpPr>
          <p:cNvPr id="23" name="">
            <a:extLst xmlns:a="http://schemas.openxmlformats.org/drawingml/2006/main">
              <a:ext uri="{FF2B5EF4-FFF2-40B4-BE49-F238E27FC236}">
                <a16:creationId xmlns:a16="http://schemas.microsoft.com/office/drawing/2014/main" id="{D2488129-FE30-4B2F-B099-D17823D6F8C0}"/>
              </a:ext>
            </a:extLst>
          </p:cNvPr>
          <p:cNvSpPr>
            <a:spLocks xmlns:a="http://schemas.openxmlformats.org/drawingml/2006/main" noGrp="1"/>
          </p:cNvSpPr>
          <p:nvPr/>
        </p:nvSpPr>
        <p:spPr>
          <a:xfrm xmlns:a="http://schemas.openxmlformats.org/drawingml/2006/main">
            <a:off x="4819650" y="5105400"/>
            <a:ext cx="1828800" cy="514350"/>
          </a:xfrm>
          <a:prstGeom xmlns:a="http://schemas.openxmlformats.org/drawingml/2006/main" prst="roundRect">
            <a:avLst>
              <a:gd name="adj" fmla="val 14815"/>
            </a:avLst>
          </a:prstGeom>
          <a:solidFill xmlns:a="http://schemas.openxmlformats.org/drawingml/2006/main">
            <a:srgbClr val="EEEAFE"/>
          </a:solidFill>
          <a:ln xmlns:a="http://schemas.openxmlformats.org/drawingml/2006/main" w="9525">
            <a:solidFill>
              <a:srgbClr val="D0D5DD"/>
            </a:solidFill>
            <a:prstDash val="solid"/>
          </a:ln>
        </p:spPr>
      </p:sp>
      <p:sp>
        <p:nvSpPr>
          <p:cNvPr id="24" name="">
            <a:extLst xmlns:a="http://schemas.openxmlformats.org/drawingml/2006/main">
              <a:ext uri="{FF2B5EF4-FFF2-40B4-BE49-F238E27FC236}">
                <a16:creationId xmlns:a16="http://schemas.microsoft.com/office/drawing/2014/main" id="{F45F1281-630F-4A8A-B92F-C08917A2512D}"/>
              </a:ext>
            </a:extLst>
          </p:cNvPr>
          <p:cNvSpPr>
            <a:spLocks xmlns:a="http://schemas.openxmlformats.org/drawingml/2006/main" noGrp="1"/>
          </p:cNvSpPr>
          <p:nvPr/>
        </p:nvSpPr>
        <p:spPr>
          <a:xfrm xmlns:a="http://schemas.openxmlformats.org/drawingml/2006/main">
            <a:off x="4933950" y="523875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6C5CE7"/>
                </a:solidFill>
                <a:latin typeface="Arial"/>
                <a:ea typeface="Arial"/>
                <a:cs typeface="Arial"/>
              </a:defRPr>
            </a:pPr>
            <a:r>
              <a:rPr sz="1200" b="1">
                <a:solidFill>
                  <a:srgbClr val="6C5CE7"/>
                </a:solidFill>
                <a:latin typeface="Arial"/>
                <a:ea typeface="Arial"/>
                <a:cs typeface="Arial"/>
              </a:rPr>
              <a:t>Audit logs</a:t>
            </a:r>
          </a:p>
        </p:txBody>
      </p:sp>
      <p:sp>
        <p:nvSpPr>
          <p:cNvPr id="25" name="">
            <a:extLst xmlns:a="http://schemas.openxmlformats.org/drawingml/2006/main">
              <a:ext uri="{FF2B5EF4-FFF2-40B4-BE49-F238E27FC236}">
                <a16:creationId xmlns:a16="http://schemas.microsoft.com/office/drawing/2014/main" id="{B2D7FEBB-F1D4-4EB3-9F34-00C33AB81E7D}"/>
              </a:ext>
            </a:extLst>
          </p:cNvPr>
          <p:cNvSpPr>
            <a:spLocks xmlns:a="http://schemas.openxmlformats.org/drawingml/2006/main" noGrp="1"/>
          </p:cNvSpPr>
          <p:nvPr/>
        </p:nvSpPr>
        <p:spPr>
          <a:xfrm xmlns:a="http://schemas.openxmlformats.org/drawingml/2006/main">
            <a:off x="6934200" y="5105400"/>
            <a:ext cx="18288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0D5DD"/>
            </a:solidFill>
            <a:prstDash val="solid"/>
          </a:ln>
        </p:spPr>
      </p:sp>
      <p:sp>
        <p:nvSpPr>
          <p:cNvPr id="26" name="">
            <a:extLst xmlns:a="http://schemas.openxmlformats.org/drawingml/2006/main">
              <a:ext uri="{FF2B5EF4-FFF2-40B4-BE49-F238E27FC236}">
                <a16:creationId xmlns:a16="http://schemas.microsoft.com/office/drawing/2014/main" id="{C80F95D7-F370-4603-882A-3D3D2B1278F3}"/>
              </a:ext>
            </a:extLst>
          </p:cNvPr>
          <p:cNvSpPr>
            <a:spLocks xmlns:a="http://schemas.openxmlformats.org/drawingml/2006/main" noGrp="1"/>
          </p:cNvSpPr>
          <p:nvPr/>
        </p:nvSpPr>
        <p:spPr>
          <a:xfrm xmlns:a="http://schemas.openxmlformats.org/drawingml/2006/main">
            <a:off x="7048500" y="523875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1828"/>
                </a:solidFill>
                <a:latin typeface="Arial"/>
                <a:ea typeface="Arial"/>
                <a:cs typeface="Arial"/>
              </a:defRPr>
            </a:pPr>
            <a:r>
              <a:rPr sz="1200" b="1">
                <a:solidFill>
                  <a:srgbClr val="101828"/>
                </a:solidFill>
                <a:latin typeface="Arial"/>
                <a:ea typeface="Arial"/>
                <a:cs typeface="Arial"/>
              </a:rPr>
              <a:t>Rate limits</a:t>
            </a:r>
          </a:p>
        </p:txBody>
      </p:sp>
      <p:sp>
        <p:nvSpPr>
          <p:cNvPr id="27" name="">
            <a:extLst xmlns:a="http://schemas.openxmlformats.org/drawingml/2006/main">
              <a:ext uri="{FF2B5EF4-FFF2-40B4-BE49-F238E27FC236}">
                <a16:creationId xmlns:a16="http://schemas.microsoft.com/office/drawing/2014/main" id="{6F76C250-A39E-490E-994E-62C6DDC0BA57}"/>
              </a:ext>
            </a:extLst>
          </p:cNvPr>
          <p:cNvSpPr>
            <a:spLocks xmlns:a="http://schemas.openxmlformats.org/drawingml/2006/main" noGrp="1"/>
          </p:cNvSpPr>
          <p:nvPr/>
        </p:nvSpPr>
        <p:spPr>
          <a:xfrm xmlns:a="http://schemas.openxmlformats.org/drawingml/2006/main">
            <a:off x="9048750" y="5105400"/>
            <a:ext cx="18288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D0D5DD"/>
            </a:solidFill>
            <a:prstDash val="solid"/>
          </a:ln>
        </p:spPr>
      </p:sp>
      <p:sp>
        <p:nvSpPr>
          <p:cNvPr id="28" name="">
            <a:extLst xmlns:a="http://schemas.openxmlformats.org/drawingml/2006/main">
              <a:ext uri="{FF2B5EF4-FFF2-40B4-BE49-F238E27FC236}">
                <a16:creationId xmlns:a16="http://schemas.microsoft.com/office/drawing/2014/main" id="{C79519EE-1614-4DF6-840D-F55DE8003674}"/>
              </a:ext>
            </a:extLst>
          </p:cNvPr>
          <p:cNvSpPr>
            <a:spLocks xmlns:a="http://schemas.openxmlformats.org/drawingml/2006/main" noGrp="1"/>
          </p:cNvSpPr>
          <p:nvPr/>
        </p:nvSpPr>
        <p:spPr>
          <a:xfrm xmlns:a="http://schemas.openxmlformats.org/drawingml/2006/main">
            <a:off x="9163050" y="5238750"/>
            <a:ext cx="1600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00" b="1">
                <a:solidFill>
                  <a:srgbClr val="101828"/>
                </a:solidFill>
                <a:latin typeface="Arial"/>
                <a:ea typeface="Arial"/>
                <a:cs typeface="Arial"/>
              </a:defRPr>
            </a:pPr>
            <a:r>
              <a:rPr sz="1200" b="1">
                <a:solidFill>
                  <a:srgbClr val="101828"/>
                </a:solidFill>
                <a:latin typeface="Arial"/>
                <a:ea typeface="Arial"/>
                <a:cs typeface="Arial"/>
              </a:rPr>
              <a:t>Verified payments</a:t>
            </a:r>
          </a:p>
        </p:txBody>
      </p:sp>
      <p:sp>
        <p:nvSpPr>
          <p:cNvPr id="29" name="">
            <a:extLst xmlns:a="http://schemas.openxmlformats.org/drawingml/2006/main">
              <a:ext uri="{FF2B5EF4-FFF2-40B4-BE49-F238E27FC236}">
                <a16:creationId xmlns:a16="http://schemas.microsoft.com/office/drawing/2014/main" id="{890D45C8-71DC-4602-B154-47364F90B8CB}"/>
              </a:ext>
            </a:extLst>
          </p:cNvPr>
          <p:cNvSpPr>
            <a:spLocks xmlns:a="http://schemas.openxmlformats.org/drawingml/2006/main" noGrp="1"/>
          </p:cNvSpPr>
          <p:nvPr/>
        </p:nvSpPr>
        <p:spPr>
          <a:xfrm xmlns:a="http://schemas.openxmlformats.org/drawingml/2006/main">
            <a:off x="590550" y="5905500"/>
            <a:ext cx="10610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0">
                <a:solidFill>
                  <a:srgbClr val="667085"/>
                </a:solidFill>
                <a:latin typeface="Arial"/>
                <a:ea typeface="Arial"/>
                <a:cs typeface="Arial"/>
              </a:defRPr>
            </a:pPr>
            <a:r>
              <a:rPr sz="1200" b="0">
                <a:solidFill>
                  <a:srgbClr val="667085"/>
                </a:solidFill>
                <a:latin typeface="Arial"/>
                <a:ea typeface="Arial"/>
                <a:cs typeface="Arial"/>
              </a:rPr>
              <a:t>Limitation: copied identifiers remain a risk; stronger deployments can add cryptographic tags or controlled devices.</a:t>
            </a:r>
          </a:p>
        </p:txBody>
      </p:sp>
    </p:spTree>
    <p:extLst>
      <p:ext uri="{BB962C8B-B14F-4D97-AF65-F5344CB8AC3E}">
        <p14:creationId xmlns:p14="http://schemas.microsoft.com/office/powerpoint/2010/main" val="482213368"/>
      </p:ext>
    </p:extLst>
  </p:cSld>
</p:sld>
</file>

<file path=ppt/slides/slide9.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EE1F5CD-4950-4124-9232-E5D4830360A9}"/>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PILOT EVIDENCE</a:t>
            </a:r>
          </a:p>
        </p:txBody>
      </p:sp>
      <p:sp>
        <p:nvSpPr>
          <p:cNvPr id="2" name="">
            <a:extLst xmlns:a="http://schemas.openxmlformats.org/drawingml/2006/main">
              <a:ext uri="{FF2B5EF4-FFF2-40B4-BE49-F238E27FC236}">
                <a16:creationId xmlns:a16="http://schemas.microsoft.com/office/drawing/2014/main" id="{CF38B79D-4227-4C67-A7EB-A38889E00D87}"/>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75311"/>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The pilot exercised the digital permit and payment workflow at scale</a:t>
            </a:r>
          </a:p>
        </p:txBody>
      </p:sp>
      <p:cxnSp>
        <p:nvCxnSpPr>
          <p:cNvPr id="21"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EF408F6B-4D4C-4A1E-9D22-97101DCD718A}"/>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52A120FE-A683-4D13-B481-6CAACB74FA40}"/>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09</a:t>
            </a:r>
          </a:p>
        </p:txBody>
      </p:sp>
      <p:sp>
        <p:nvSpPr>
          <p:cNvPr id="6" name="">
            <a:extLst xmlns:a="http://schemas.openxmlformats.org/drawingml/2006/main">
              <a:ext uri="{FF2B5EF4-FFF2-40B4-BE49-F238E27FC236}">
                <a16:creationId xmlns:a16="http://schemas.microsoft.com/office/drawing/2014/main" id="{29237B64-2554-482F-8F16-819F80982DC3}"/>
              </a:ext>
            </a:extLst>
          </p:cNvPr>
          <p:cNvSpPr>
            <a:spLocks xmlns:a="http://schemas.openxmlformats.org/drawingml/2006/main" noGrp="1"/>
          </p:cNvSpPr>
          <p:nvPr/>
        </p:nvSpPr>
        <p:spPr>
          <a:xfrm xmlns:a="http://schemas.openxmlformats.org/drawingml/2006/main">
            <a:off x="457200" y="1390650"/>
            <a:ext cx="108394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rial"/>
                <a:ea typeface="Arial"/>
                <a:cs typeface="Arial"/>
              </a:defRPr>
            </a:pPr>
            <a:r>
              <a:rPr sz="1725" b="0">
                <a:solidFill>
                  <a:srgbClr val="667085"/>
                </a:solidFill>
                <a:latin typeface="Arial"/>
                <a:ea typeface="Arial"/>
                <a:cs typeface="Arial"/>
              </a:rPr>
              <a:t>These figures validate permit and payment operations—not a completed campus-wide NFC rollout.</a:t>
            </a:r>
          </a:p>
        </p:txBody>
      </p:sp>
      <p:sp>
        <p:nvSpPr>
          <p:cNvPr id="7" name="">
            <a:extLst xmlns:a="http://schemas.openxmlformats.org/drawingml/2006/main">
              <a:ext uri="{FF2B5EF4-FFF2-40B4-BE49-F238E27FC236}">
                <a16:creationId xmlns:a16="http://schemas.microsoft.com/office/drawing/2014/main" id="{4BA99521-0569-4B16-818A-935ED15621EA}"/>
              </a:ext>
            </a:extLst>
          </p:cNvPr>
          <p:cNvSpPr>
            <a:spLocks xmlns:a="http://schemas.openxmlformats.org/drawingml/2006/main" noGrp="1"/>
          </p:cNvSpPr>
          <p:nvPr/>
        </p:nvSpPr>
        <p:spPr>
          <a:xfrm xmlns:a="http://schemas.openxmlformats.org/drawingml/2006/main">
            <a:off x="457200" y="2324100"/>
            <a:ext cx="3333750" cy="2381250"/>
          </a:xfrm>
          <a:prstGeom xmlns:a="http://schemas.openxmlformats.org/drawingml/2006/main" prst="roundRect">
            <a:avLst>
              <a:gd name="adj" fmla="val 5600"/>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52F49564-5111-4C2A-9CA4-96385FC1F05B}"/>
              </a:ext>
            </a:extLst>
          </p:cNvPr>
          <p:cNvSpPr>
            <a:spLocks xmlns:a="http://schemas.openxmlformats.org/drawingml/2006/main" noGrp="1"/>
          </p:cNvSpPr>
          <p:nvPr/>
        </p:nvSpPr>
        <p:spPr>
          <a:xfrm xmlns:a="http://schemas.openxmlformats.org/drawingml/2006/main">
            <a:off x="723900" y="278130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200" b="1">
                <a:solidFill>
                  <a:srgbClr val="6C5CE7"/>
                </a:solidFill>
                <a:latin typeface="Arial"/>
                <a:ea typeface="Arial"/>
                <a:cs typeface="Arial"/>
              </a:defRPr>
            </a:pPr>
            <a:r>
              <a:rPr sz="4200" b="1">
                <a:solidFill>
                  <a:srgbClr val="6C5CE7"/>
                </a:solidFill>
                <a:latin typeface="Arial"/>
                <a:ea typeface="Arial"/>
                <a:cs typeface="Arial"/>
              </a:rPr>
              <a:t>2,021</a:t>
            </a:r>
          </a:p>
        </p:txBody>
      </p:sp>
      <p:sp>
        <p:nvSpPr>
          <p:cNvPr id="9" name="">
            <a:extLst xmlns:a="http://schemas.openxmlformats.org/drawingml/2006/main">
              <a:ext uri="{FF2B5EF4-FFF2-40B4-BE49-F238E27FC236}">
                <a16:creationId xmlns:a16="http://schemas.microsoft.com/office/drawing/2014/main" id="{C3B81A28-468E-4AED-B6AD-23A302E2695D}"/>
              </a:ext>
            </a:extLst>
          </p:cNvPr>
          <p:cNvSpPr>
            <a:spLocks xmlns:a="http://schemas.openxmlformats.org/drawingml/2006/main" noGrp="1"/>
          </p:cNvSpPr>
          <p:nvPr/>
        </p:nvSpPr>
        <p:spPr>
          <a:xfrm xmlns:a="http://schemas.openxmlformats.org/drawingml/2006/main">
            <a:off x="723900" y="3676650"/>
            <a:ext cx="2800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registered student records</a:t>
            </a:r>
          </a:p>
        </p:txBody>
      </p:sp>
      <p:sp>
        <p:nvSpPr>
          <p:cNvPr id="10" name="">
            <a:extLst xmlns:a="http://schemas.openxmlformats.org/drawingml/2006/main">
              <a:ext uri="{FF2B5EF4-FFF2-40B4-BE49-F238E27FC236}">
                <a16:creationId xmlns:a16="http://schemas.microsoft.com/office/drawing/2014/main" id="{E0D38082-5714-4A7F-9866-0D783105D84E}"/>
              </a:ext>
            </a:extLst>
          </p:cNvPr>
          <p:cNvSpPr>
            <a:spLocks xmlns:a="http://schemas.openxmlformats.org/drawingml/2006/main" noGrp="1"/>
          </p:cNvSpPr>
          <p:nvPr/>
        </p:nvSpPr>
        <p:spPr>
          <a:xfrm xmlns:a="http://schemas.openxmlformats.org/drawingml/2006/main">
            <a:off x="4114800" y="2324100"/>
            <a:ext cx="3333750" cy="2381250"/>
          </a:xfrm>
          <a:prstGeom xmlns:a="http://schemas.openxmlformats.org/drawingml/2006/main" prst="roundRect">
            <a:avLst>
              <a:gd name="adj" fmla="val 5600"/>
            </a:avLst>
          </a:prstGeom>
          <a:solidFill xmlns:a="http://schemas.openxmlformats.org/drawingml/2006/main">
            <a:srgbClr val="FFFFFF"/>
          </a:solidFill>
          <a:ln xmlns:a="http://schemas.openxmlformats.org/drawingml/2006/main" w="9525">
            <a:solidFill>
              <a:srgbClr val="D0D5DD"/>
            </a:solidFill>
            <a:prstDash val="solid"/>
          </a:ln>
        </p:spPr>
      </p:sp>
      <p:sp>
        <p:nvSpPr>
          <p:cNvPr id="11" name="">
            <a:extLst xmlns:a="http://schemas.openxmlformats.org/drawingml/2006/main">
              <a:ext uri="{FF2B5EF4-FFF2-40B4-BE49-F238E27FC236}">
                <a16:creationId xmlns:a16="http://schemas.microsoft.com/office/drawing/2014/main" id="{BBB69312-98DF-4394-8CE4-EC428D8AF51D}"/>
              </a:ext>
            </a:extLst>
          </p:cNvPr>
          <p:cNvSpPr>
            <a:spLocks xmlns:a="http://schemas.openxmlformats.org/drawingml/2006/main" noGrp="1"/>
          </p:cNvSpPr>
          <p:nvPr/>
        </p:nvSpPr>
        <p:spPr>
          <a:xfrm xmlns:a="http://schemas.openxmlformats.org/drawingml/2006/main">
            <a:off x="4381500" y="278130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200" b="1">
                <a:solidFill>
                  <a:srgbClr val="6C5CE7"/>
                </a:solidFill>
                <a:latin typeface="Arial"/>
                <a:ea typeface="Arial"/>
                <a:cs typeface="Arial"/>
              </a:defRPr>
            </a:pPr>
            <a:r>
              <a:rPr sz="4200" b="1">
                <a:solidFill>
                  <a:srgbClr val="6C5CE7"/>
                </a:solidFill>
                <a:latin typeface="Arial"/>
                <a:ea typeface="Arial"/>
                <a:cs typeface="Arial"/>
              </a:rPr>
              <a:t>2,769</a:t>
            </a:r>
          </a:p>
        </p:txBody>
      </p:sp>
      <p:sp>
        <p:nvSpPr>
          <p:cNvPr id="12" name="">
            <a:extLst xmlns:a="http://schemas.openxmlformats.org/drawingml/2006/main">
              <a:ext uri="{FF2B5EF4-FFF2-40B4-BE49-F238E27FC236}">
                <a16:creationId xmlns:a16="http://schemas.microsoft.com/office/drawing/2014/main" id="{35F0E0D7-E842-4375-9058-7C6D53E1413B}"/>
              </a:ext>
            </a:extLst>
          </p:cNvPr>
          <p:cNvSpPr>
            <a:spLocks xmlns:a="http://schemas.openxmlformats.org/drawingml/2006/main" noGrp="1"/>
          </p:cNvSpPr>
          <p:nvPr/>
        </p:nvSpPr>
        <p:spPr>
          <a:xfrm xmlns:a="http://schemas.openxmlformats.org/drawingml/2006/main">
            <a:off x="4381500" y="3676650"/>
            <a:ext cx="2800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permit records linked to successful payments</a:t>
            </a:r>
          </a:p>
        </p:txBody>
      </p:sp>
      <p:sp>
        <p:nvSpPr>
          <p:cNvPr id="13" name="">
            <a:extLst xmlns:a="http://schemas.openxmlformats.org/drawingml/2006/main">
              <a:ext uri="{FF2B5EF4-FFF2-40B4-BE49-F238E27FC236}">
                <a16:creationId xmlns:a16="http://schemas.microsoft.com/office/drawing/2014/main" id="{966B3291-3CE0-4691-AED7-930F32F574C4}"/>
              </a:ext>
            </a:extLst>
          </p:cNvPr>
          <p:cNvSpPr>
            <a:spLocks xmlns:a="http://schemas.openxmlformats.org/drawingml/2006/main" noGrp="1"/>
          </p:cNvSpPr>
          <p:nvPr/>
        </p:nvSpPr>
        <p:spPr>
          <a:xfrm xmlns:a="http://schemas.openxmlformats.org/drawingml/2006/main">
            <a:off x="7772400" y="2324100"/>
            <a:ext cx="3333750" cy="2381250"/>
          </a:xfrm>
          <a:prstGeom xmlns:a="http://schemas.openxmlformats.org/drawingml/2006/main" prst="roundRect">
            <a:avLst>
              <a:gd name="adj" fmla="val 5600"/>
            </a:avLst>
          </a:prstGeom>
          <a:solidFill xmlns:a="http://schemas.openxmlformats.org/drawingml/2006/main">
            <a:srgbClr val="FFFFFF"/>
          </a:solidFill>
          <a:ln xmlns:a="http://schemas.openxmlformats.org/drawingml/2006/main" w="9525">
            <a:solidFill>
              <a:srgbClr val="D0D5DD"/>
            </a:solidFill>
            <a:prstDash val="solid"/>
          </a:ln>
        </p:spPr>
      </p:sp>
      <p:sp>
        <p:nvSpPr>
          <p:cNvPr id="14" name="">
            <a:extLst xmlns:a="http://schemas.openxmlformats.org/drawingml/2006/main">
              <a:ext uri="{FF2B5EF4-FFF2-40B4-BE49-F238E27FC236}">
                <a16:creationId xmlns:a16="http://schemas.microsoft.com/office/drawing/2014/main" id="{300116C7-CB05-49F5-97AD-4E4F77571A09}"/>
              </a:ext>
            </a:extLst>
          </p:cNvPr>
          <p:cNvSpPr>
            <a:spLocks xmlns:a="http://schemas.openxmlformats.org/drawingml/2006/main" noGrp="1"/>
          </p:cNvSpPr>
          <p:nvPr/>
        </p:nvSpPr>
        <p:spPr>
          <a:xfrm xmlns:a="http://schemas.openxmlformats.org/drawingml/2006/main">
            <a:off x="8039100" y="2781300"/>
            <a:ext cx="2800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225" b="1">
                <a:solidFill>
                  <a:srgbClr val="087A5B"/>
                </a:solidFill>
                <a:latin typeface="Arial"/>
                <a:ea typeface="Arial"/>
                <a:cs typeface="Arial"/>
              </a:defRPr>
            </a:pPr>
            <a:r>
              <a:rPr sz="3225" b="1">
                <a:solidFill>
                  <a:srgbClr val="087A5B"/>
                </a:solidFill>
                <a:latin typeface="Arial"/>
                <a:ea typeface="Arial"/>
                <a:cs typeface="Arial"/>
              </a:rPr>
              <a:t>GHS 276,900</a:t>
            </a:r>
          </a:p>
        </p:txBody>
      </p:sp>
      <p:sp>
        <p:nvSpPr>
          <p:cNvPr id="15" name="">
            <a:extLst xmlns:a="http://schemas.openxmlformats.org/drawingml/2006/main">
              <a:ext uri="{FF2B5EF4-FFF2-40B4-BE49-F238E27FC236}">
                <a16:creationId xmlns:a16="http://schemas.microsoft.com/office/drawing/2014/main" id="{ED6161BF-E72D-4553-8F09-3C72ADCD182B}"/>
              </a:ext>
            </a:extLst>
          </p:cNvPr>
          <p:cNvSpPr>
            <a:spLocks xmlns:a="http://schemas.openxmlformats.org/drawingml/2006/main" noGrp="1"/>
          </p:cNvSpPr>
          <p:nvPr/>
        </p:nvSpPr>
        <p:spPr>
          <a:xfrm xmlns:a="http://schemas.openxmlformats.org/drawingml/2006/main">
            <a:off x="8039100" y="3676650"/>
            <a:ext cx="2800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a:solidFill>
                  <a:srgbClr val="667085"/>
                </a:solidFill>
                <a:latin typeface="Arial"/>
                <a:ea typeface="Arial"/>
                <a:cs typeface="Arial"/>
              </a:defRPr>
            </a:pPr>
            <a:r>
              <a:rPr sz="1425" b="0">
                <a:solidFill>
                  <a:srgbClr val="667085"/>
                </a:solidFill>
                <a:latin typeface="Arial"/>
                <a:ea typeface="Arial"/>
                <a:cs typeface="Arial"/>
              </a:rPr>
              <a:t>value of successful pilot transactions</a:t>
            </a:r>
          </a:p>
        </p:txBody>
      </p:sp>
      <p:sp>
        <p:nvSpPr>
          <p:cNvPr id="16" name="">
            <a:extLst xmlns:a="http://schemas.openxmlformats.org/drawingml/2006/main">
              <a:ext uri="{FF2B5EF4-FFF2-40B4-BE49-F238E27FC236}">
                <a16:creationId xmlns:a16="http://schemas.microsoft.com/office/drawing/2014/main" id="{3EFFEC28-7B29-4649-8D60-04D0947E414F}"/>
              </a:ext>
            </a:extLst>
          </p:cNvPr>
          <p:cNvSpPr>
            <a:spLocks xmlns:a="http://schemas.openxmlformats.org/drawingml/2006/main" noGrp="1"/>
          </p:cNvSpPr>
          <p:nvPr/>
        </p:nvSpPr>
        <p:spPr>
          <a:xfrm xmlns:a="http://schemas.openxmlformats.org/drawingml/2006/main">
            <a:off x="457200" y="5067300"/>
            <a:ext cx="10648950" cy="781050"/>
          </a:xfrm>
          <a:prstGeom xmlns:a="http://schemas.openxmlformats.org/drawingml/2006/main" prst="roundRect">
            <a:avLst>
              <a:gd name="adj" fmla="val 12195"/>
            </a:avLst>
          </a:prstGeom>
          <a:solidFill xmlns:a="http://schemas.openxmlformats.org/drawingml/2006/main">
            <a:srgbClr val="FEF3C7"/>
          </a:solidFill>
          <a:ln xmlns:a="http://schemas.openxmlformats.org/drawingml/2006/main" w="0">
            <a:solidFill>
              <a:srgbClr val="FEF3C7"/>
            </a:solidFill>
            <a:prstDash val="solid"/>
          </a:ln>
        </p:spPr>
      </p:sp>
      <p:sp>
        <p:nvSpPr>
          <p:cNvPr id="17" name="">
            <a:extLst xmlns:a="http://schemas.openxmlformats.org/drawingml/2006/main">
              <a:ext uri="{FF2B5EF4-FFF2-40B4-BE49-F238E27FC236}">
                <a16:creationId xmlns:a16="http://schemas.microsoft.com/office/drawing/2014/main" id="{A68C120B-85E6-4520-81EE-905608BFF37F}"/>
              </a:ext>
            </a:extLst>
          </p:cNvPr>
          <p:cNvSpPr>
            <a:spLocks xmlns:a="http://schemas.openxmlformats.org/drawingml/2006/main" noGrp="1"/>
          </p:cNvSpPr>
          <p:nvPr/>
        </p:nvSpPr>
        <p:spPr>
          <a:xfrm xmlns:a="http://schemas.openxmlformats.org/drawingml/2006/main">
            <a:off x="685800" y="5248275"/>
            <a:ext cx="2838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a:solidFill>
                  <a:srgbClr val="B45309"/>
                </a:solidFill>
                <a:latin typeface="Arial"/>
                <a:ea typeface="Arial"/>
                <a:cs typeface="Arial"/>
              </a:defRPr>
            </a:pPr>
            <a:r>
              <a:rPr sz="1425" b="1">
                <a:solidFill>
                  <a:srgbClr val="B45309"/>
                </a:solidFill>
                <a:latin typeface="Arial"/>
                <a:ea typeface="Arial"/>
                <a:cs typeface="Arial"/>
              </a:rPr>
              <a:t>Why permits exceed students</a:t>
            </a:r>
          </a:p>
        </p:txBody>
      </p:sp>
      <p:sp>
        <p:nvSpPr>
          <p:cNvPr id="18" name="">
            <a:extLst xmlns:a="http://schemas.openxmlformats.org/drawingml/2006/main">
              <a:ext uri="{FF2B5EF4-FFF2-40B4-BE49-F238E27FC236}">
                <a16:creationId xmlns:a16="http://schemas.microsoft.com/office/drawing/2014/main" id="{F271767A-0F6F-409B-981D-11A3C5B63C66}"/>
              </a:ext>
            </a:extLst>
          </p:cNvPr>
          <p:cNvSpPr>
            <a:spLocks xmlns:a="http://schemas.openxmlformats.org/drawingml/2006/main" noGrp="1"/>
          </p:cNvSpPr>
          <p:nvPr/>
        </p:nvSpPr>
        <p:spPr>
          <a:xfrm xmlns:a="http://schemas.openxmlformats.org/drawingml/2006/main">
            <a:off x="3714750" y="5219700"/>
            <a:ext cx="70866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01828"/>
                </a:solidFill>
                <a:latin typeface="Arial"/>
                <a:ea typeface="Arial"/>
                <a:cs typeface="Arial"/>
              </a:defRPr>
            </a:pPr>
            <a:r>
              <a:rPr sz="1350" b="0">
                <a:solidFill>
                  <a:srgbClr val="101828"/>
                </a:solidFill>
                <a:latin typeface="Arial"/>
                <a:ea typeface="Arial"/>
                <a:cs typeface="Arial"/>
              </a:rPr>
              <a:t>The figures count different things: 2,021 registered students versus 2,769 processed permit/payment records. Some students have repeated records across permit periods.</a:t>
            </a:r>
          </a:p>
        </p:txBody>
      </p:sp>
    </p:spTree>
    <p:extLst>
      <p:ext uri="{BB962C8B-B14F-4D97-AF65-F5344CB8AC3E}">
        <p14:creationId xmlns:p14="http://schemas.microsoft.com/office/powerpoint/2010/main" val="2132815661"/>
      </p:ext>
    </p:extLst>
  </p:cSld>
</p:sld>
</file>

<file path=ppt/slides/slide10.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06B227C-E56C-4746-A870-D10F314AC064}"/>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POST-SUBMISSION VALIDATION</a:t>
            </a:r>
          </a:p>
        </p:txBody>
      </p:sp>
      <p:sp>
        <p:nvSpPr>
          <p:cNvPr id="2" name="">
            <a:extLst xmlns:a="http://schemas.openxmlformats.org/drawingml/2006/main">
              <a:ext uri="{FF2B5EF4-FFF2-40B4-BE49-F238E27FC236}">
                <a16:creationId xmlns:a16="http://schemas.microsoft.com/office/drawing/2014/main" id="{7DF0EFBE-18D4-4A0C-BCBF-3443EF1D5DC2}"/>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303"/>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The latest verified build passed 337 automated tests</a:t>
            </a:r>
          </a:p>
        </p:txBody>
      </p:sp>
      <p:cxnSp>
        <p:nvCxnSpPr>
          <p:cNvPr id="18"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0F5449EE-E93C-4CF5-BB86-B26E1A754F5A}"/>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F67DFC72-3977-4C11-8A6A-28FB0334DAB1}"/>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93EFF5DC-C344-46A2-B85D-026BB9F8072F}"/>
              </a:ext>
            </a:extLst>
          </p:cNvPr>
          <p:cNvSpPr>
            <a:spLocks xmlns:a="http://schemas.openxmlformats.org/drawingml/2006/main" noGrp="1"/>
          </p:cNvSpPr>
          <p:nvPr/>
        </p:nvSpPr>
        <p:spPr>
          <a:xfrm xmlns:a="http://schemas.openxmlformats.org/drawingml/2006/main">
            <a:off x="457200" y="14097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rial"/>
                <a:ea typeface="Arial"/>
                <a:cs typeface="Arial"/>
              </a:defRPr>
            </a:pPr>
            <a:r>
              <a:rPr sz="1725" b="0">
                <a:solidFill>
                  <a:srgbClr val="667085"/>
                </a:solidFill>
                <a:latin typeface="Arial"/>
                <a:ea typeface="Arial"/>
                <a:cs typeface="Arial"/>
              </a:rPr>
              <a:t>Development and validation continued after the report was submitted.</a:t>
            </a:r>
          </a:p>
        </p:txBody>
      </p:sp>
      <p:sp>
        <p:nvSpPr>
          <p:cNvPr id="7" name="">
            <a:extLst xmlns:a="http://schemas.openxmlformats.org/drawingml/2006/main">
              <a:ext uri="{FF2B5EF4-FFF2-40B4-BE49-F238E27FC236}">
                <a16:creationId xmlns:a16="http://schemas.microsoft.com/office/drawing/2014/main" id="{6EABF100-A326-4A6D-8691-341137335E98}"/>
              </a:ext>
            </a:extLst>
          </p:cNvPr>
          <p:cNvSpPr>
            <a:spLocks xmlns:a="http://schemas.openxmlformats.org/drawingml/2006/main" noGrp="1"/>
          </p:cNvSpPr>
          <p:nvPr/>
        </p:nvSpPr>
        <p:spPr>
          <a:xfrm xmlns:a="http://schemas.openxmlformats.org/drawingml/2006/main">
            <a:off x="457200" y="2171700"/>
            <a:ext cx="4572000" cy="3143250"/>
          </a:xfrm>
          <a:prstGeom xmlns:a="http://schemas.openxmlformats.org/drawingml/2006/main" prst="roundRect">
            <a:avLst>
              <a:gd name="adj" fmla="val 4848"/>
            </a:avLst>
          </a:prstGeom>
          <a:solidFill xmlns:a="http://schemas.openxmlformats.org/drawingml/2006/main">
            <a:srgbClr val="111827"/>
          </a:solidFill>
          <a:ln xmlns:a="http://schemas.openxmlformats.org/drawingml/2006/main" w="0">
            <a:solidFill>
              <a:srgbClr val="111827"/>
            </a:solidFill>
            <a:prstDash val="solid"/>
          </a:ln>
        </p:spPr>
      </p:sp>
      <p:sp>
        <p:nvSpPr>
          <p:cNvPr id="8" name="">
            <a:extLst xmlns:a="http://schemas.openxmlformats.org/drawingml/2006/main">
              <a:ext uri="{FF2B5EF4-FFF2-40B4-BE49-F238E27FC236}">
                <a16:creationId xmlns:a16="http://schemas.microsoft.com/office/drawing/2014/main" id="{F5DA02B1-C93C-40F7-B367-6ED42BA340D3}"/>
              </a:ext>
            </a:extLst>
          </p:cNvPr>
          <p:cNvSpPr>
            <a:spLocks xmlns:a="http://schemas.openxmlformats.org/drawingml/2006/main" noGrp="1"/>
          </p:cNvSpPr>
          <p:nvPr/>
        </p:nvSpPr>
        <p:spPr>
          <a:xfrm xmlns:a="http://schemas.openxmlformats.org/drawingml/2006/main">
            <a:off x="838200" y="25717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97"/>
          </a:bodyPr>
          <a:lstStyle xmlns:a="http://schemas.openxmlformats.org/drawingml/2006/main"/>
          <a:p xmlns:a="http://schemas.openxmlformats.org/drawingml/2006/main">
            <a:pPr algn="l">
              <a:defRPr sz="6600" b="1">
                <a:solidFill>
                  <a:srgbClr val="FFFFFF"/>
                </a:solidFill>
                <a:latin typeface="Arial"/>
                <a:ea typeface="Arial"/>
                <a:cs typeface="Arial"/>
              </a:defRPr>
            </a:pPr>
            <a:r>
              <a:rPr sz="6600" b="1">
                <a:solidFill>
                  <a:srgbClr val="FFFFFF"/>
                </a:solidFill>
                <a:latin typeface="Arial"/>
                <a:ea typeface="Arial"/>
                <a:cs typeface="Arial"/>
              </a:rPr>
              <a:t>337</a:t>
            </a:r>
          </a:p>
        </p:txBody>
      </p:sp>
      <p:sp>
        <p:nvSpPr>
          <p:cNvPr id="9" name="">
            <a:extLst xmlns:a="http://schemas.openxmlformats.org/drawingml/2006/main">
              <a:ext uri="{FF2B5EF4-FFF2-40B4-BE49-F238E27FC236}">
                <a16:creationId xmlns:a16="http://schemas.microsoft.com/office/drawing/2014/main" id="{F9A8FE6B-6777-48DB-96F2-79EA0602C3A3}"/>
              </a:ext>
            </a:extLst>
          </p:cNvPr>
          <p:cNvSpPr>
            <a:spLocks xmlns:a="http://schemas.openxmlformats.org/drawingml/2006/main" noGrp="1"/>
          </p:cNvSpPr>
          <p:nvPr/>
        </p:nvSpPr>
        <p:spPr>
          <a:xfrm xmlns:a="http://schemas.openxmlformats.org/drawingml/2006/main">
            <a:off x="838200" y="3638550"/>
            <a:ext cx="361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C4B5FD"/>
                </a:solidFill>
                <a:latin typeface="Arial"/>
                <a:ea typeface="Arial"/>
                <a:cs typeface="Arial"/>
              </a:defRPr>
            </a:pPr>
            <a:r>
              <a:rPr sz="1875" b="1">
                <a:solidFill>
                  <a:srgbClr val="C4B5FD"/>
                </a:solidFill>
                <a:latin typeface="Arial"/>
                <a:ea typeface="Arial"/>
                <a:cs typeface="Arial"/>
              </a:rPr>
              <a:t>automated tests passed</a:t>
            </a:r>
          </a:p>
        </p:txBody>
      </p:sp>
      <p:sp>
        <p:nvSpPr>
          <p:cNvPr id="10" name="">
            <a:extLst xmlns:a="http://schemas.openxmlformats.org/drawingml/2006/main">
              <a:ext uri="{FF2B5EF4-FFF2-40B4-BE49-F238E27FC236}">
                <a16:creationId xmlns:a16="http://schemas.microsoft.com/office/drawing/2014/main" id="{5C367EB2-D679-42AE-9355-5D1A988D0B02}"/>
              </a:ext>
            </a:extLst>
          </p:cNvPr>
          <p:cNvSpPr>
            <a:spLocks xmlns:a="http://schemas.openxmlformats.org/drawingml/2006/main" noGrp="1"/>
          </p:cNvSpPr>
          <p:nvPr/>
        </p:nvSpPr>
        <p:spPr>
          <a:xfrm xmlns:a="http://schemas.openxmlformats.org/drawingml/2006/main">
            <a:off x="838200" y="43434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1,657 assertions</a:t>
            </a:r>
          </a:p>
        </p:txBody>
      </p:sp>
      <p:sp>
        <p:nvSpPr>
          <p:cNvPr id="11" name="">
            <a:extLst xmlns:a="http://schemas.openxmlformats.org/drawingml/2006/main">
              <a:ext uri="{FF2B5EF4-FFF2-40B4-BE49-F238E27FC236}">
                <a16:creationId xmlns:a16="http://schemas.microsoft.com/office/drawing/2014/main" id="{F1F8133C-B399-4063-A025-BF2450D1C211}"/>
              </a:ext>
            </a:extLst>
          </p:cNvPr>
          <p:cNvSpPr>
            <a:spLocks xmlns:a="http://schemas.openxmlformats.org/drawingml/2006/main" noGrp="1"/>
          </p:cNvSpPr>
          <p:nvPr/>
        </p:nvSpPr>
        <p:spPr>
          <a:xfrm xmlns:a="http://schemas.openxmlformats.org/drawingml/2006/main">
            <a:off x="5448300" y="2171700"/>
            <a:ext cx="5676900" cy="3143250"/>
          </a:xfrm>
          <a:prstGeom xmlns:a="http://schemas.openxmlformats.org/drawingml/2006/main" prst="roundRect">
            <a:avLst>
              <a:gd name="adj" fmla="val 4848"/>
            </a:avLst>
          </a:prstGeom>
          <a:solidFill xmlns:a="http://schemas.openxmlformats.org/drawingml/2006/main">
            <a:srgbClr val="FFFFFF"/>
          </a:solidFill>
          <a:ln xmlns:a="http://schemas.openxmlformats.org/drawingml/2006/main" w="9525">
            <a:solidFill>
              <a:srgbClr val="D0D5DD"/>
            </a:solidFill>
            <a:prstDash val="solid"/>
          </a:ln>
        </p:spPr>
      </p:sp>
      <p:sp>
        <p:nvSpPr>
          <p:cNvPr id="12" name="">
            <a:extLst xmlns:a="http://schemas.openxmlformats.org/drawingml/2006/main">
              <a:ext uri="{FF2B5EF4-FFF2-40B4-BE49-F238E27FC236}">
                <a16:creationId xmlns:a16="http://schemas.microsoft.com/office/drawing/2014/main" id="{7D86DC0D-352D-4037-B999-2E35F0EEF5D6}"/>
              </a:ext>
            </a:extLst>
          </p:cNvPr>
          <p:cNvSpPr>
            <a:spLocks xmlns:a="http://schemas.openxmlformats.org/drawingml/2006/main" noGrp="1"/>
          </p:cNvSpPr>
          <p:nvPr/>
        </p:nvSpPr>
        <p:spPr>
          <a:xfrm xmlns:a="http://schemas.openxmlformats.org/drawingml/2006/main">
            <a:off x="5791200" y="2514600"/>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rial"/>
                <a:ea typeface="Arial"/>
                <a:cs typeface="Arial"/>
              </a:defRPr>
            </a:pPr>
            <a:r>
              <a:rPr sz="1875" b="1">
                <a:solidFill>
                  <a:srgbClr val="101828"/>
                </a:solidFill>
                <a:latin typeface="Arial"/>
                <a:ea typeface="Arial"/>
                <a:cs typeface="Arial"/>
              </a:rPr>
              <a:t>Verified checks</a:t>
            </a:r>
          </a:p>
        </p:txBody>
      </p:sp>
      <p:sp>
        <p:nvSpPr>
          <p:cNvPr id="13" name="">
            <a:extLst xmlns:a="http://schemas.openxmlformats.org/drawingml/2006/main">
              <a:ext uri="{FF2B5EF4-FFF2-40B4-BE49-F238E27FC236}">
                <a16:creationId xmlns:a16="http://schemas.microsoft.com/office/drawing/2014/main" id="{C5A8F456-203E-4E46-8B5A-7BC6DD9792CA}"/>
              </a:ext>
            </a:extLst>
          </p:cNvPr>
          <p:cNvSpPr>
            <a:spLocks xmlns:a="http://schemas.openxmlformats.org/drawingml/2006/main" noGrp="1"/>
          </p:cNvSpPr>
          <p:nvPr/>
        </p:nvSpPr>
        <p:spPr>
          <a:xfrm xmlns:a="http://schemas.openxmlformats.org/drawingml/2006/main">
            <a:off x="5791200" y="3143250"/>
            <a:ext cx="48577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4" indent="-14">
              <a:spcAft>
                <a:spcPts val="17"/>
              </a:spcAft>
              <a:buChar char="•"/>
              <a:defRPr sz="1575">
                <a:solidFill>
                  <a:srgbClr val="101828"/>
                </a:solidFill>
                <a:latin typeface="Arial"/>
                <a:ea typeface="Arial"/>
                <a:cs typeface="Arial"/>
              </a:defRPr>
            </a:pPr>
            <a:r>
              <a:rPr sz="1575">
                <a:solidFill>
                  <a:srgbClr val="101828"/>
                </a:solidFill>
                <a:latin typeface="Arial"/>
                <a:ea typeface="Arial"/>
                <a:cs typeface="Arial"/>
              </a:rPr>
              <a:t>Laravel feature and API tests</a:t>
            </a:r>
          </a:p>
          <a:p xmlns:a="http://schemas.openxmlformats.org/drawingml/2006/main">
            <a:pPr marL="24" indent="-14">
              <a:spcAft>
                <a:spcPts val="17"/>
              </a:spcAft>
              <a:buChar char="•"/>
              <a:defRPr sz="1575">
                <a:solidFill>
                  <a:srgbClr val="101828"/>
                </a:solidFill>
                <a:latin typeface="Arial"/>
                <a:ea typeface="Arial"/>
                <a:cs typeface="Arial"/>
              </a:defRPr>
            </a:pPr>
            <a:r>
              <a:rPr sz="1575">
                <a:solidFill>
                  <a:srgbClr val="101828"/>
                </a:solidFill>
                <a:latin typeface="Arial"/>
                <a:ea typeface="Arial"/>
                <a:cs typeface="Arial"/>
              </a:rPr>
              <a:t>TypeScript checks passed</a:t>
            </a:r>
          </a:p>
          <a:p xmlns:a="http://schemas.openxmlformats.org/drawingml/2006/main">
            <a:pPr marL="24" indent="-14">
              <a:spcAft>
                <a:spcPts val="17"/>
              </a:spcAft>
              <a:buChar char="•"/>
              <a:defRPr sz="1575">
                <a:solidFill>
                  <a:srgbClr val="101828"/>
                </a:solidFill>
                <a:latin typeface="Arial"/>
                <a:ea typeface="Arial"/>
                <a:cs typeface="Arial"/>
              </a:defRPr>
            </a:pPr>
            <a:r>
              <a:rPr sz="1575">
                <a:solidFill>
                  <a:srgbClr val="101828"/>
                </a:solidFill>
                <a:latin typeface="Arial"/>
                <a:ea typeface="Arial"/>
                <a:cs typeface="Arial"/>
              </a:rPr>
              <a:t>Mobile lint passed</a:t>
            </a:r>
          </a:p>
          <a:p xmlns:a="http://schemas.openxmlformats.org/drawingml/2006/main">
            <a:pPr marL="24" indent="-14">
              <a:spcAft>
                <a:spcPts val="17"/>
              </a:spcAft>
              <a:buChar char="•"/>
              <a:defRPr sz="1575">
                <a:solidFill>
                  <a:srgbClr val="101828"/>
                </a:solidFill>
                <a:latin typeface="Arial"/>
                <a:ea typeface="Arial"/>
                <a:cs typeface="Arial"/>
              </a:defRPr>
            </a:pPr>
            <a:r>
              <a:rPr sz="1575">
                <a:solidFill>
                  <a:srgbClr val="101828"/>
                </a:solidFill>
                <a:latin typeface="Arial"/>
                <a:ea typeface="Arial"/>
                <a:cs typeface="Arial"/>
              </a:rPr>
              <a:t>No failed checks in the verified run</a:t>
            </a:r>
          </a:p>
        </p:txBody>
      </p:sp>
      <p:sp>
        <p:nvSpPr>
          <p:cNvPr id="14" name="">
            <a:extLst xmlns:a="http://schemas.openxmlformats.org/drawingml/2006/main">
              <a:ext uri="{FF2B5EF4-FFF2-40B4-BE49-F238E27FC236}">
                <a16:creationId xmlns:a16="http://schemas.microsoft.com/office/drawing/2014/main" id="{E2E66C92-CB40-45FB-9E44-299473C29897}"/>
              </a:ext>
            </a:extLst>
          </p:cNvPr>
          <p:cNvSpPr>
            <a:spLocks xmlns:a="http://schemas.openxmlformats.org/drawingml/2006/main" noGrp="1"/>
          </p:cNvSpPr>
          <p:nvPr/>
        </p:nvSpPr>
        <p:spPr>
          <a:xfrm xmlns:a="http://schemas.openxmlformats.org/drawingml/2006/main">
            <a:off x="457200" y="5676900"/>
            <a:ext cx="10668000" cy="457200"/>
          </a:xfrm>
          <a:prstGeom xmlns:a="http://schemas.openxmlformats.org/drawingml/2006/main" prst="roundRect">
            <a:avLst>
              <a:gd name="adj" fmla="val 16667"/>
            </a:avLst>
          </a:prstGeom>
          <a:solidFill xmlns:a="http://schemas.openxmlformats.org/drawingml/2006/main">
            <a:srgbClr val="EEEAFE"/>
          </a:solidFill>
          <a:ln xmlns:a="http://schemas.openxmlformats.org/drawingml/2006/main" w="0">
            <a:solidFill>
              <a:srgbClr val="EEEAFE"/>
            </a:solidFill>
            <a:prstDash val="solid"/>
          </a:ln>
        </p:spPr>
      </p:sp>
      <p:sp>
        <p:nvSpPr>
          <p:cNvPr id="15" name="">
            <a:extLst xmlns:a="http://schemas.openxmlformats.org/drawingml/2006/main">
              <a:ext uri="{FF2B5EF4-FFF2-40B4-BE49-F238E27FC236}">
                <a16:creationId xmlns:a16="http://schemas.microsoft.com/office/drawing/2014/main" id="{C552D943-7344-4F3D-89F4-EFC3A3473FE1}"/>
              </a:ext>
            </a:extLst>
          </p:cNvPr>
          <p:cNvSpPr>
            <a:spLocks xmlns:a="http://schemas.openxmlformats.org/drawingml/2006/main" noGrp="1"/>
          </p:cNvSpPr>
          <p:nvPr/>
        </p:nvSpPr>
        <p:spPr>
          <a:xfrm xmlns:a="http://schemas.openxmlformats.org/drawingml/2006/main">
            <a:off x="685800" y="5800725"/>
            <a:ext cx="10210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6C5CE7"/>
                </a:solidFill>
                <a:latin typeface="Arial"/>
                <a:ea typeface="Arial"/>
                <a:cs typeface="Arial"/>
              </a:defRPr>
            </a:pPr>
            <a:r>
              <a:rPr sz="1275" b="1">
                <a:solidFill>
                  <a:srgbClr val="6C5CE7"/>
                </a:solidFill>
                <a:latin typeface="Arial"/>
                <a:ea typeface="Arial"/>
                <a:cs typeface="Arial"/>
              </a:rPr>
              <a:t>The report contains the submission-time count; this slide reports the newer current-build validation.</a:t>
            </a:r>
          </a:p>
        </p:txBody>
      </p:sp>
    </p:spTree>
    <p:extLst>
      <p:ext uri="{BB962C8B-B14F-4D97-AF65-F5344CB8AC3E}">
        <p14:creationId xmlns:p14="http://schemas.microsoft.com/office/powerpoint/2010/main" val="1667121664"/>
      </p:ext>
    </p:extLst>
  </p:cSld>
</p:sld>
</file>

<file path=ppt/slides/slide11.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FC24E07-22A8-40D4-AE6E-196602CBEDD9}"/>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IMPLEMENTATION PATH</a:t>
            </a:r>
          </a:p>
        </p:txBody>
      </p:sp>
      <p:sp>
        <p:nvSpPr>
          <p:cNvPr id="2" name="">
            <a:extLst xmlns:a="http://schemas.openxmlformats.org/drawingml/2006/main">
              <a:ext uri="{FF2B5EF4-FFF2-40B4-BE49-F238E27FC236}">
                <a16:creationId xmlns:a16="http://schemas.microsoft.com/office/drawing/2014/main" id="{86DE11EB-699A-4A24-A9A8-DE4BD97047A1}"/>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324"/>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A phased GHS 32,450 rollout keeps adoption realistic</a:t>
            </a:r>
          </a:p>
        </p:txBody>
      </p:sp>
      <p:cxnSp>
        <p:nvCxnSpPr>
          <p:cNvPr id="26"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91B14526-744E-4593-B225-0FDA2165E8D8}"/>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5338FED8-9AC8-4C17-8016-E4508D5A3105}"/>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11</a:t>
            </a:r>
          </a:p>
        </p:txBody>
      </p:sp>
      <p:sp>
        <p:nvSpPr>
          <p:cNvPr id="6" name="">
            <a:extLst xmlns:a="http://schemas.openxmlformats.org/drawingml/2006/main">
              <a:ext uri="{FF2B5EF4-FFF2-40B4-BE49-F238E27FC236}">
                <a16:creationId xmlns:a16="http://schemas.microsoft.com/office/drawing/2014/main" id="{BE97A4AF-BBB8-4907-92BC-8B730561607C}"/>
              </a:ext>
            </a:extLst>
          </p:cNvPr>
          <p:cNvSpPr>
            <a:spLocks xmlns:a="http://schemas.openxmlformats.org/drawingml/2006/main" noGrp="1"/>
          </p:cNvSpPr>
          <p:nvPr/>
        </p:nvSpPr>
        <p:spPr>
          <a:xfrm xmlns:a="http://schemas.openxmlformats.org/drawingml/2006/main">
            <a:off x="457200" y="1543050"/>
            <a:ext cx="2571750" cy="4095750"/>
          </a:xfrm>
          <a:prstGeom xmlns:a="http://schemas.openxmlformats.org/drawingml/2006/main" prst="roundRect">
            <a:avLst>
              <a:gd name="adj" fmla="val 5926"/>
            </a:avLst>
          </a:prstGeom>
          <a:solidFill xmlns:a="http://schemas.openxmlformats.org/drawingml/2006/main">
            <a:srgbClr val="111827"/>
          </a:solidFill>
          <a:ln xmlns:a="http://schemas.openxmlformats.org/drawingml/2006/main" w="0">
            <a:solidFill>
              <a:srgbClr val="111827"/>
            </a:solidFill>
            <a:prstDash val="solid"/>
          </a:ln>
        </p:spPr>
      </p:sp>
      <p:sp>
        <p:nvSpPr>
          <p:cNvPr id="7" name="">
            <a:extLst xmlns:a="http://schemas.openxmlformats.org/drawingml/2006/main">
              <a:ext uri="{FF2B5EF4-FFF2-40B4-BE49-F238E27FC236}">
                <a16:creationId xmlns:a16="http://schemas.microsoft.com/office/drawing/2014/main" id="{590977AD-F8FD-4B04-81A5-9516FFEC471C}"/>
              </a:ext>
            </a:extLst>
          </p:cNvPr>
          <p:cNvSpPr>
            <a:spLocks xmlns:a="http://schemas.openxmlformats.org/drawingml/2006/main" noGrp="1"/>
          </p:cNvSpPr>
          <p:nvPr/>
        </p:nvSpPr>
        <p:spPr>
          <a:xfrm xmlns:a="http://schemas.openxmlformats.org/drawingml/2006/main">
            <a:off x="742950" y="1924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b="1">
                <a:solidFill>
                  <a:srgbClr val="C4B5FD"/>
                </a:solidFill>
                <a:latin typeface="Arial"/>
                <a:ea typeface="Arial"/>
                <a:cs typeface="Arial"/>
              </a:defRPr>
            </a:pPr>
            <a:r>
              <a:rPr sz="1050" b="1">
                <a:solidFill>
                  <a:srgbClr val="C4B5FD"/>
                </a:solidFill>
                <a:latin typeface="Arial"/>
                <a:ea typeface="Arial"/>
                <a:cs typeface="Arial"/>
              </a:rPr>
              <a:t>SUBMITTED BUDGET</a:t>
            </a:r>
          </a:p>
        </p:txBody>
      </p:sp>
      <p:sp>
        <p:nvSpPr>
          <p:cNvPr id="8" name="">
            <a:extLst xmlns:a="http://schemas.openxmlformats.org/drawingml/2006/main">
              <a:ext uri="{FF2B5EF4-FFF2-40B4-BE49-F238E27FC236}">
                <a16:creationId xmlns:a16="http://schemas.microsoft.com/office/drawing/2014/main" id="{0143C993-D651-40EC-957B-F403FB8B431A}"/>
              </a:ext>
            </a:extLst>
          </p:cNvPr>
          <p:cNvSpPr>
            <a:spLocks xmlns:a="http://schemas.openxmlformats.org/drawingml/2006/main" noGrp="1"/>
          </p:cNvSpPr>
          <p:nvPr/>
        </p:nvSpPr>
        <p:spPr>
          <a:xfrm xmlns:a="http://schemas.openxmlformats.org/drawingml/2006/main">
            <a:off x="742950" y="2476500"/>
            <a:ext cx="200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GHS</a:t>
            </a:r>
          </a:p>
          <a:p xmlns:a="http://schemas.openxmlformats.org/drawingml/2006/main">
            <a:pPr algn="ctr">
              <a:defRPr sz="3750" b="1">
                <a:solidFill>
                  <a:srgbClr val="FFFFFF"/>
                </a:solidFill>
                <a:latin typeface="Arial"/>
                <a:ea typeface="Arial"/>
                <a:cs typeface="Arial"/>
              </a:defRPr>
            </a:pPr>
            <a:r>
              <a:rPr sz="3750" b="1">
                <a:solidFill>
                  <a:srgbClr val="FFFFFF"/>
                </a:solidFill>
                <a:latin typeface="Arial"/>
                <a:ea typeface="Arial"/>
                <a:cs typeface="Arial"/>
              </a:rPr>
              <a:t>32,450</a:t>
            </a:r>
          </a:p>
        </p:txBody>
      </p:sp>
      <p:sp>
        <p:nvSpPr>
          <p:cNvPr id="9" name="">
            <a:extLst xmlns:a="http://schemas.openxmlformats.org/drawingml/2006/main">
              <a:ext uri="{FF2B5EF4-FFF2-40B4-BE49-F238E27FC236}">
                <a16:creationId xmlns:a16="http://schemas.microsoft.com/office/drawing/2014/main" id="{6445FD00-4BCA-4C0B-A04B-7387A3552B9E}"/>
              </a:ext>
            </a:extLst>
          </p:cNvPr>
          <p:cNvSpPr>
            <a:spLocks xmlns:a="http://schemas.openxmlformats.org/drawingml/2006/main" noGrp="1"/>
          </p:cNvSpPr>
          <p:nvPr/>
        </p:nvSpPr>
        <p:spPr>
          <a:xfrm xmlns:a="http://schemas.openxmlformats.org/drawingml/2006/main">
            <a:off x="742950" y="4438650"/>
            <a:ext cx="2000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D0D5DD"/>
                </a:solidFill>
                <a:latin typeface="Arial"/>
                <a:ea typeface="Arial"/>
                <a:cs typeface="Arial"/>
              </a:defRPr>
            </a:pPr>
            <a:r>
              <a:rPr sz="1350" b="0">
                <a:solidFill>
                  <a:srgbClr val="D0D5DD"/>
                </a:solidFill>
                <a:latin typeface="Arial"/>
                <a:ea typeface="Arial"/>
                <a:cs typeface="Arial"/>
              </a:rPr>
              <a:t>Implementation envelope</a:t>
            </a:r>
          </a:p>
        </p:txBody>
      </p:sp>
      <p:sp>
        <p:nvSpPr>
          <p:cNvPr id="10" name="">
            <a:extLst xmlns:a="http://schemas.openxmlformats.org/drawingml/2006/main">
              <a:ext uri="{FF2B5EF4-FFF2-40B4-BE49-F238E27FC236}">
                <a16:creationId xmlns:a16="http://schemas.microsoft.com/office/drawing/2014/main" id="{CD268E03-9074-4AB7-8670-0BD71FDC3EF9}"/>
              </a:ext>
            </a:extLst>
          </p:cNvPr>
          <p:cNvSpPr>
            <a:spLocks xmlns:a="http://schemas.openxmlformats.org/drawingml/2006/main" noGrp="1"/>
          </p:cNvSpPr>
          <p:nvPr/>
        </p:nvSpPr>
        <p:spPr>
          <a:xfrm xmlns:a="http://schemas.openxmlformats.org/drawingml/2006/main">
            <a:off x="3429000" y="1524000"/>
            <a:ext cx="7677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667085"/>
                </a:solidFill>
                <a:latin typeface="Arial"/>
                <a:ea typeface="Arial"/>
                <a:cs typeface="Arial"/>
              </a:defRPr>
            </a:pPr>
            <a:r>
              <a:rPr sz="1725" b="0">
                <a:solidFill>
                  <a:srgbClr val="667085"/>
                </a:solidFill>
                <a:latin typeface="Arial"/>
                <a:ea typeface="Arial"/>
                <a:cs typeface="Arial"/>
              </a:rPr>
              <a:t>Controlled stages reduce operational risk and create room for training, monitoring, and improvement.</a:t>
            </a:r>
          </a:p>
        </p:txBody>
      </p:sp>
      <p:cxnSp>
        <p:nvCxnSpPr>
          <p:cNvPr id="34" name=""/>
          <p:cNvCxnSpPr/>
          <p:nvPr/>
        </p:nvCxnSpPr>
        <p:spPr>
          <a:xfrm xmlns:a="http://schemas.openxmlformats.org/drawingml/2006/main">
            <a:off x="3886200" y="3486150"/>
            <a:ext cx="6667500" cy="0"/>
          </a:xfrm>
          <a:prstGeom xmlns:a="http://schemas.openxmlformats.org/drawingml/2006/main" prst="straightConnector1">
            <a:avLst/>
          </a:prstGeom>
          <a:ln xmlns:a="http://schemas.openxmlformats.org/drawingml/2006/main" w="28575">
            <a:solidFill>
              <a:srgbClr val="D0D5DD"/>
            </a:solidFill>
            <a:prstDash val="solid"/>
          </a:ln>
        </p:spPr>
      </p:cxnSp>
      <p:sp>
        <p:nvSpPr>
          <p:cNvPr id="12" name="">
            <a:extLst xmlns:a="http://schemas.openxmlformats.org/drawingml/2006/main">
              <a:ext uri="{FF2B5EF4-FFF2-40B4-BE49-F238E27FC236}">
                <a16:creationId xmlns:a16="http://schemas.microsoft.com/office/drawing/2014/main" id="{81048B36-D8F0-4453-98D7-6F64C4AD36BD}"/>
              </a:ext>
            </a:extLst>
          </p:cNvPr>
          <p:cNvSpPr>
            <a:spLocks xmlns:a="http://schemas.openxmlformats.org/drawingml/2006/main" noGrp="1"/>
          </p:cNvSpPr>
          <p:nvPr/>
        </p:nvSpPr>
        <p:spPr>
          <a:xfrm xmlns:a="http://schemas.openxmlformats.org/drawingml/2006/main">
            <a:off x="4400550" y="3314700"/>
            <a:ext cx="342900" cy="342900"/>
          </a:xfrm>
          <a:prstGeom xmlns:a="http://schemas.openxmlformats.org/drawingml/2006/main" prst="ellipse">
            <a:avLst/>
          </a:prstGeom>
          <a:solidFill xmlns:a="http://schemas.openxmlformats.org/drawingml/2006/main">
            <a:srgbClr val="6C5CE7"/>
          </a:solidFill>
          <a:ln xmlns:a="http://schemas.openxmlformats.org/drawingml/2006/main" w="0">
            <a:solidFill>
              <a:srgbClr val="6C5CE7"/>
            </a:solidFill>
            <a:prstDash val="solid"/>
          </a:ln>
        </p:spPr>
      </p:sp>
      <p:sp>
        <p:nvSpPr>
          <p:cNvPr id="13" name="">
            <a:extLst xmlns:a="http://schemas.openxmlformats.org/drawingml/2006/main">
              <a:ext uri="{FF2B5EF4-FFF2-40B4-BE49-F238E27FC236}">
                <a16:creationId xmlns:a16="http://schemas.microsoft.com/office/drawing/2014/main" id="{53E0CBC4-CE99-42A2-851A-50774128A9CE}"/>
              </a:ext>
            </a:extLst>
          </p:cNvPr>
          <p:cNvSpPr>
            <a:spLocks xmlns:a="http://schemas.openxmlformats.org/drawingml/2006/main" noGrp="1"/>
          </p:cNvSpPr>
          <p:nvPr/>
        </p:nvSpPr>
        <p:spPr>
          <a:xfrm xmlns:a="http://schemas.openxmlformats.org/drawingml/2006/main">
            <a:off x="3562350" y="2552700"/>
            <a:ext cx="2019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C5CE7"/>
                </a:solidFill>
                <a:latin typeface="Arial"/>
                <a:ea typeface="Arial"/>
                <a:cs typeface="Arial"/>
              </a:defRPr>
            </a:pPr>
            <a:r>
              <a:rPr sz="1050" b="1">
                <a:solidFill>
                  <a:srgbClr val="6C5CE7"/>
                </a:solidFill>
                <a:latin typeface="Arial"/>
                <a:ea typeface="Arial"/>
                <a:cs typeface="Arial"/>
              </a:rPr>
              <a:t>PHASE 1</a:t>
            </a:r>
          </a:p>
        </p:txBody>
      </p:sp>
      <p:sp>
        <p:nvSpPr>
          <p:cNvPr id="14" name="">
            <a:extLst xmlns:a="http://schemas.openxmlformats.org/drawingml/2006/main">
              <a:ext uri="{FF2B5EF4-FFF2-40B4-BE49-F238E27FC236}">
                <a16:creationId xmlns:a16="http://schemas.microsoft.com/office/drawing/2014/main" id="{9809470B-5326-489A-BCF9-FB5830277CA1}"/>
              </a:ext>
            </a:extLst>
          </p:cNvPr>
          <p:cNvSpPr>
            <a:spLocks xmlns:a="http://schemas.openxmlformats.org/drawingml/2006/main" noGrp="1"/>
          </p:cNvSpPr>
          <p:nvPr/>
        </p:nvSpPr>
        <p:spPr>
          <a:xfrm xmlns:a="http://schemas.openxmlformats.org/drawingml/2006/main">
            <a:off x="3562350" y="28765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rial"/>
                <a:ea typeface="Arial"/>
                <a:cs typeface="Arial"/>
              </a:defRPr>
            </a:pPr>
            <a:r>
              <a:rPr sz="1875" b="1">
                <a:solidFill>
                  <a:srgbClr val="101828"/>
                </a:solidFill>
                <a:latin typeface="Arial"/>
                <a:ea typeface="Arial"/>
                <a:cs typeface="Arial"/>
              </a:rPr>
              <a:t>Prepare</a:t>
            </a:r>
          </a:p>
        </p:txBody>
      </p:sp>
      <p:sp>
        <p:nvSpPr>
          <p:cNvPr id="15" name="">
            <a:extLst xmlns:a="http://schemas.openxmlformats.org/drawingml/2006/main">
              <a:ext uri="{FF2B5EF4-FFF2-40B4-BE49-F238E27FC236}">
                <a16:creationId xmlns:a16="http://schemas.microsoft.com/office/drawing/2014/main" id="{A618966D-715C-4C3B-8520-62F2F59F6D69}"/>
              </a:ext>
            </a:extLst>
          </p:cNvPr>
          <p:cNvSpPr>
            <a:spLocks xmlns:a="http://schemas.openxmlformats.org/drawingml/2006/main" noGrp="1"/>
          </p:cNvSpPr>
          <p:nvPr/>
        </p:nvSpPr>
        <p:spPr>
          <a:xfrm xmlns:a="http://schemas.openxmlformats.org/drawingml/2006/main">
            <a:off x="3562350" y="3905250"/>
            <a:ext cx="2019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Confirm accounts, training, and controlled verification points.</a:t>
            </a:r>
          </a:p>
        </p:txBody>
      </p:sp>
      <p:sp>
        <p:nvSpPr>
          <p:cNvPr id="16" name="">
            <a:extLst xmlns:a="http://schemas.openxmlformats.org/drawingml/2006/main">
              <a:ext uri="{FF2B5EF4-FFF2-40B4-BE49-F238E27FC236}">
                <a16:creationId xmlns:a16="http://schemas.microsoft.com/office/drawing/2014/main" id="{872CC2C8-5063-4DA9-8926-B1D2824E42EE}"/>
              </a:ext>
            </a:extLst>
          </p:cNvPr>
          <p:cNvSpPr>
            <a:spLocks xmlns:a="http://schemas.openxmlformats.org/drawingml/2006/main" noGrp="1"/>
          </p:cNvSpPr>
          <p:nvPr/>
        </p:nvSpPr>
        <p:spPr>
          <a:xfrm xmlns:a="http://schemas.openxmlformats.org/drawingml/2006/main">
            <a:off x="6838950" y="3314700"/>
            <a:ext cx="342900" cy="342900"/>
          </a:xfrm>
          <a:prstGeom xmlns:a="http://schemas.openxmlformats.org/drawingml/2006/main" prst="ellipse">
            <a:avLst/>
          </a:prstGeom>
          <a:solidFill xmlns:a="http://schemas.openxmlformats.org/drawingml/2006/main">
            <a:srgbClr val="6C5CE7"/>
          </a:solidFill>
          <a:ln xmlns:a="http://schemas.openxmlformats.org/drawingml/2006/main" w="0">
            <a:solidFill>
              <a:srgbClr val="6C5CE7"/>
            </a:solidFill>
            <a:prstDash val="solid"/>
          </a:ln>
        </p:spPr>
      </p:sp>
      <p:sp>
        <p:nvSpPr>
          <p:cNvPr id="17" name="">
            <a:extLst xmlns:a="http://schemas.openxmlformats.org/drawingml/2006/main">
              <a:ext uri="{FF2B5EF4-FFF2-40B4-BE49-F238E27FC236}">
                <a16:creationId xmlns:a16="http://schemas.microsoft.com/office/drawing/2014/main" id="{4C7F98BF-F232-451A-9C1D-1890820AEA87}"/>
              </a:ext>
            </a:extLst>
          </p:cNvPr>
          <p:cNvSpPr>
            <a:spLocks xmlns:a="http://schemas.openxmlformats.org/drawingml/2006/main" noGrp="1"/>
          </p:cNvSpPr>
          <p:nvPr/>
        </p:nvSpPr>
        <p:spPr>
          <a:xfrm xmlns:a="http://schemas.openxmlformats.org/drawingml/2006/main">
            <a:off x="6000750" y="2552700"/>
            <a:ext cx="2019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C5CE7"/>
                </a:solidFill>
                <a:latin typeface="Arial"/>
                <a:ea typeface="Arial"/>
                <a:cs typeface="Arial"/>
              </a:defRPr>
            </a:pPr>
            <a:r>
              <a:rPr sz="1050" b="1">
                <a:solidFill>
                  <a:srgbClr val="6C5CE7"/>
                </a:solidFill>
                <a:latin typeface="Arial"/>
                <a:ea typeface="Arial"/>
                <a:cs typeface="Arial"/>
              </a:rPr>
              <a:t>PHASE 2</a:t>
            </a:r>
          </a:p>
        </p:txBody>
      </p:sp>
      <p:sp>
        <p:nvSpPr>
          <p:cNvPr id="18" name="">
            <a:extLst xmlns:a="http://schemas.openxmlformats.org/drawingml/2006/main">
              <a:ext uri="{FF2B5EF4-FFF2-40B4-BE49-F238E27FC236}">
                <a16:creationId xmlns:a16="http://schemas.microsoft.com/office/drawing/2014/main" id="{6D20C8F6-496A-4AE8-9E47-7DC7F65FA1E2}"/>
              </a:ext>
            </a:extLst>
          </p:cNvPr>
          <p:cNvSpPr>
            <a:spLocks xmlns:a="http://schemas.openxmlformats.org/drawingml/2006/main" noGrp="1"/>
          </p:cNvSpPr>
          <p:nvPr/>
        </p:nvSpPr>
        <p:spPr>
          <a:xfrm xmlns:a="http://schemas.openxmlformats.org/drawingml/2006/main">
            <a:off x="6000750" y="28765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rial"/>
                <a:ea typeface="Arial"/>
                <a:cs typeface="Arial"/>
              </a:defRPr>
            </a:pPr>
            <a:r>
              <a:rPr sz="1875" b="1">
                <a:solidFill>
                  <a:srgbClr val="101828"/>
                </a:solidFill>
                <a:latin typeface="Arial"/>
                <a:ea typeface="Arial"/>
                <a:cs typeface="Arial"/>
              </a:rPr>
              <a:t>Expand</a:t>
            </a:r>
          </a:p>
        </p:txBody>
      </p:sp>
      <p:sp>
        <p:nvSpPr>
          <p:cNvPr id="19" name="">
            <a:extLst xmlns:a="http://schemas.openxmlformats.org/drawingml/2006/main">
              <a:ext uri="{FF2B5EF4-FFF2-40B4-BE49-F238E27FC236}">
                <a16:creationId xmlns:a16="http://schemas.microsoft.com/office/drawing/2014/main" id="{226BAB1C-AE9F-488A-B722-9924D9A1D546}"/>
              </a:ext>
            </a:extLst>
          </p:cNvPr>
          <p:cNvSpPr>
            <a:spLocks xmlns:a="http://schemas.openxmlformats.org/drawingml/2006/main" noGrp="1"/>
          </p:cNvSpPr>
          <p:nvPr/>
        </p:nvSpPr>
        <p:spPr>
          <a:xfrm xmlns:a="http://schemas.openxmlformats.org/drawingml/2006/main">
            <a:off x="6000750" y="3905250"/>
            <a:ext cx="2019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Widen permit use and authorized staff coverage.</a:t>
            </a:r>
          </a:p>
        </p:txBody>
      </p:sp>
      <p:sp>
        <p:nvSpPr>
          <p:cNvPr id="20" name="">
            <a:extLst xmlns:a="http://schemas.openxmlformats.org/drawingml/2006/main">
              <a:ext uri="{FF2B5EF4-FFF2-40B4-BE49-F238E27FC236}">
                <a16:creationId xmlns:a16="http://schemas.microsoft.com/office/drawing/2014/main" id="{C9921827-490C-482F-94DA-EE890559DD59}"/>
              </a:ext>
            </a:extLst>
          </p:cNvPr>
          <p:cNvSpPr>
            <a:spLocks xmlns:a="http://schemas.openxmlformats.org/drawingml/2006/main" noGrp="1"/>
          </p:cNvSpPr>
          <p:nvPr/>
        </p:nvSpPr>
        <p:spPr>
          <a:xfrm xmlns:a="http://schemas.openxmlformats.org/drawingml/2006/main">
            <a:off x="9277350" y="3314700"/>
            <a:ext cx="342900" cy="342900"/>
          </a:xfrm>
          <a:prstGeom xmlns:a="http://schemas.openxmlformats.org/drawingml/2006/main" prst="ellipse">
            <a:avLst/>
          </a:prstGeom>
          <a:solidFill xmlns:a="http://schemas.openxmlformats.org/drawingml/2006/main">
            <a:srgbClr val="087A5B"/>
          </a:solidFill>
          <a:ln xmlns:a="http://schemas.openxmlformats.org/drawingml/2006/main" w="0">
            <a:solidFill>
              <a:srgbClr val="087A5B"/>
            </a:solidFill>
            <a:prstDash val="solid"/>
          </a:ln>
        </p:spPr>
      </p:sp>
      <p:sp>
        <p:nvSpPr>
          <p:cNvPr id="21" name="">
            <a:extLst xmlns:a="http://schemas.openxmlformats.org/drawingml/2006/main">
              <a:ext uri="{FF2B5EF4-FFF2-40B4-BE49-F238E27FC236}">
                <a16:creationId xmlns:a16="http://schemas.microsoft.com/office/drawing/2014/main" id="{DFF75F9C-1B86-47E9-863E-FF1EFFCAEDCF}"/>
              </a:ext>
            </a:extLst>
          </p:cNvPr>
          <p:cNvSpPr>
            <a:spLocks xmlns:a="http://schemas.openxmlformats.org/drawingml/2006/main" noGrp="1"/>
          </p:cNvSpPr>
          <p:nvPr/>
        </p:nvSpPr>
        <p:spPr>
          <a:xfrm xmlns:a="http://schemas.openxmlformats.org/drawingml/2006/main">
            <a:off x="8439150" y="2552700"/>
            <a:ext cx="2019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6C5CE7"/>
                </a:solidFill>
                <a:latin typeface="Arial"/>
                <a:ea typeface="Arial"/>
                <a:cs typeface="Arial"/>
              </a:defRPr>
            </a:pPr>
            <a:r>
              <a:rPr sz="1050" b="1">
                <a:solidFill>
                  <a:srgbClr val="6C5CE7"/>
                </a:solidFill>
                <a:latin typeface="Arial"/>
                <a:ea typeface="Arial"/>
                <a:cs typeface="Arial"/>
              </a:rPr>
              <a:t>PHASE 3</a:t>
            </a:r>
          </a:p>
        </p:txBody>
      </p:sp>
      <p:sp>
        <p:nvSpPr>
          <p:cNvPr id="22" name="">
            <a:extLst xmlns:a="http://schemas.openxmlformats.org/drawingml/2006/main">
              <a:ext uri="{FF2B5EF4-FFF2-40B4-BE49-F238E27FC236}">
                <a16:creationId xmlns:a16="http://schemas.microsoft.com/office/drawing/2014/main" id="{E84C9C45-E9D9-4BDE-9D36-468E3F4D9383}"/>
              </a:ext>
            </a:extLst>
          </p:cNvPr>
          <p:cNvSpPr>
            <a:spLocks xmlns:a="http://schemas.openxmlformats.org/drawingml/2006/main" noGrp="1"/>
          </p:cNvSpPr>
          <p:nvPr/>
        </p:nvSpPr>
        <p:spPr>
          <a:xfrm xmlns:a="http://schemas.openxmlformats.org/drawingml/2006/main">
            <a:off x="8439150" y="2876550"/>
            <a:ext cx="2019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01828"/>
                </a:solidFill>
                <a:latin typeface="Arial"/>
                <a:ea typeface="Arial"/>
                <a:cs typeface="Arial"/>
              </a:defRPr>
            </a:pPr>
            <a:r>
              <a:rPr sz="1875" b="1">
                <a:solidFill>
                  <a:srgbClr val="101828"/>
                </a:solidFill>
                <a:latin typeface="Arial"/>
                <a:ea typeface="Arial"/>
                <a:cs typeface="Arial"/>
              </a:rPr>
              <a:t>Improve</a:t>
            </a:r>
          </a:p>
        </p:txBody>
      </p:sp>
      <p:sp>
        <p:nvSpPr>
          <p:cNvPr id="23" name="">
            <a:extLst xmlns:a="http://schemas.openxmlformats.org/drawingml/2006/main">
              <a:ext uri="{FF2B5EF4-FFF2-40B4-BE49-F238E27FC236}">
                <a16:creationId xmlns:a16="http://schemas.microsoft.com/office/drawing/2014/main" id="{A4F38926-BF77-495B-9361-BA674F9A29E2}"/>
              </a:ext>
            </a:extLst>
          </p:cNvPr>
          <p:cNvSpPr>
            <a:spLocks xmlns:a="http://schemas.openxmlformats.org/drawingml/2006/main" noGrp="1"/>
          </p:cNvSpPr>
          <p:nvPr/>
        </p:nvSpPr>
        <p:spPr>
          <a:xfrm xmlns:a="http://schemas.openxmlformats.org/drawingml/2006/main">
            <a:off x="8439150" y="3905250"/>
            <a:ext cx="20193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667085"/>
                </a:solidFill>
                <a:latin typeface="Arial"/>
                <a:ea typeface="Arial"/>
                <a:cs typeface="Arial"/>
              </a:defRPr>
            </a:pPr>
            <a:r>
              <a:rPr sz="1350" b="0">
                <a:solidFill>
                  <a:srgbClr val="667085"/>
                </a:solidFill>
                <a:latin typeface="Arial"/>
                <a:ea typeface="Arial"/>
                <a:cs typeface="Arial"/>
              </a:rPr>
              <a:t>Monitor adoption, support users, and refine the system.</a:t>
            </a:r>
          </a:p>
        </p:txBody>
      </p:sp>
    </p:spTree>
    <p:extLst>
      <p:ext uri="{BB962C8B-B14F-4D97-AF65-F5344CB8AC3E}">
        <p14:creationId xmlns:p14="http://schemas.microsoft.com/office/powerpoint/2010/main" val="409513735"/>
      </p:ext>
    </p:extLst>
  </p:cSld>
</p:sld>
</file>

<file path=ppt/slides/slide12.xml><?xml version="1.0" encoding="utf-8"?>
<p:sld xmlns:p="http://schemas.openxmlformats.org/presentationml/2006/main">
  <p:cSld>
    <p:bg>
      <p:bgPr>
        <a:solidFill xmlns:a="http://schemas.openxmlformats.org/drawingml/2006/main">
          <a:srgbClr val="F8F9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2440DC8-5A56-43C3-8388-C5E5D916A774}"/>
              </a:ext>
            </a:extLst>
          </p:cNvPr>
          <p:cNvSpPr>
            <a:spLocks xmlns:a="http://schemas.openxmlformats.org/drawingml/2006/main" noGrp="1"/>
          </p:cNvSpPr>
          <p:nvPr/>
        </p:nvSpPr>
        <p:spPr>
          <a:xfrm xmlns:a="http://schemas.openxmlformats.org/drawingml/2006/main">
            <a:off x="457200" y="285750"/>
            <a:ext cx="4000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6C5CE7"/>
                </a:solidFill>
                <a:latin typeface="Arial"/>
                <a:ea typeface="Arial"/>
                <a:cs typeface="Arial"/>
              </a:defRPr>
            </a:pPr>
            <a:r>
              <a:rPr sz="975" b="1">
                <a:solidFill>
                  <a:srgbClr val="6C5CE7"/>
                </a:solidFill>
                <a:latin typeface="Arial"/>
                <a:ea typeface="Arial"/>
                <a:cs typeface="Arial"/>
              </a:rPr>
              <a:t>DEMONSTRATION</a:t>
            </a:r>
          </a:p>
        </p:txBody>
      </p:sp>
      <p:sp>
        <p:nvSpPr>
          <p:cNvPr id="2" name="">
            <a:extLst xmlns:a="http://schemas.openxmlformats.org/drawingml/2006/main">
              <a:ext uri="{FF2B5EF4-FFF2-40B4-BE49-F238E27FC236}">
                <a16:creationId xmlns:a16="http://schemas.microsoft.com/office/drawing/2014/main" id="{98528A6E-5B15-444A-98C7-C3147B2588FD}"/>
              </a:ext>
            </a:extLst>
          </p:cNvPr>
          <p:cNvSpPr>
            <a:spLocks xmlns:a="http://schemas.openxmlformats.org/drawingml/2006/main" noGrp="1"/>
          </p:cNvSpPr>
          <p:nvPr/>
        </p:nvSpPr>
        <p:spPr>
          <a:xfrm xmlns:a="http://schemas.openxmlformats.org/drawingml/2006/main">
            <a:off x="457200" y="552450"/>
            <a:ext cx="11144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a:solidFill>
                  <a:srgbClr val="101828"/>
                </a:solidFill>
                <a:latin typeface="Arial"/>
                <a:ea typeface="Arial"/>
                <a:cs typeface="Arial"/>
              </a:defRPr>
            </a:pPr>
            <a:r>
              <a:rPr sz="3600" b="1">
                <a:solidFill>
                  <a:srgbClr val="101828"/>
                </a:solidFill>
                <a:latin typeface="Arial"/>
                <a:ea typeface="Arial"/>
                <a:cs typeface="Arial"/>
              </a:rPr>
              <a:t>One record connects every channel</a:t>
            </a:r>
          </a:p>
        </p:txBody>
      </p:sp>
      <p:cxnSp>
        <p:nvCxnSpPr>
          <p:cNvPr id="23" name=""/>
          <p:cNvCxnSpPr/>
          <p:nvPr/>
        </p:nvCxnSpPr>
        <p:spPr>
          <a:xfrm xmlns:a="http://schemas.openxmlformats.org/drawingml/2006/main">
            <a:off x="457200" y="6419850"/>
            <a:ext cx="10801350" cy="0"/>
          </a:xfrm>
          <a:prstGeom xmlns:a="http://schemas.openxmlformats.org/drawingml/2006/main" prst="straightConnector1">
            <a:avLst/>
          </a:prstGeom>
          <a:ln xmlns:a="http://schemas.openxmlformats.org/drawingml/2006/main" w="9525">
            <a:solidFill>
              <a:srgbClr val="D0D5DD"/>
            </a:solidFill>
            <a:prstDash val="solid"/>
          </a:ln>
        </p:spPr>
      </p:cxnSp>
      <p:sp>
        <p:nvSpPr>
          <p:cNvPr id="4" name="">
            <a:extLst xmlns:a="http://schemas.openxmlformats.org/drawingml/2006/main">
              <a:ext uri="{FF2B5EF4-FFF2-40B4-BE49-F238E27FC236}">
                <a16:creationId xmlns:a16="http://schemas.microsoft.com/office/drawing/2014/main" id="{1A032D4E-F29C-4323-935C-8E85CB0C4571}"/>
              </a:ext>
            </a:extLst>
          </p:cNvPr>
          <p:cNvSpPr>
            <a:spLocks xmlns:a="http://schemas.openxmlformats.org/drawingml/2006/main" noGrp="1"/>
          </p:cNvSpPr>
          <p:nvPr/>
        </p:nvSpPr>
        <p:spPr>
          <a:xfrm xmlns:a="http://schemas.openxmlformats.org/drawingml/2006/main">
            <a:off x="457200" y="651510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00" b="1">
                <a:solidFill>
                  <a:srgbClr val="667085"/>
                </a:solidFill>
                <a:latin typeface="Arial"/>
                <a:ea typeface="Arial"/>
                <a:cs typeface="Arial"/>
              </a:defRPr>
            </a:pPr>
            <a:r>
              <a:rPr sz="900" b="1">
                <a:solidFill>
                  <a:srgbClr val="667085"/>
                </a:solidFill>
                <a:latin typeface="Arial"/>
                <a:ea typeface="Arial"/>
                <a:cs typeface="Arial"/>
              </a:rPr>
              <a:t>KNTSF</a:t>
            </a:r>
          </a:p>
        </p:txBody>
      </p:sp>
      <p:sp>
        <p:nvSpPr>
          <p:cNvPr id="5" name="">
            <a:extLst xmlns:a="http://schemas.openxmlformats.org/drawingml/2006/main">
              <a:ext uri="{FF2B5EF4-FFF2-40B4-BE49-F238E27FC236}">
                <a16:creationId xmlns:a16="http://schemas.microsoft.com/office/drawing/2014/main" id="{E015DAE4-62A3-44C0-826F-60A5C88339B6}"/>
              </a:ext>
            </a:extLst>
          </p:cNvPr>
          <p:cNvSpPr>
            <a:spLocks xmlns:a="http://schemas.openxmlformats.org/drawingml/2006/main" noGrp="1"/>
          </p:cNvSpPr>
          <p:nvPr/>
        </p:nvSpPr>
        <p:spPr>
          <a:xfrm xmlns:a="http://schemas.openxmlformats.org/drawingml/2006/main">
            <a:off x="10763250" y="6515100"/>
            <a:ext cx="4953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00" b="0">
                <a:solidFill>
                  <a:srgbClr val="667085"/>
                </a:solidFill>
                <a:latin typeface="Arial"/>
                <a:ea typeface="Arial"/>
                <a:cs typeface="Arial"/>
              </a:defRPr>
            </a:pPr>
            <a:r>
              <a:rPr sz="900" b="0">
                <a:solidFill>
                  <a:srgbClr val="667085"/>
                </a:solidFill>
                <a:latin typeface="Arial"/>
                <a:ea typeface="Arial"/>
                <a:cs typeface="Arial"/>
              </a:rPr>
              <a:t>12</a:t>
            </a:r>
          </a:p>
        </p:txBody>
      </p:sp>
      <p:sp>
        <p:nvSpPr>
          <p:cNvPr id="6" name="">
            <a:extLst xmlns:a="http://schemas.openxmlformats.org/drawingml/2006/main">
              <a:ext uri="{FF2B5EF4-FFF2-40B4-BE49-F238E27FC236}">
                <a16:creationId xmlns:a16="http://schemas.microsoft.com/office/drawing/2014/main" id="{0A006EDD-4026-4E91-A03C-81AFD12A40D5}"/>
              </a:ext>
            </a:extLst>
          </p:cNvPr>
          <p:cNvSpPr>
            <a:spLocks xmlns:a="http://schemas.openxmlformats.org/drawingml/2006/main" noGrp="1"/>
          </p:cNvSpPr>
          <p:nvPr/>
        </p:nvSpPr>
        <p:spPr>
          <a:xfrm xmlns:a="http://schemas.openxmlformats.org/drawingml/2006/main">
            <a:off x="457200" y="1390650"/>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667085"/>
                </a:solidFill>
                <a:latin typeface="Arial"/>
                <a:ea typeface="Arial"/>
                <a:cs typeface="Arial"/>
              </a:defRPr>
            </a:pPr>
            <a:r>
              <a:rPr sz="1575" b="0">
                <a:solidFill>
                  <a:srgbClr val="667085"/>
                </a:solidFill>
                <a:latin typeface="Arial"/>
                <a:ea typeface="Arial"/>
                <a:cs typeface="Arial"/>
              </a:rPr>
              <a:t>Student 26100001  •  permit ending 0259  •  active status</a:t>
            </a:r>
          </a:p>
        </p:txBody>
      </p:sp>
      <p:sp>
        <p:nvSpPr>
          <p:cNvPr id="7" name="">
            <a:extLst xmlns:a="http://schemas.openxmlformats.org/drawingml/2006/main">
              <a:ext uri="{FF2B5EF4-FFF2-40B4-BE49-F238E27FC236}">
                <a16:creationId xmlns:a16="http://schemas.microsoft.com/office/drawing/2014/main" id="{311F6236-9624-404F-AA34-6FEB788511B4}"/>
              </a:ext>
            </a:extLst>
          </p:cNvPr>
          <p:cNvSpPr>
            <a:spLocks xmlns:a="http://schemas.openxmlformats.org/drawingml/2006/main" noGrp="1"/>
          </p:cNvSpPr>
          <p:nvPr/>
        </p:nvSpPr>
        <p:spPr>
          <a:xfrm xmlns:a="http://schemas.openxmlformats.org/drawingml/2006/main">
            <a:off x="457200" y="1962150"/>
            <a:ext cx="4000500" cy="3048000"/>
          </a:xfrm>
          <a:prstGeom xmlns:a="http://schemas.openxmlformats.org/drawingml/2006/main" prst="roundRect">
            <a:avLst>
              <a:gd name="adj" fmla="val 4375"/>
            </a:avLst>
          </a:prstGeom>
          <a:solidFill xmlns:a="http://schemas.openxmlformats.org/drawingml/2006/main">
            <a:srgbClr val="FFFFFF"/>
          </a:solidFill>
          <a:ln xmlns:a="http://schemas.openxmlformats.org/drawingml/2006/main" w="9525">
            <a:solidFill>
              <a:srgbClr val="D0D5DD"/>
            </a:solidFill>
            <a:prstDash val="solid"/>
          </a:ln>
        </p:spPr>
      </p:sp>
      <p:sp>
        <p:nvSpPr>
          <p:cNvPr id="8" name="">
            <a:extLst xmlns:a="http://schemas.openxmlformats.org/drawingml/2006/main">
              <a:ext uri="{FF2B5EF4-FFF2-40B4-BE49-F238E27FC236}">
                <a16:creationId xmlns:a16="http://schemas.microsoft.com/office/drawing/2014/main" id="{72CDB9C1-3F14-4354-975E-A5FC01E93BE6}"/>
              </a:ext>
            </a:extLst>
          </p:cNvPr>
          <p:cNvSpPr>
            <a:spLocks xmlns:a="http://schemas.openxmlformats.org/drawingml/2006/main" noGrp="1"/>
          </p:cNvSpPr>
          <p:nvPr/>
        </p:nvSpPr>
        <p:spPr>
          <a:xfrm xmlns:a="http://schemas.openxmlformats.org/drawingml/2006/main">
            <a:off x="4857750" y="1962150"/>
            <a:ext cx="2857500" cy="304800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D0D5DD"/>
            </a:solidFill>
            <a:prstDash val="solid"/>
          </a:ln>
        </p:spPr>
      </p:sp>
      <p:sp>
        <p:nvSpPr>
          <p:cNvPr id="9" name="">
            <a:extLst xmlns:a="http://schemas.openxmlformats.org/drawingml/2006/main">
              <a:ext uri="{FF2B5EF4-FFF2-40B4-BE49-F238E27FC236}">
                <a16:creationId xmlns:a16="http://schemas.microsoft.com/office/drawing/2014/main" id="{AB4F1B43-6EF7-4F18-A0D2-520D1C1E8439}"/>
              </a:ext>
            </a:extLst>
          </p:cNvPr>
          <p:cNvSpPr>
            <a:spLocks xmlns:a="http://schemas.openxmlformats.org/drawingml/2006/main" noGrp="1"/>
          </p:cNvSpPr>
          <p:nvPr/>
        </p:nvSpPr>
        <p:spPr>
          <a:xfrm xmlns:a="http://schemas.openxmlformats.org/drawingml/2006/main">
            <a:off x="8115300" y="1962150"/>
            <a:ext cx="2857500" cy="3048000"/>
          </a:xfrm>
          <a:prstGeom xmlns:a="http://schemas.openxmlformats.org/drawingml/2006/main" prst="roundRect">
            <a:avLst>
              <a:gd name="adj" fmla="val 4667"/>
            </a:avLst>
          </a:prstGeom>
          <a:solidFill xmlns:a="http://schemas.openxmlformats.org/drawingml/2006/main">
            <a:srgbClr val="FFFFFF"/>
          </a:solidFill>
          <a:ln xmlns:a="http://schemas.openxmlformats.org/drawingml/2006/main" w="9525">
            <a:solidFill>
              <a:srgbClr val="D0D5DD"/>
            </a:solidFill>
            <a:prstDash val="solid"/>
          </a:ln>
        </p:spPr>
      </p:sp>
      <p:sp>
        <p:nvSpPr>
          <p:cNvPr id="10" name="">
            <a:extLst xmlns:a="http://schemas.openxmlformats.org/drawingml/2006/main">
              <a:ext uri="{FF2B5EF4-FFF2-40B4-BE49-F238E27FC236}">
                <a16:creationId xmlns:a16="http://schemas.microsoft.com/office/drawing/2014/main" id="{4D8D7EB5-008E-4DCB-95CF-4F8A8DC6EC88}"/>
              </a:ext>
            </a:extLst>
          </p:cNvPr>
          <p:cNvSpPr>
            <a:spLocks xmlns:a="http://schemas.openxmlformats.org/drawingml/2006/main" noGrp="1"/>
          </p:cNvSpPr>
          <p:nvPr/>
        </p:nvSpPr>
        <p:spPr>
          <a:xfrm xmlns:a="http://schemas.openxmlformats.org/drawingml/2006/main">
            <a:off x="685800" y="2095500"/>
            <a:ext cx="3543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6C5CE7"/>
                </a:solidFill>
                <a:latin typeface="Arial"/>
                <a:ea typeface="Arial"/>
                <a:cs typeface="Arial"/>
              </a:defRPr>
            </a:pPr>
            <a:r>
              <a:rPr sz="1575" b="1">
                <a:solidFill>
                  <a:srgbClr val="6C5CE7"/>
                </a:solidFill>
                <a:latin typeface="Arial"/>
                <a:ea typeface="Arial"/>
                <a:cs typeface="Arial"/>
              </a:rPr>
              <a:t>Administrator</a:t>
            </a:r>
          </a:p>
        </p:txBody>
      </p:sp>
      <p:sp>
        <p:nvSpPr>
          <p:cNvPr id="11" name="">
            <a:extLst xmlns:a="http://schemas.openxmlformats.org/drawingml/2006/main">
              <a:ext uri="{FF2B5EF4-FFF2-40B4-BE49-F238E27FC236}">
                <a16:creationId xmlns:a16="http://schemas.microsoft.com/office/drawing/2014/main" id="{7A8A4A32-EF96-4255-B3FA-E5103CBA8DDA}"/>
              </a:ext>
            </a:extLst>
          </p:cNvPr>
          <p:cNvSpPr>
            <a:spLocks xmlns:a="http://schemas.openxmlformats.org/drawingml/2006/main" noGrp="1"/>
          </p:cNvSpPr>
          <p:nvPr/>
        </p:nvSpPr>
        <p:spPr>
          <a:xfrm xmlns:a="http://schemas.openxmlformats.org/drawingml/2006/main">
            <a:off x="5086350" y="209550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6C5CE7"/>
                </a:solidFill>
                <a:latin typeface="Arial"/>
                <a:ea typeface="Arial"/>
                <a:cs typeface="Arial"/>
              </a:defRPr>
            </a:pPr>
            <a:r>
              <a:rPr sz="1575" b="1">
                <a:solidFill>
                  <a:srgbClr val="6C5CE7"/>
                </a:solidFill>
                <a:latin typeface="Arial"/>
                <a:ea typeface="Arial"/>
                <a:cs typeface="Arial"/>
              </a:rPr>
              <a:t>Student</a:t>
            </a:r>
          </a:p>
        </p:txBody>
      </p:sp>
      <p:sp>
        <p:nvSpPr>
          <p:cNvPr id="12" name="">
            <a:extLst xmlns:a="http://schemas.openxmlformats.org/drawingml/2006/main">
              <a:ext uri="{FF2B5EF4-FFF2-40B4-BE49-F238E27FC236}">
                <a16:creationId xmlns:a16="http://schemas.microsoft.com/office/drawing/2014/main" id="{4B4C12C7-6A76-4F89-B372-B0D3A3541F99}"/>
              </a:ext>
            </a:extLst>
          </p:cNvPr>
          <p:cNvSpPr>
            <a:spLocks xmlns:a="http://schemas.openxmlformats.org/drawingml/2006/main" noGrp="1"/>
          </p:cNvSpPr>
          <p:nvPr/>
        </p:nvSpPr>
        <p:spPr>
          <a:xfrm xmlns:a="http://schemas.openxmlformats.org/drawingml/2006/main">
            <a:off x="8343900" y="2095500"/>
            <a:ext cx="2400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087A5B"/>
                </a:solidFill>
                <a:latin typeface="Arial"/>
                <a:ea typeface="Arial"/>
                <a:cs typeface="Arial"/>
              </a:defRPr>
            </a:pPr>
            <a:r>
              <a:rPr sz="1575" b="1">
                <a:solidFill>
                  <a:srgbClr val="087A5B"/>
                </a:solidFill>
                <a:latin typeface="Arial"/>
                <a:ea typeface="Arial"/>
                <a:cs typeface="Arial"/>
              </a:rPr>
              <a:t>Staff verification</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75be45fc33004ef5"/>
          <a:stretch xmlns:a="http://schemas.openxmlformats.org/drawingml/2006/main"/>
        </p:blipFill>
        <p:spPr>
          <a:xfrm xmlns:a="http://schemas.openxmlformats.org/drawingml/2006/main">
            <a:off x="628650" y="2533650"/>
            <a:ext cx="3657600" cy="2057400"/>
          </a:xfrm>
          <a:prstGeom xmlns:a="http://schemas.openxmlformats.org/drawingml/2006/main" prst="rect">
            <a:avLst/>
          </a:prstGeom>
        </p:spPr>
      </p:pic>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b35e1e84d133464a"/>
          <a:srcRect xmlns:a="http://schemas.openxmlformats.org/drawingml/2006/main" l="30650" t="0" r="30650" b="0"/>
          <a:stretch xmlns:a="http://schemas.openxmlformats.org/drawingml/2006/main">
            <a:fillRect l="0" t="0" r="0" b="0"/>
          </a:stretch>
        </p:blipFill>
        <p:spPr>
          <a:xfrm xmlns:a="http://schemas.openxmlformats.org/drawingml/2006/main">
            <a:off x="5467350" y="2457450"/>
            <a:ext cx="1638300" cy="2381250"/>
          </a:xfrm>
          <a:prstGeom xmlns:a="http://schemas.openxmlformats.org/drawingml/2006/main" prst="roundRect">
            <a:avLst>
              <a:gd name="adj" fmla="val 4651"/>
            </a:avLst>
          </a:prstGeom>
        </p:spPr>
      </p:pic>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add877c753841ce"/>
          <a:srcRect xmlns:a="http://schemas.openxmlformats.org/drawingml/2006/main" l="30650" t="0" r="30650" b="0"/>
          <a:stretch xmlns:a="http://schemas.openxmlformats.org/drawingml/2006/main">
            <a:fillRect l="0" t="0" r="0" b="0"/>
          </a:stretch>
        </p:blipFill>
        <p:spPr>
          <a:xfrm xmlns:a="http://schemas.openxmlformats.org/drawingml/2006/main">
            <a:off x="8724900" y="2457450"/>
            <a:ext cx="1638300" cy="2381250"/>
          </a:xfrm>
          <a:prstGeom xmlns:a="http://schemas.openxmlformats.org/drawingml/2006/main" prst="roundRect">
            <a:avLst>
              <a:gd name="adj" fmla="val 4651"/>
            </a:avLst>
          </a:prstGeom>
        </p:spPr>
      </p:pic>
      <p:sp>
        <p:nvSpPr>
          <p:cNvPr id="16" name="">
            <a:extLst xmlns:a="http://schemas.openxmlformats.org/drawingml/2006/main">
              <a:ext uri="{FF2B5EF4-FFF2-40B4-BE49-F238E27FC236}">
                <a16:creationId xmlns:a16="http://schemas.microsoft.com/office/drawing/2014/main" id="{95F73CA2-0D70-4118-BD89-A282A6EBC1FF}"/>
              </a:ext>
            </a:extLst>
          </p:cNvPr>
          <p:cNvSpPr>
            <a:spLocks xmlns:a="http://schemas.openxmlformats.org/drawingml/2006/main" noGrp="1"/>
          </p:cNvSpPr>
          <p:nvPr/>
        </p:nvSpPr>
        <p:spPr>
          <a:xfrm xmlns:a="http://schemas.openxmlformats.org/drawingml/2006/main">
            <a:off x="4476750" y="31908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00" b="1">
                <a:solidFill>
                  <a:srgbClr val="6C5CE7"/>
                </a:solidFill>
                <a:latin typeface="Arial"/>
                <a:ea typeface="Arial"/>
                <a:cs typeface="Arial"/>
              </a:defRPr>
            </a:pPr>
            <a:r>
              <a:rPr sz="2700" b="1">
                <a:solidFill>
                  <a:srgbClr val="6C5CE7"/>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ED7741BC-1BBE-439E-84DE-98938A632EC1}"/>
              </a:ext>
            </a:extLst>
          </p:cNvPr>
          <p:cNvSpPr>
            <a:spLocks xmlns:a="http://schemas.openxmlformats.org/drawingml/2006/main" noGrp="1"/>
          </p:cNvSpPr>
          <p:nvPr/>
        </p:nvSpPr>
        <p:spPr>
          <a:xfrm xmlns:a="http://schemas.openxmlformats.org/drawingml/2006/main">
            <a:off x="7734300" y="3190875"/>
            <a:ext cx="3619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00" b="1">
                <a:solidFill>
                  <a:srgbClr val="6C5CE7"/>
                </a:solidFill>
                <a:latin typeface="Arial"/>
                <a:ea typeface="Arial"/>
                <a:cs typeface="Arial"/>
              </a:defRPr>
            </a:pPr>
            <a:r>
              <a:rPr sz="2700" b="1">
                <a:solidFill>
                  <a:srgbClr val="6C5CE7"/>
                </a:solidFill>
                <a:latin typeface="Arial"/>
                <a:ea typeface="Arial"/>
                <a:cs typeface="Arial"/>
              </a:rPr>
              <a:t>→</a:t>
            </a:r>
          </a:p>
        </p:txBody>
      </p:sp>
      <p:sp>
        <p:nvSpPr>
          <p:cNvPr id="18" name="">
            <a:extLst xmlns:a="http://schemas.openxmlformats.org/drawingml/2006/main">
              <a:ext uri="{FF2B5EF4-FFF2-40B4-BE49-F238E27FC236}">
                <a16:creationId xmlns:a16="http://schemas.microsoft.com/office/drawing/2014/main" id="{CA3DFD2B-3D20-4173-A135-DF5F97C17B0E}"/>
              </a:ext>
            </a:extLst>
          </p:cNvPr>
          <p:cNvSpPr>
            <a:spLocks xmlns:a="http://schemas.openxmlformats.org/drawingml/2006/main" noGrp="1"/>
          </p:cNvSpPr>
          <p:nvPr/>
        </p:nvSpPr>
        <p:spPr>
          <a:xfrm xmlns:a="http://schemas.openxmlformats.org/drawingml/2006/main">
            <a:off x="457200" y="5353050"/>
            <a:ext cx="10515600" cy="723900"/>
          </a:xfrm>
          <a:prstGeom xmlns:a="http://schemas.openxmlformats.org/drawingml/2006/main" prst="roundRect">
            <a:avLst>
              <a:gd name="adj" fmla="val 13158"/>
            </a:avLst>
          </a:prstGeom>
          <a:solidFill xmlns:a="http://schemas.openxmlformats.org/drawingml/2006/main">
            <a:srgbClr val="EEEAFE"/>
          </a:solidFill>
          <a:ln xmlns:a="http://schemas.openxmlformats.org/drawingml/2006/main" w="0">
            <a:solidFill>
              <a:srgbClr val="EEEAFE"/>
            </a:solidFill>
            <a:prstDash val="solid"/>
          </a:ln>
        </p:spPr>
      </p:sp>
      <p:sp>
        <p:nvSpPr>
          <p:cNvPr id="19" name="">
            <a:extLst xmlns:a="http://schemas.openxmlformats.org/drawingml/2006/main">
              <a:ext uri="{FF2B5EF4-FFF2-40B4-BE49-F238E27FC236}">
                <a16:creationId xmlns:a16="http://schemas.microsoft.com/office/drawing/2014/main" id="{A3C2128E-5830-4156-AD88-B7D76B137861}"/>
              </a:ext>
            </a:extLst>
          </p:cNvPr>
          <p:cNvSpPr>
            <a:spLocks xmlns:a="http://schemas.openxmlformats.org/drawingml/2006/main" noGrp="1"/>
          </p:cNvSpPr>
          <p:nvPr/>
        </p:nvSpPr>
        <p:spPr>
          <a:xfrm xmlns:a="http://schemas.openxmlformats.org/drawingml/2006/main">
            <a:off x="685800" y="5543550"/>
            <a:ext cx="2781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6C5CE7"/>
                </a:solidFill>
                <a:latin typeface="Arial"/>
                <a:ea typeface="Arial"/>
                <a:cs typeface="Arial"/>
              </a:defRPr>
            </a:pPr>
            <a:r>
              <a:rPr sz="1350" b="1">
                <a:solidFill>
                  <a:srgbClr val="6C5CE7"/>
                </a:solidFill>
                <a:latin typeface="Arial"/>
                <a:ea typeface="Arial"/>
                <a:cs typeface="Arial"/>
              </a:rPr>
              <a:t>What the demonstration proves</a:t>
            </a:r>
          </a:p>
        </p:txBody>
      </p:sp>
      <p:sp>
        <p:nvSpPr>
          <p:cNvPr id="20" name="">
            <a:extLst xmlns:a="http://schemas.openxmlformats.org/drawingml/2006/main">
              <a:ext uri="{FF2B5EF4-FFF2-40B4-BE49-F238E27FC236}">
                <a16:creationId xmlns:a16="http://schemas.microsoft.com/office/drawing/2014/main" id="{020137E6-EF00-4ECB-B374-926520897539}"/>
              </a:ext>
            </a:extLst>
          </p:cNvPr>
          <p:cNvSpPr>
            <a:spLocks xmlns:a="http://schemas.openxmlformats.org/drawingml/2006/main" noGrp="1"/>
          </p:cNvSpPr>
          <p:nvPr/>
        </p:nvSpPr>
        <p:spPr>
          <a:xfrm xmlns:a="http://schemas.openxmlformats.org/drawingml/2006/main">
            <a:off x="3638550" y="5486400"/>
            <a:ext cx="704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105"/>
          </a:bodyPr>
          <a:lstStyle xmlns:a="http://schemas.openxmlformats.org/drawingml/2006/main"/>
          <a:p xmlns:a="http://schemas.openxmlformats.org/drawingml/2006/main">
            <a:pPr algn="l">
              <a:defRPr sz="1425" b="1">
                <a:solidFill>
                  <a:srgbClr val="101828"/>
                </a:solidFill>
                <a:latin typeface="Arial"/>
                <a:ea typeface="Arial"/>
                <a:cs typeface="Arial"/>
              </a:defRPr>
            </a:pPr>
            <a:r>
              <a:rPr sz="1425" b="1">
                <a:solidFill>
                  <a:srgbClr val="101828"/>
                </a:solidFill>
                <a:latin typeface="Arial"/>
                <a:ea typeface="Arial"/>
                <a:cs typeface="Arial"/>
              </a:rPr>
              <a:t>The website, student app, and authorized staff workflow return the same backend-controlled record.</a:t>
            </a:r>
          </a:p>
        </p:txBody>
      </p:sp>
    </p:spTree>
    <p:extLst>
      <p:ext uri="{BB962C8B-B14F-4D97-AF65-F5344CB8AC3E}">
        <p14:creationId xmlns:p14="http://schemas.microsoft.com/office/powerpoint/2010/main" val="1495625027"/>
      </p:ext>
    </p:extLst>
  </p:cSld>
</p:sld>
</file>

<file path=ppt/slides/slide13.xml><?xml version="1.0" encoding="utf-8"?>
<p:sld xmlns:p="http://schemas.openxmlformats.org/presentationml/2006/main">
  <p:cSld>
    <p:bg>
      <p:bgPr>
        <a:solidFill xmlns:a="http://schemas.openxmlformats.org/drawingml/2006/main">
          <a:srgbClr val="11182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3F9518B-2652-409E-959E-C10F983E46CB}"/>
              </a:ext>
            </a:extLst>
          </p:cNvPr>
          <p:cNvSpPr>
            <a:spLocks xmlns:a="http://schemas.openxmlformats.org/drawingml/2006/main" noGrp="1"/>
          </p:cNvSpPr>
          <p:nvPr/>
        </p:nvSpPr>
        <p:spPr>
          <a:xfrm xmlns:a="http://schemas.openxmlformats.org/drawingml/2006/main">
            <a:off x="552450" y="4572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a:solidFill>
                  <a:srgbClr val="C4B5FD"/>
                </a:solidFill>
                <a:latin typeface="Arial"/>
                <a:ea typeface="Arial"/>
                <a:cs typeface="Arial"/>
              </a:defRPr>
            </a:pPr>
            <a:r>
              <a:rPr sz="1050" b="1">
                <a:solidFill>
                  <a:srgbClr val="C4B5FD"/>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9D801EC2-B3D4-42D5-A588-54F8DB5E121F}"/>
              </a:ext>
            </a:extLst>
          </p:cNvPr>
          <p:cNvSpPr>
            <a:spLocks xmlns:a="http://schemas.openxmlformats.org/drawingml/2006/main" noGrp="1"/>
          </p:cNvSpPr>
          <p:nvPr/>
        </p:nvSpPr>
        <p:spPr>
          <a:xfrm xmlns:a="http://schemas.openxmlformats.org/drawingml/2006/main">
            <a:off x="552450" y="1009650"/>
            <a:ext cx="9620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79"/>
          </a:bodyPr>
          <a:lstStyle xmlns:a="http://schemas.openxmlformats.org/drawingml/2006/main"/>
          <a:p xmlns:a="http://schemas.openxmlformats.org/drawingml/2006/main">
            <a:pPr algn="l">
              <a:lnSpc>
                <a:spcPct val="96000"/>
              </a:lnSpc>
              <a:buNone/>
              <a:defRPr sz="4350" b="1">
                <a:solidFill>
                  <a:srgbClr val="FFFFFF"/>
                </a:solidFill>
                <a:latin typeface="Arial"/>
                <a:ea typeface="Arial"/>
                <a:cs typeface="Arial"/>
              </a:defRPr>
            </a:pPr>
            <a:r>
              <a:rPr sz="4350" b="1">
                <a:solidFill>
                  <a:srgbClr val="FFFFFF"/>
                </a:solidFill>
                <a:latin typeface="Arial"/>
                <a:ea typeface="Arial"/>
                <a:cs typeface="Arial"/>
              </a:rPr>
              <a:t>One accountable system replaces fragmented decisions</a:t>
            </a:r>
          </a:p>
        </p:txBody>
      </p:sp>
      <p:sp>
        <p:nvSpPr>
          <p:cNvPr id="3" name="">
            <a:extLst xmlns:a="http://schemas.openxmlformats.org/drawingml/2006/main">
              <a:ext uri="{FF2B5EF4-FFF2-40B4-BE49-F238E27FC236}">
                <a16:creationId xmlns:a16="http://schemas.microsoft.com/office/drawing/2014/main" id="{C8964E10-68BC-4A3B-9AAD-A436294C5329}"/>
              </a:ext>
            </a:extLst>
          </p:cNvPr>
          <p:cNvSpPr>
            <a:spLocks xmlns:a="http://schemas.openxmlformats.org/drawingml/2006/main" noGrp="1"/>
          </p:cNvSpPr>
          <p:nvPr/>
        </p:nvSpPr>
        <p:spPr>
          <a:xfrm xmlns:a="http://schemas.openxmlformats.org/drawingml/2006/main">
            <a:off x="552450" y="27241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D0D5DD"/>
                </a:solidFill>
                <a:latin typeface="Arial"/>
                <a:ea typeface="Arial"/>
                <a:cs typeface="Arial"/>
              </a:defRPr>
            </a:pPr>
            <a:r>
              <a:rPr sz="1725" b="0">
                <a:solidFill>
                  <a:srgbClr val="D0D5DD"/>
                </a:solidFill>
                <a:latin typeface="Arial"/>
                <a:ea typeface="Arial"/>
                <a:cs typeface="Arial"/>
              </a:rPr>
              <a:t>The project connects:</a:t>
            </a:r>
          </a:p>
        </p:txBody>
      </p:sp>
      <p:sp>
        <p:nvSpPr>
          <p:cNvPr id="4" name="">
            <a:extLst xmlns:a="http://schemas.openxmlformats.org/drawingml/2006/main">
              <a:ext uri="{FF2B5EF4-FFF2-40B4-BE49-F238E27FC236}">
                <a16:creationId xmlns:a16="http://schemas.microsoft.com/office/drawing/2014/main" id="{F2FE5A66-C0D5-421E-93E3-EFF5E467D2E7}"/>
              </a:ext>
            </a:extLst>
          </p:cNvPr>
          <p:cNvSpPr>
            <a:spLocks xmlns:a="http://schemas.openxmlformats.org/drawingml/2006/main" noGrp="1"/>
          </p:cNvSpPr>
          <p:nvPr/>
        </p:nvSpPr>
        <p:spPr>
          <a:xfrm xmlns:a="http://schemas.openxmlformats.org/drawingml/2006/main">
            <a:off x="571500" y="3381375"/>
            <a:ext cx="171450" cy="171450"/>
          </a:xfrm>
          <a:prstGeom xmlns:a="http://schemas.openxmlformats.org/drawingml/2006/main" prst="ellipse">
            <a:avLst/>
          </a:prstGeom>
          <a:solidFill xmlns:a="http://schemas.openxmlformats.org/drawingml/2006/main">
            <a:srgbClr val="6C5CE7"/>
          </a:solidFill>
          <a:ln xmlns:a="http://schemas.openxmlformats.org/drawingml/2006/main" w="0">
            <a:solidFill>
              <a:srgbClr val="6C5CE7"/>
            </a:solidFill>
            <a:prstDash val="solid"/>
          </a:ln>
        </p:spPr>
      </p:sp>
      <p:sp>
        <p:nvSpPr>
          <p:cNvPr id="5" name="">
            <a:extLst xmlns:a="http://schemas.openxmlformats.org/drawingml/2006/main">
              <a:ext uri="{FF2B5EF4-FFF2-40B4-BE49-F238E27FC236}">
                <a16:creationId xmlns:a16="http://schemas.microsoft.com/office/drawing/2014/main" id="{5E29AE99-A6FC-486B-8803-6C810737F627}"/>
              </a:ext>
            </a:extLst>
          </p:cNvPr>
          <p:cNvSpPr>
            <a:spLocks xmlns:a="http://schemas.openxmlformats.org/drawingml/2006/main" noGrp="1"/>
          </p:cNvSpPr>
          <p:nvPr/>
        </p:nvSpPr>
        <p:spPr>
          <a:xfrm xmlns:a="http://schemas.openxmlformats.org/drawingml/2006/main">
            <a:off x="990600" y="333375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a shared backend across web and mobile</a:t>
            </a:r>
          </a:p>
        </p:txBody>
      </p:sp>
      <p:sp>
        <p:nvSpPr>
          <p:cNvPr id="6" name="">
            <a:extLst xmlns:a="http://schemas.openxmlformats.org/drawingml/2006/main">
              <a:ext uri="{FF2B5EF4-FFF2-40B4-BE49-F238E27FC236}">
                <a16:creationId xmlns:a16="http://schemas.microsoft.com/office/drawing/2014/main" id="{26F1D1DF-FDB6-4230-820A-2DA45898E9C6}"/>
              </a:ext>
            </a:extLst>
          </p:cNvPr>
          <p:cNvSpPr>
            <a:spLocks xmlns:a="http://schemas.openxmlformats.org/drawingml/2006/main" noGrp="1"/>
          </p:cNvSpPr>
          <p:nvPr/>
        </p:nvSpPr>
        <p:spPr>
          <a:xfrm xmlns:a="http://schemas.openxmlformats.org/drawingml/2006/main">
            <a:off x="571500" y="4067175"/>
            <a:ext cx="171450" cy="171450"/>
          </a:xfrm>
          <a:prstGeom xmlns:a="http://schemas.openxmlformats.org/drawingml/2006/main" prst="ellipse">
            <a:avLst/>
          </a:prstGeom>
          <a:solidFill xmlns:a="http://schemas.openxmlformats.org/drawingml/2006/main">
            <a:srgbClr val="6C5CE7"/>
          </a:solidFill>
          <a:ln xmlns:a="http://schemas.openxmlformats.org/drawingml/2006/main" w="0">
            <a:solidFill>
              <a:srgbClr val="6C5CE7"/>
            </a:solidFill>
            <a:prstDash val="solid"/>
          </a:ln>
        </p:spPr>
      </p:sp>
      <p:sp>
        <p:nvSpPr>
          <p:cNvPr id="7" name="">
            <a:extLst xmlns:a="http://schemas.openxmlformats.org/drawingml/2006/main">
              <a:ext uri="{FF2B5EF4-FFF2-40B4-BE49-F238E27FC236}">
                <a16:creationId xmlns:a16="http://schemas.microsoft.com/office/drawing/2014/main" id="{7A18577C-6982-4506-AB45-868E4E95AA87}"/>
              </a:ext>
            </a:extLst>
          </p:cNvPr>
          <p:cNvSpPr>
            <a:spLocks xmlns:a="http://schemas.openxmlformats.org/drawingml/2006/main" noGrp="1"/>
          </p:cNvSpPr>
          <p:nvPr/>
        </p:nvSpPr>
        <p:spPr>
          <a:xfrm xmlns:a="http://schemas.openxmlformats.org/drawingml/2006/main">
            <a:off x="990600" y="401955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verified payment before permit issuance</a:t>
            </a:r>
          </a:p>
        </p:txBody>
      </p:sp>
      <p:sp>
        <p:nvSpPr>
          <p:cNvPr id="8" name="">
            <a:extLst xmlns:a="http://schemas.openxmlformats.org/drawingml/2006/main">
              <a:ext uri="{FF2B5EF4-FFF2-40B4-BE49-F238E27FC236}">
                <a16:creationId xmlns:a16="http://schemas.microsoft.com/office/drawing/2014/main" id="{B6F5484B-F144-406E-92AF-1559C6F5D1C3}"/>
              </a:ext>
            </a:extLst>
          </p:cNvPr>
          <p:cNvSpPr>
            <a:spLocks xmlns:a="http://schemas.openxmlformats.org/drawingml/2006/main" noGrp="1"/>
          </p:cNvSpPr>
          <p:nvPr/>
        </p:nvSpPr>
        <p:spPr>
          <a:xfrm xmlns:a="http://schemas.openxmlformats.org/drawingml/2006/main">
            <a:off x="571500" y="4752975"/>
            <a:ext cx="171450" cy="171450"/>
          </a:xfrm>
          <a:prstGeom xmlns:a="http://schemas.openxmlformats.org/drawingml/2006/main" prst="ellipse">
            <a:avLst/>
          </a:prstGeom>
          <a:solidFill xmlns:a="http://schemas.openxmlformats.org/drawingml/2006/main">
            <a:srgbClr val="087A5B"/>
          </a:solidFill>
          <a:ln xmlns:a="http://schemas.openxmlformats.org/drawingml/2006/main" w="0">
            <a:solidFill>
              <a:srgbClr val="087A5B"/>
            </a:solidFill>
            <a:prstDash val="solid"/>
          </a:ln>
        </p:spPr>
      </p:sp>
      <p:sp>
        <p:nvSpPr>
          <p:cNvPr id="9" name="">
            <a:extLst xmlns:a="http://schemas.openxmlformats.org/drawingml/2006/main">
              <a:ext uri="{FF2B5EF4-FFF2-40B4-BE49-F238E27FC236}">
                <a16:creationId xmlns:a16="http://schemas.microsoft.com/office/drawing/2014/main" id="{89279223-8D13-4EC9-8129-3414D5B0AA30}"/>
              </a:ext>
            </a:extLst>
          </p:cNvPr>
          <p:cNvSpPr>
            <a:spLocks xmlns:a="http://schemas.openxmlformats.org/drawingml/2006/main" noGrp="1"/>
          </p:cNvSpPr>
          <p:nvPr/>
        </p:nvSpPr>
        <p:spPr>
          <a:xfrm xmlns:a="http://schemas.openxmlformats.org/drawingml/2006/main">
            <a:off x="990600" y="4705350"/>
            <a:ext cx="809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backend-controlled verification with an honest phased rollout</a:t>
            </a:r>
          </a:p>
        </p:txBody>
      </p:sp>
      <p:sp>
        <p:nvSpPr>
          <p:cNvPr id="10" name="">
            <a:extLst xmlns:a="http://schemas.openxmlformats.org/drawingml/2006/main">
              <a:ext uri="{FF2B5EF4-FFF2-40B4-BE49-F238E27FC236}">
                <a16:creationId xmlns:a16="http://schemas.microsoft.com/office/drawing/2014/main" id="{8AC6E59E-3977-450A-8179-219AF77FD2B5}"/>
              </a:ext>
            </a:extLst>
          </p:cNvPr>
          <p:cNvSpPr>
            <a:spLocks xmlns:a="http://schemas.openxmlformats.org/drawingml/2006/main" noGrp="1"/>
          </p:cNvSpPr>
          <p:nvPr/>
        </p:nvSpPr>
        <p:spPr>
          <a:xfrm xmlns:a="http://schemas.openxmlformats.org/drawingml/2006/main">
            <a:off x="9124950" y="4495800"/>
            <a:ext cx="2381250" cy="1143000"/>
          </a:xfrm>
          <a:prstGeom xmlns:a="http://schemas.openxmlformats.org/drawingml/2006/main" prst="roundRect">
            <a:avLst>
              <a:gd name="adj" fmla="val 11667"/>
            </a:avLst>
          </a:prstGeom>
          <a:solidFill xmlns:a="http://schemas.openxmlformats.org/drawingml/2006/main">
            <a:srgbClr val="FFFFFF"/>
          </a:solidFill>
          <a:ln xmlns:a="http://schemas.openxmlformats.org/drawingml/2006/main" w="0">
            <a:solidFill>
              <a:srgbClr val="FFFFFF"/>
            </a:solidFill>
            <a:prstDash val="solid"/>
          </a:ln>
        </p:spPr>
      </p:sp>
      <p:sp>
        <p:nvSpPr>
          <p:cNvPr id="11" name="">
            <a:extLst xmlns:a="http://schemas.openxmlformats.org/drawingml/2006/main">
              <a:ext uri="{FF2B5EF4-FFF2-40B4-BE49-F238E27FC236}">
                <a16:creationId xmlns:a16="http://schemas.microsoft.com/office/drawing/2014/main" id="{877B3212-6EA3-4996-8D8B-D0BB827214D6}"/>
              </a:ext>
            </a:extLst>
          </p:cNvPr>
          <p:cNvSpPr>
            <a:spLocks xmlns:a="http://schemas.openxmlformats.org/drawingml/2006/main" noGrp="1"/>
          </p:cNvSpPr>
          <p:nvPr/>
        </p:nvSpPr>
        <p:spPr>
          <a:xfrm xmlns:a="http://schemas.openxmlformats.org/drawingml/2006/main">
            <a:off x="9315450" y="47815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700" b="1">
                <a:solidFill>
                  <a:srgbClr val="6C5CE7"/>
                </a:solidFill>
                <a:latin typeface="Arial"/>
                <a:ea typeface="Arial"/>
                <a:cs typeface="Arial"/>
              </a:defRPr>
            </a:pPr>
            <a:r>
              <a:rPr sz="2700" b="1">
                <a:solidFill>
                  <a:srgbClr val="6C5CE7"/>
                </a:solidFill>
                <a:latin typeface="Arial"/>
                <a:ea typeface="Arial"/>
                <a:cs typeface="Arial"/>
              </a:rPr>
              <a:t>Questions</a:t>
            </a:r>
          </a:p>
        </p:txBody>
      </p:sp>
      <p:sp>
        <p:nvSpPr>
          <p:cNvPr id="12" name="">
            <a:extLst xmlns:a="http://schemas.openxmlformats.org/drawingml/2006/main">
              <a:ext uri="{FF2B5EF4-FFF2-40B4-BE49-F238E27FC236}">
                <a16:creationId xmlns:a16="http://schemas.microsoft.com/office/drawing/2014/main" id="{6E98EC48-A6CB-45D3-8CAA-E3AF7D456C90}"/>
              </a:ext>
            </a:extLst>
          </p:cNvPr>
          <p:cNvSpPr>
            <a:spLocks xmlns:a="http://schemas.openxmlformats.org/drawingml/2006/main" noGrp="1"/>
          </p:cNvSpPr>
          <p:nvPr/>
        </p:nvSpPr>
        <p:spPr>
          <a:xfrm xmlns:a="http://schemas.openxmlformats.org/drawingml/2006/main">
            <a:off x="552450" y="5848350"/>
            <a:ext cx="742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C4B5FD"/>
                </a:solidFill>
                <a:latin typeface="Arial"/>
                <a:ea typeface="Arial"/>
                <a:cs typeface="Arial"/>
              </a:defRPr>
            </a:pPr>
            <a:r>
              <a:rPr sz="1500" b="0">
                <a:solidFill>
                  <a:srgbClr val="C4B5FD"/>
                </a:solidFill>
                <a:latin typeface="Arial"/>
                <a:ea typeface="Arial"/>
                <a:cs typeface="Arial"/>
              </a:rPr>
              <a:t>Evidence supports continued, controlled institutional adoption.</a:t>
            </a:r>
          </a:p>
        </p:txBody>
      </p:sp>
    </p:spTree>
    <p:extLst>
      <p:ext uri="{BB962C8B-B14F-4D97-AF65-F5344CB8AC3E}">
        <p14:creationId xmlns:p14="http://schemas.microsoft.com/office/powerpoint/2010/main" val="3605958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2026-09-02T00:42:30.4910000Z</dcterms:created>
  <dcterms:modified xsi:type="dcterms:W3CDTF">2026-09-02T00:42:30.4910000Z</dcterms:modified>
</coreProperties>
</file>