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f269dd70334735" /><Relationship Type="http://schemas.openxmlformats.org/officeDocument/2006/relationships/extended-properties" Target="/docProps/app.xml" Id="R01f2d235278d432e" /><Relationship Type="http://schemas.openxmlformats.org/officeDocument/2006/relationships/officeDocument" Target="/ppt/presentation.xml" Id="Rcd63575cc39d4b02" /></Relationships>
</file>

<file path=ppt/presentation.xml><?xml version="1.0" encoding="utf-8"?>
<p:presentation xmlns:p="http://schemas.openxmlformats.org/presentationml/2006/main">
  <p:sldMasterIdLst>
    <p:sldMasterId xmlns:r="http://schemas.openxmlformats.org/officeDocument/2006/relationships" id="2147483648" r:id="R55546a518ccd4fa6"/>
  </p:sldMasterIdLst>
  <p:notesMasterIdLst>
    <p:notesMasterId xmlns:r="http://schemas.openxmlformats.org/officeDocument/2006/relationships" r:id="R76178a629b0845f9"/>
  </p:notesMasterIdLst>
  <p:sldIdLst>
    <p:sldId xmlns:r="http://schemas.openxmlformats.org/officeDocument/2006/relationships" id="256" r:id="R874b101a13ea43e5"/>
    <p:sldId xmlns:r="http://schemas.openxmlformats.org/officeDocument/2006/relationships" id="257" r:id="R14129fa63097497d"/>
    <p:sldId xmlns:r="http://schemas.openxmlformats.org/officeDocument/2006/relationships" id="258" r:id="R31897cad08b24fd7"/>
    <p:sldId xmlns:r="http://schemas.openxmlformats.org/officeDocument/2006/relationships" id="259" r:id="R9e07345387e94ef6"/>
    <p:sldId xmlns:r="http://schemas.openxmlformats.org/officeDocument/2006/relationships" id="260" r:id="R8f11419a807f4940"/>
    <p:sldId xmlns:r="http://schemas.openxmlformats.org/officeDocument/2006/relationships" id="261" r:id="R79c6ecc5d1204e2a"/>
    <p:sldId xmlns:r="http://schemas.openxmlformats.org/officeDocument/2006/relationships" id="262" r:id="Rf0d8cbfc144a447f"/>
    <p:sldId xmlns:r="http://schemas.openxmlformats.org/officeDocument/2006/relationships" id="263" r:id="R55b35148cc1942d5"/>
    <p:sldId xmlns:r="http://schemas.openxmlformats.org/officeDocument/2006/relationships" id="264" r:id="R98970ba30a614f56"/>
    <p:sldId xmlns:r="http://schemas.openxmlformats.org/officeDocument/2006/relationships" id="265" r:id="Re772c5d18e7244b0"/>
    <p:sldId xmlns:r="http://schemas.openxmlformats.org/officeDocument/2006/relationships" id="266" r:id="R0eb1f84f23d640f0"/>
    <p:sldId xmlns:r="http://schemas.openxmlformats.org/officeDocument/2006/relationships" id="267" r:id="R1977a60c45b044e3"/>
    <p:sldId xmlns:r="http://schemas.openxmlformats.org/officeDocument/2006/relationships" id="268" r:id="Rf898d995f4a742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3d83690a4d45d9" /><Relationship Type="http://schemas.openxmlformats.org/officeDocument/2006/relationships/slideMaster" Target="/ppt/slideMasters/slideMaster1.xml" Id="R55546a518ccd4fa6" /><Relationship Type="http://schemas.openxmlformats.org/officeDocument/2006/relationships/notesMaster" Target="/ppt/notesMasters/notesMaster1.xml" Id="R76178a629b0845f9" /><Relationship Type="http://schemas.openxmlformats.org/officeDocument/2006/relationships/presProps" Target="/ppt/presProps.xml" Id="R30fa1942cdd94a09" /><Relationship Type="http://schemas.openxmlformats.org/officeDocument/2006/relationships/tableStyles" Target="/ppt/tableStyles.xml" Id="R1d903adc20c64c06" /><Relationship Type="http://schemas.openxmlformats.org/officeDocument/2006/relationships/slide" Target="/ppt/slides/slide1.xml" Id="R874b101a13ea43e5" /><Relationship Type="http://schemas.openxmlformats.org/officeDocument/2006/relationships/slide" Target="/ppt/slides/slide2.xml" Id="R14129fa63097497d" /><Relationship Type="http://schemas.openxmlformats.org/officeDocument/2006/relationships/slide" Target="/ppt/slides/slide3.xml" Id="R31897cad08b24fd7" /><Relationship Type="http://schemas.openxmlformats.org/officeDocument/2006/relationships/slide" Target="/ppt/slides/slide4.xml" Id="R9e07345387e94ef6" /><Relationship Type="http://schemas.openxmlformats.org/officeDocument/2006/relationships/slide" Target="/ppt/slides/slide5.xml" Id="R8f11419a807f4940" /><Relationship Type="http://schemas.openxmlformats.org/officeDocument/2006/relationships/slide" Target="/ppt/slides/slide6.xml" Id="R79c6ecc5d1204e2a" /><Relationship Type="http://schemas.openxmlformats.org/officeDocument/2006/relationships/slide" Target="/ppt/slides/slide7.xml" Id="Rf0d8cbfc144a447f" /><Relationship Type="http://schemas.openxmlformats.org/officeDocument/2006/relationships/slide" Target="/ppt/slides/slide8.xml" Id="R55b35148cc1942d5" /><Relationship Type="http://schemas.openxmlformats.org/officeDocument/2006/relationships/slide" Target="/ppt/slides/slide9.xml" Id="R98970ba30a614f56" /><Relationship Type="http://schemas.openxmlformats.org/officeDocument/2006/relationships/slide" Target="/ppt/slides/slide10.xml" Id="Re772c5d18e7244b0" /><Relationship Type="http://schemas.openxmlformats.org/officeDocument/2006/relationships/slide" Target="/ppt/slides/slide11.xml" Id="R0eb1f84f23d640f0" /><Relationship Type="http://schemas.openxmlformats.org/officeDocument/2006/relationships/slide" Target="/ppt/slides/slide12.xml" Id="R1977a60c45b044e3" /><Relationship Type="http://schemas.openxmlformats.org/officeDocument/2006/relationships/slide" Target="/ppt/slides/slide13.xml" Id="Rf898d995f4a742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5bf62dbf9245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16e8ab22645f3" /><Relationship Type="http://schemas.openxmlformats.org/officeDocument/2006/relationships/notesMaster" Target="/ppt/notesMasters/notesMaster1.xml" Id="R8bb1051cc6af4e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4eaea9e164427e" /><Relationship Type="http://schemas.openxmlformats.org/officeDocument/2006/relationships/notesMaster" Target="/ppt/notesMasters/notesMaster1.xml" Id="R5b6bd25694cd4d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e58cc1021645f9" /><Relationship Type="http://schemas.openxmlformats.org/officeDocument/2006/relationships/notesMaster" Target="/ppt/notesMasters/notesMaster1.xml" Id="Reea3abb9aa6b4c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0782670b664975" /><Relationship Type="http://schemas.openxmlformats.org/officeDocument/2006/relationships/notesMaster" Target="/ppt/notesMasters/notesMaster1.xml" Id="Rf0834556e69049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0a2d3dceff4426" /><Relationship Type="http://schemas.openxmlformats.org/officeDocument/2006/relationships/notesMaster" Target="/ppt/notesMasters/notesMaster1.xml" Id="R7e9e620c69f545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0eec7b4dfb42e4" /><Relationship Type="http://schemas.openxmlformats.org/officeDocument/2006/relationships/notesMaster" Target="/ppt/notesMasters/notesMaster1.xml" Id="R6a6a5b32a8a946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7159bc313f4bfa" /><Relationship Type="http://schemas.openxmlformats.org/officeDocument/2006/relationships/notesMaster" Target="/ppt/notesMasters/notesMaster1.xml" Id="R04df23da44ad46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e8c049d81c4cab" /><Relationship Type="http://schemas.openxmlformats.org/officeDocument/2006/relationships/notesMaster" Target="/ppt/notesMasters/notesMaster1.xml" Id="R6804552204494a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dbc6104c3d4d09" /><Relationship Type="http://schemas.openxmlformats.org/officeDocument/2006/relationships/notesMaster" Target="/ppt/notesMasters/notesMaster1.xml" Id="Rbd06f3a5390640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4b29d3c8114888" /><Relationship Type="http://schemas.openxmlformats.org/officeDocument/2006/relationships/notesMaster" Target="/ppt/notesMasters/notesMaster1.xml" Id="R4a4620a0813f492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8c40f874524258" /><Relationship Type="http://schemas.openxmlformats.org/officeDocument/2006/relationships/notesMaster" Target="/ppt/notesMasters/notesMaster1.xml" Id="R61cc2e188a5243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dd3ef4490d4bed" /><Relationship Type="http://schemas.openxmlformats.org/officeDocument/2006/relationships/notesMaster" Target="/ppt/notesMasters/notesMaster1.xml" Id="R88321200cc1a4d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d81faf891046bf" /><Relationship Type="http://schemas.openxmlformats.org/officeDocument/2006/relationships/notesMaster" Target="/ppt/notesMasters/notesMaster1.xml" Id="R3b7176c8b58c44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Introduce the project as one connected platform and preview the proof points.</a:t>
            </a:r>
          </a:p>
          <a:p xmlns:a="http://schemas.openxmlformats.org/drawingml/2006/main">
            <a:r>
              <a:t/>
            </a:r>
          </a:p>
          <a:p xmlns:a="http://schemas.openxmlformats.org/drawingml/2006/main">
            <a:r>
              <a:t>Example wording — adapt; do not read verbatim:</a:t>
            </a:r>
          </a:p>
          <a:p xmlns:a="http://schemas.openxmlformats.org/drawingml/2006/main">
            <a:r>
              <a:t>Good morning. Our project is an NFC-based student permit verification and governance management system for Knutsford University. We developed it to connect permit requests, verified payments, SRC activities, and student verification in one platform. We will explain the problem, show how the system works, present our evidence, and demonstrate the connected workflow.</a:t>
            </a:r>
          </a:p>
          <a:p xmlns:a="http://schemas.openxmlformats.org/drawingml/2006/main">
            <a:r>
              <a:t/>
            </a:r>
          </a:p>
          <a:p xmlns:a="http://schemas.openxmlformats.org/drawingml/2006/main">
            <a:r>
              <a:t>Internal presenter note — do not say aloud:</a:t>
            </a:r>
          </a:p>
          <a:p xmlns:a="http://schemas.openxmlformats.org/drawingml/2006/main">
            <a:r>
              <a:t>Keep the opening under 25 seconds. Do not list every feature. Move directly into the problem.</a:t>
            </a:r>
          </a:p>
          <a:p xmlns:a="http://schemas.openxmlformats.org/drawingml/2006/main">
            <a:r>
              <a:t/>
            </a:r>
          </a:p>
          <a:p xmlns:a="http://schemas.openxmlformats.org/drawingml/2006/main">
            <a:r>
              <a:t>[Sources]</a:t>
            </a:r>
          </a:p>
          <a:p xmlns:a="http://schemas.openxmlformats.org/drawingml/2006/main">
            <a:r>
              <a:t>- KNTSF_PRESENTATION_STORYBOARD_SPEAKING_GUIDE.md</a:t>
            </a:r>
          </a:p>
          <a:p xmlns:a="http://schemas.openxmlformats.org/drawingml/2006/main">
            <a:r>
              <a:t>- KNTSF_REPORT_UPDATED_WITH_PILOT_RESULTS_AND_BUDGET.docx</a:t>
            </a:r>
          </a:p>
          <a:p xmlns:a="http://schemas.openxmlformats.org/drawingml/2006/main">
            <a:r>
              <a:t>- kntsf-core/public/images/campus-hero.jpg</a:t>
            </a:r>
          </a:p>
          <a:p xmlns:a="http://schemas.openxmlformats.org/drawingml/2006/main">
            <a:r>
              <a:t>- kntsf-core/public/images/kntsf-logo.png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Explain that the real problem was the disconnected end-to-end workflow.</a:t>
            </a:r>
          </a:p>
          <a:p xmlns:a="http://schemas.openxmlformats.org/drawingml/2006/main">
            <a:r>
              <a:t/>
            </a:r>
          </a:p>
          <a:p xmlns:a="http://schemas.openxmlformats.org/drawingml/2006/main">
            <a:r>
              <a:t>Example wording — adapt; do not read verbatim:</a:t>
            </a:r>
          </a:p>
          <a:p xmlns:a="http://schemas.openxmlformats.org/drawingml/2006/main">
            <a:r>
              <a:t>Previously, the permit process involved several separate activities. A request could be submitted, but eligibility, payment confirmation, permit issuance, and later verification still had to be coordinated. When those records are disconnected, students may wait longer and administrators have less visibility. We therefore focused on connecting the complete workflow.</a:t>
            </a:r>
          </a:p>
          <a:p xmlns:a="http://schemas.openxmlformats.org/drawingml/2006/main">
            <a:r>
              <a:t/>
            </a:r>
          </a:p>
          <a:p xmlns:a="http://schemas.openxmlformats.org/drawingml/2006/main">
            <a:r>
              <a:t>Internal presenter note — do not say aloud:</a:t>
            </a:r>
          </a:p>
          <a:p xmlns:a="http://schemas.openxmlformats.org/drawingml/2006/main">
            <a:r>
              <a:t>Avoid saying every old activity completely failed or was entirely manual. Transition by saying the solution was designed around the full journey.</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Show that the website and mobile application are channels into the same controlled system.</a:t>
            </a:r>
          </a:p>
          <a:p xmlns:a="http://schemas.openxmlformats.org/drawingml/2006/main">
            <a:r>
              <a:t/>
            </a:r>
          </a:p>
          <a:p xmlns:a="http://schemas.openxmlformats.org/drawingml/2006/main">
            <a:r>
              <a:t>Example wording — adapt; do not read verbatim:</a:t>
            </a:r>
          </a:p>
          <a:p xmlns:a="http://schemas.openxmlformats.org/drawingml/2006/main">
            <a:r>
              <a:t>Our solution has a website and a mobile application, but they are not separate systems. They use the same backend rules and the same source of data. The website supports public information and administrative work, while the mobile application supports students and authorized verification staff. A permit should therefore not appear valid in one channel and invalid in another.</a:t>
            </a:r>
          </a:p>
          <a:p xmlns:a="http://schemas.openxmlformats.org/drawingml/2006/main">
            <a:r>
              <a:t/>
            </a:r>
          </a:p>
          <a:p xmlns:a="http://schemas.openxmlformats.org/drawingml/2006/main">
            <a:r>
              <a:t>Internal presenter note — do not say aloud:</a:t>
            </a:r>
          </a:p>
          <a:p xmlns:a="http://schemas.openxmlformats.org/drawingml/2006/main">
            <a:r>
              <a:t>After the shared-backend point, hand over to Daud for the architecture.</a:t>
            </a:r>
          </a:p>
          <a:p xmlns:a="http://schemas.openxmlformats.org/drawingml/2006/main">
            <a:r>
              <a:t/>
            </a:r>
          </a:p>
          <a:p xmlns:a="http://schemas.openxmlformats.org/drawingml/2006/main">
            <a:r>
              <a:t>[Sources]</a:t>
            </a:r>
          </a:p>
          <a:p xmlns:a="http://schemas.openxmlformats.org/drawingml/2006/main">
            <a:r>
              <a:t>- SYSTEM_ARCHITECTURE.md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Explain the responsibility of each technical layer without turning the slide into a framework inventory.</a:t>
            </a:r>
          </a:p>
          <a:p xmlns:a="http://schemas.openxmlformats.org/drawingml/2006/main">
            <a:r>
              <a:t/>
            </a:r>
          </a:p>
          <a:p xmlns:a="http://schemas.openxmlformats.org/drawingml/2006/main">
            <a:r>
              <a:t>Example wording — adapt; do not read verbatim:</a:t>
            </a:r>
          </a:p>
          <a:p xmlns:a="http://schemas.openxmlformats.org/drawingml/2006/main">
            <a:r>
              <a:t>Technically, Laravel is the central application and API layer. The website uses Inertia, React, and TypeScript, while the mobile application is built with Expo React Native. Both clients communicate with the same backend and database. Sanctum protects authenticated API requests, and PostgreSQL is used for production data. Keeping the main rules in one backend applies the same permission, payment, permit, and verification decisions everywhere.</a:t>
            </a:r>
          </a:p>
          <a:p xmlns:a="http://schemas.openxmlformats.org/drawingml/2006/main">
            <a:r>
              <a:t/>
            </a:r>
          </a:p>
          <a:p xmlns:a="http://schemas.openxmlformats.org/drawingml/2006/main">
            <a:r>
              <a:t>Internal presenter note — do not say aloud:</a:t>
            </a:r>
          </a:p>
          <a:p xmlns:a="http://schemas.openxmlformats.org/drawingml/2006/main">
            <a:r>
              <a:t>Keep this to about one minute. Paystack and NFC are integrations, not databases.</a:t>
            </a:r>
          </a:p>
          <a:p xmlns:a="http://schemas.openxmlformats.org/drawingml/2006/main">
            <a:r>
              <a:t/>
            </a:r>
          </a:p>
          <a:p xmlns:a="http://schemas.openxmlformats.org/drawingml/2006/main">
            <a:r>
              <a:t>[Sources]</a:t>
            </a:r>
          </a:p>
          <a:p xmlns:a="http://schemas.openxmlformats.org/drawingml/2006/main">
            <a:r>
              <a:t>- SYSTEM_ARCHITECTURE.md</a:t>
            </a:r>
          </a:p>
          <a:p xmlns:a="http://schemas.openxmlformats.org/drawingml/2006/main">
            <a:r>
              <a:t>- kntsf-core/docs/MOBILE_API.md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Explain why server-side payment verification controls permit issuance.</a:t>
            </a:r>
          </a:p>
          <a:p xmlns:a="http://schemas.openxmlformats.org/drawingml/2006/main">
            <a:r>
              <a:t/>
            </a:r>
          </a:p>
          <a:p xmlns:a="http://schemas.openxmlformats.org/drawingml/2006/main">
            <a:r>
              <a:t>Example wording — adapt; do not read verbatim:</a:t>
            </a:r>
          </a:p>
          <a:p xmlns:a="http://schemas.openxmlformats.org/drawingml/2006/main">
            <a:r>
              <a:t>A student first submits a permit request. After the required checks, the student can begin payment through Paystack. Returning from the payment page is not enough for the system to assume that payment succeeded. The backend verifies the transaction and records the result. The permit is issued only after that verified state is confirmed.</a:t>
            </a:r>
          </a:p>
          <a:p xmlns:a="http://schemas.openxmlformats.org/drawingml/2006/main">
            <a:r>
              <a:t/>
            </a:r>
          </a:p>
          <a:p xmlns:a="http://schemas.openxmlformats.org/drawingml/2006/main">
            <a:r>
              <a:t>Internal presenter note — do not say aloud:</a:t>
            </a:r>
          </a:p>
          <a:p xmlns:a="http://schemas.openxmlformats.org/drawingml/2006/main">
            <a:r>
              <a:t>If asked, explain server-side verification and idempotent processing. Do not claim that every payment failure is impossible.</a:t>
            </a:r>
          </a:p>
          <a:p xmlns:a="http://schemas.openxmlformats.org/drawingml/2006/main">
            <a:r>
              <a:t/>
            </a:r>
          </a:p>
          <a:p xmlns:a="http://schemas.openxmlformats.org/drawingml/2006/main">
            <a:r>
              <a:t>[Sources]</a:t>
            </a:r>
          </a:p>
          <a:p xmlns:a="http://schemas.openxmlformats.org/drawingml/2006/main">
            <a:r>
              <a:t>- kntsf-core/docs/PAYSTACK_INTEGRATION.md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a:t>
            </a:r>
          </a:p>
          <a:p xmlns:a="http://schemas.openxmlformats.org/drawingml/2006/main">
            <a:r>
              <a:t>Main point: Explain the practical value of a single administrative workspace and the public/private boundary.</a:t>
            </a:r>
          </a:p>
          <a:p xmlns:a="http://schemas.openxmlformats.org/drawingml/2006/main">
            <a:r>
              <a:t/>
            </a:r>
          </a:p>
          <a:p xmlns:a="http://schemas.openxmlformats.org/drawingml/2006/main">
            <a:r>
              <a:t>Example wording — adapt; do not read verbatim:</a:t>
            </a:r>
          </a:p>
          <a:p xmlns:a="http://schemas.openxmlformats.org/drawingml/2006/main">
            <a:r>
              <a:t>The website gives authorized administrators one place to review permit activity, monitor payments, issue receipts, manage complaints, publish announcements, track budgets, and administer elections. A separate public-facing area exposes only approved SRC information. Private administrative records remain restricted through role permissions.</a:t>
            </a:r>
          </a:p>
          <a:p xmlns:a="http://schemas.openxmlformats.org/drawingml/2006/main">
            <a:r>
              <a:t/>
            </a:r>
          </a:p>
          <a:p xmlns:a="http://schemas.openxmlformats.org/drawingml/2006/main">
            <a:r>
              <a:t>Internal presenter note — do not say aloud:</a:t>
            </a:r>
          </a:p>
          <a:p xmlns:a="http://schemas.openxmlformats.org/drawingml/2006/main">
            <a:r>
              <a:t>Focus on usefulness. Do not read every menu item. The screenshot uses prepared demonstration data.</a:t>
            </a:r>
          </a:p>
          <a:p xmlns:a="http://schemas.openxmlformats.org/drawingml/2006/main">
            <a:r>
              <a:t/>
            </a:r>
          </a:p>
          <a:p xmlns:a="http://schemas.openxmlformats.org/drawingml/2006/main">
            <a:r>
              <a:t>[Sources]</a:t>
            </a:r>
          </a:p>
          <a:p xmlns:a="http://schemas.openxmlformats.org/drawingml/2006/main">
            <a:r>
              <a:t>- recording/combined video.mp4</a:t>
            </a:r>
          </a:p>
          <a:p xmlns:a="http://schemas.openxmlformats.org/drawingml/2006/main">
            <a:r>
              <a:t>- kntsf-core/docs/PUBLIC_PORTAL.md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a:t>
            </a:r>
          </a:p>
          <a:p xmlns:a="http://schemas.openxmlformats.org/drawingml/2006/main">
            <a:r>
              <a:t>Main point: Explain that students and staff use the same app for different authorized tasks.</a:t>
            </a:r>
          </a:p>
          <a:p xmlns:a="http://schemas.openxmlformats.org/drawingml/2006/main">
            <a:r>
              <a:t/>
            </a:r>
          </a:p>
          <a:p xmlns:a="http://schemas.openxmlformats.org/drawingml/2006/main">
            <a:r>
              <a:t>Example wording — adapt; do not read verbatim:</a:t>
            </a:r>
          </a:p>
          <a:p xmlns:a="http://schemas.openxmlformats.org/drawingml/2006/main">
            <a:r>
              <a:t>The mobile application presents different functions depending on the user's role. Students can submit requests, complete payments, view permits and receipts, follow announcements, and participate in elections when eligible. Authorized staff use a focused verification workflow. The application displays the current result returned by the backend rather than deciding validity by itself.</a:t>
            </a:r>
          </a:p>
          <a:p xmlns:a="http://schemas.openxmlformats.org/drawingml/2006/main">
            <a:r>
              <a:t/>
            </a:r>
          </a:p>
          <a:p xmlns:a="http://schemas.openxmlformats.org/drawingml/2006/main">
            <a:r>
              <a:t>Internal presenter note — do not say aloud:</a:t>
            </a:r>
          </a:p>
          <a:p xmlns:a="http://schemas.openxmlformats.org/drawingml/2006/main">
            <a:r>
              <a:t>Avoid touring every screen. The recording demonstrates the student-number fallback path, not an NFC tap.</a:t>
            </a:r>
          </a:p>
          <a:p xmlns:a="http://schemas.openxmlformats.org/drawingml/2006/main">
            <a:r>
              <a:t/>
            </a:r>
          </a:p>
          <a:p xmlns:a="http://schemas.openxmlformats.org/drawingml/2006/main">
            <a:r>
              <a:t>[Sources]</a:t>
            </a:r>
          </a:p>
          <a:p xmlns:a="http://schemas.openxmlformats.org/drawingml/2006/main">
            <a:r>
              <a:t>- recording/combined video.mp4</a:t>
            </a:r>
          </a:p>
          <a:p xmlns:a="http://schemas.openxmlformats.org/drawingml/2006/main">
            <a:r>
              <a:t>- kntsf-core/docs/MOBILE_API.md</a:t>
            </a:r>
          </a:p>
          <a:p xmlns:a="http://schemas.openxmlformats.org/drawingml/2006/main">
            <a:r>
              <a:t>- KNTSF_PRESENTATION_FACT_LOCK_AND_DEMO_PLAN.md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Explain the privacy boundary and why the server, not the card, determines validity.</a:t>
            </a:r>
          </a:p>
          <a:p xmlns:a="http://schemas.openxmlformats.org/drawingml/2006/main">
            <a:r>
              <a:t/>
            </a:r>
          </a:p>
          <a:p xmlns:a="http://schemas.openxmlformats.org/drawingml/2006/main">
            <a:r>
              <a:t>Example wording — adapt; do not read verbatim:</a:t>
            </a:r>
          </a:p>
          <a:p xmlns:a="http://schemas.openxmlformats.org/drawingml/2006/main">
            <a:r>
              <a:t>During verification, the phone reads the NFC identifier and sends an authenticated request to the backend. The backend checks whether the staff member is authorized, finds the linked permit, and returns the current result. The card does not need to store the student's complete profile. We also use role-based access, validation, audit logs, rate limits, and secure payment verification around sensitive actions.</a:t>
            </a:r>
          </a:p>
          <a:p xmlns:a="http://schemas.openxmlformats.org/drawingml/2006/main">
            <a:r>
              <a:t/>
            </a:r>
          </a:p>
          <a:p xmlns:a="http://schemas.openxmlformats.org/drawingml/2006/main">
            <a:r>
              <a:t>Internal presenter note — do not say aloud:</a:t>
            </a:r>
          </a:p>
          <a:p xmlns:a="http://schemas.openxmlformats.org/drawingml/2006/main">
            <a:r>
              <a:t>Do not say NFC completely prevents copying. Acknowledge the limitation and the stronger future options if asked.</a:t>
            </a:r>
          </a:p>
          <a:p xmlns:a="http://schemas.openxmlformats.org/drawingml/2006/main">
            <a:r>
              <a:t/>
            </a:r>
          </a:p>
          <a:p xmlns:a="http://schemas.openxmlformats.org/drawingml/2006/main">
            <a:r>
              <a:t>[Sources]</a:t>
            </a:r>
          </a:p>
          <a:p xmlns:a="http://schemas.openxmlformats.org/drawingml/2006/main">
            <a:r>
              <a:t>- kntsf-core/docs/VERIFICATION_MODULE.md</a:t>
            </a:r>
          </a:p>
          <a:p xmlns:a="http://schemas.openxmlformats.org/drawingml/2006/main">
            <a:r>
              <a:t>- KNTSF_PRESENTATION_FACT_LOCK_AND_DEMO_PLAN.md</a:t>
            </a:r>
          </a:p>
          <a:p xmlns:a="http://schemas.openxmlformats.org/drawingml/2006/main">
            <a:r>
              <a:t>- KNTSF_REPORT_UPDATED_WITH_PILOT_RESULTS_AND_BUDGET.docx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Present the four pilot figures and clearly limit what they prove.</a:t>
            </a:r>
          </a:p>
          <a:p xmlns:a="http://schemas.openxmlformats.org/drawingml/2006/main">
            <a:r>
              <a:t/>
            </a:r>
          </a:p>
          <a:p xmlns:a="http://schemas.openxmlformats.org/drawingml/2006/main">
            <a:r>
              <a:t>Example wording — adapt; do not read verbatim:</a:t>
            </a:r>
          </a:p>
          <a:p xmlns:a="http://schemas.openxmlformats.org/drawingml/2006/main">
            <a:r>
              <a:t>During the pilot, the system captured 2,021 registered student records and processed 2,769 permit and successful payment records, representing GHS 276,900. These figures show meaningful use of the digital permit and payment workflow. NFC was not fully deployed during that pilot, so we do not present these numbers as proof of a completed campus-wide NFC rollout.</a:t>
            </a:r>
          </a:p>
          <a:p xmlns:a="http://schemas.openxmlformats.org/drawingml/2006/main">
            <a:r>
              <a:t/>
            </a:r>
          </a:p>
          <a:p xmlns:a="http://schemas.openxmlformats.org/drawingml/2006/main">
            <a:r>
              <a:t>Internal presenter note — do not say aloud:</a:t>
            </a:r>
          </a:p>
          <a:p xmlns:a="http://schemas.openxmlformats.org/drawingml/2006/main">
            <a:r>
              <a:t>If asked why permits exceed students, use the agreed explanation about repeated permit records across periods. Do not call every repeated record a renewal.</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KNTSF_PRESENTATION_FACT_LOCK_AND_DEMO_PLAN.md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Present the current validation evidence without implying the submitted report was changed.</a:t>
            </a:r>
          </a:p>
          <a:p xmlns:a="http://schemas.openxmlformats.org/drawingml/2006/main">
            <a:r>
              <a:t/>
            </a:r>
          </a:p>
          <a:p xmlns:a="http://schemas.openxmlformats.org/drawingml/2006/main">
            <a:r>
              <a:t>Example wording — adapt; do not read verbatim:</a:t>
            </a:r>
          </a:p>
          <a:p xmlns:a="http://schemas.openxmlformats.org/drawingml/2006/main">
            <a:r>
              <a:t>Validation continued after the report was submitted. In the latest verified build, 337 automated tests passed with 1,657 assertions. The TypeScript checks and mobile lint also passed. If this count differs from the report, it is because the report contains the submission-time result while this slide shows the current build.</a:t>
            </a:r>
          </a:p>
          <a:p xmlns:a="http://schemas.openxmlformats.org/drawingml/2006/main">
            <a:r>
              <a:t/>
            </a:r>
          </a:p>
          <a:p xmlns:a="http://schemas.openxmlformats.org/drawingml/2006/main">
            <a:r>
              <a:t>Internal presenter note — do not say aloud:</a:t>
            </a:r>
          </a:p>
          <a:p xmlns:a="http://schemas.openxmlformats.org/drawingml/2006/main">
            <a:r>
              <a:t>Keep this to about 40 seconds. Be ready to name the main test groups if asked.</a:t>
            </a:r>
          </a:p>
          <a:p xmlns:a="http://schemas.openxmlformats.org/drawingml/2006/main">
            <a:r>
              <a:t/>
            </a:r>
          </a:p>
          <a:p xmlns:a="http://schemas.openxmlformats.org/drawingml/2006/main">
            <a:r>
              <a:t>[Sources]</a:t>
            </a:r>
          </a:p>
          <a:p xmlns:a="http://schemas.openxmlformats.org/drawingml/2006/main">
            <a:r>
              <a:t>- KNTSF_PRESENTATION_FACT_LOCK_AND_DEMO_PLAN.md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a:t>
            </a:r>
          </a:p>
          <a:p xmlns:a="http://schemas.openxmlformats.org/drawingml/2006/main">
            <a:r>
              <a:t>Main point: Connect the submitted budget to a controlled three-phase implementation approach.</a:t>
            </a:r>
          </a:p>
          <a:p xmlns:a="http://schemas.openxmlformats.org/drawingml/2006/main">
            <a:r>
              <a:t/>
            </a:r>
          </a:p>
          <a:p xmlns:a="http://schemas.openxmlformats.org/drawingml/2006/main">
            <a:r>
              <a:t>Example wording — adapt; do not read verbatim:</a:t>
            </a:r>
          </a:p>
          <a:p xmlns:a="http://schemas.openxmlformats.org/drawingml/2006/main">
            <a:r>
              <a:t>The submitted implementation budget is GHS 32,450. We recommend using a phased rollout rather than switching the whole institution at once. The first phase confirms accounts, training, and controlled verification points. The second expands permit use and staff coverage. The third focuses on monitoring, support, and improvements based on actual use.</a:t>
            </a:r>
          </a:p>
          <a:p xmlns:a="http://schemas.openxmlformats.org/drawingml/2006/main">
            <a:r>
              <a:t/>
            </a:r>
          </a:p>
          <a:p xmlns:a="http://schemas.openxmlformats.org/drawingml/2006/main">
            <a:r>
              <a:t>Internal presenter note — do not say aloud:</a:t>
            </a:r>
          </a:p>
          <a:p xmlns:a="http://schemas.openxmlformats.org/drawingml/2006/main">
            <a:r>
              <a:t>Do not invent or revise budget line items. Do not imply the rollout has already happened.</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 narrates; Divine and Daud operate</a:t>
            </a:r>
          </a:p>
          <a:p xmlns:a="http://schemas.openxmlformats.org/drawingml/2006/main">
            <a:r>
              <a:t>Main point: Demonstrate one record across administrator, student, and staff views.</a:t>
            </a:r>
          </a:p>
          <a:p xmlns:a="http://schemas.openxmlformats.org/drawingml/2006/main">
            <a:r>
              <a:t/>
            </a:r>
          </a:p>
          <a:p xmlns:a="http://schemas.openxmlformats.org/drawingml/2006/main">
            <a:r>
              <a:t>Example wording — adapt; do not read verbatim:</a:t>
            </a:r>
          </a:p>
          <a:p xmlns:a="http://schemas.openxmlformats.org/drawingml/2006/main">
            <a:r>
              <a:t>We will now follow one record through the system. Divine will show the active permit from the administrator's view. We will then open the same permit in the student's mobile application. Finally, Daud will use the authorized staff workflow to retrieve the current result from the backend. The recording demonstrates the student-number fallback path.</a:t>
            </a:r>
          </a:p>
          <a:p xmlns:a="http://schemas.openxmlformats.org/drawingml/2006/main">
            <a:r>
              <a:t/>
            </a:r>
          </a:p>
          <a:p xmlns:a="http://schemas.openxmlformats.org/drawingml/2006/main">
            <a:r>
              <a:t>Internal presenter note — do not say aloud:</a:t>
            </a:r>
          </a:p>
          <a:p xmlns:a="http://schemas.openxmlformats.org/drawingml/2006/main">
            <a:r>
              <a:t>Play recording/combined video.mp4 as the 32-second backup. If the live NFC tap is not available, say clearly that the student-number fallback uses the same authenticated verification service. Do not claim the recording shows NFC scanning.</a:t>
            </a:r>
          </a:p>
          <a:p xmlns:a="http://schemas.openxmlformats.org/drawingml/2006/main">
            <a:r>
              <a:t/>
            </a:r>
          </a:p>
          <a:p xmlns:a="http://schemas.openxmlformats.org/drawingml/2006/main">
            <a:r>
              <a:t>[Sources]</a:t>
            </a:r>
          </a:p>
          <a:p xmlns:a="http://schemas.openxmlformats.org/drawingml/2006/main">
            <a:r>
              <a:t>- recording/combined video.mp4</a:t>
            </a:r>
          </a:p>
          <a:p xmlns:a="http://schemas.openxmlformats.org/drawingml/2006/main">
            <a:r>
              <a:t>- KNTSF_PRESENTATION_FACT_LOCK_AND_DEMO_PLAN.md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Resolve the opening by restating the integrated achievement and the phased recommendation.</a:t>
            </a:r>
          </a:p>
          <a:p xmlns:a="http://schemas.openxmlformats.org/drawingml/2006/main">
            <a:r>
              <a:t/>
            </a:r>
          </a:p>
          <a:p xmlns:a="http://schemas.openxmlformats.org/drawingml/2006/main">
            <a:r>
              <a:t>Example wording — adapt; do not read verbatim:</a:t>
            </a:r>
          </a:p>
          <a:p xmlns:a="http://schemas.openxmlformats.org/drawingml/2006/main">
            <a:r>
              <a:t>In conclusion, our project brings permit, payment, governance, and verification activities into one system. The website and mobile application use the same backend rules, payments are verified before permit issuance, and verification returns the current backend result. The pilot provides meaningful evidence for the digital permit and payment workflow. We therefore recommend a controlled, phased rollout with training, monitoring, and continued improvement. Thank you. We are ready for your questions.</a:t>
            </a:r>
          </a:p>
          <a:p xmlns:a="http://schemas.openxmlformats.org/drawingml/2006/main">
            <a:r>
              <a:t/>
            </a:r>
          </a:p>
          <a:p xmlns:a="http://schemas.openxmlformats.org/drawingml/2006/main">
            <a:r>
              <a:t>Internal presenter note — do not say aloud:</a:t>
            </a:r>
          </a:p>
          <a:p xmlns:a="http://schemas.openxmlformats.org/drawingml/2006/main">
            <a:r>
              <a:t>Pause after inviting questions. Divine receives the first question and routes technical questions to Daud and workflow or rollout questions to Naeem.</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KNTSF_PRESENTATION_STORYBOARD_SPEAKING_GUIDE.md</a:t>
            </a:r>
          </a:p>
          <a:p xmlns:a="http://schemas.openxmlformats.org/drawingml/2006/main">
            <a:r>
              <a:t>- kntsf-core/public/images/campus-hero.jpg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8e47a0e3134c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6b9ef08ca84dc6" /><Relationship Type="http://schemas.openxmlformats.org/officeDocument/2006/relationships/slideLayout" Target="/ppt/slideLayouts/slideLayout1.xml" Id="R897892b6470648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7892b6470648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d6d5a6b62d470a" /><Relationship Type="http://schemas.openxmlformats.org/officeDocument/2006/relationships/image" Target="/ppt/media/image.jpeg" Id="R9bfea9feaedb4579" /><Relationship Type="http://schemas.openxmlformats.org/officeDocument/2006/relationships/image" Target="/ppt/media/image.png" Id="R1a954fee33534697" /><Relationship Type="http://schemas.openxmlformats.org/officeDocument/2006/relationships/notesSlide" Target="/ppt/notesSlides/notesSlide1.xml" Id="Ra1f7f8c5f8d349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0d2218a68a45f3" /><Relationship Type="http://schemas.openxmlformats.org/officeDocument/2006/relationships/notesSlide" Target="/ppt/notesSlides/notesSlide2.xml" Id="R257fca90a4a84b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2409c47865489a" /><Relationship Type="http://schemas.openxmlformats.org/officeDocument/2006/relationships/notesSlide" Target="/ppt/notesSlides/notesSlide3.xml" Id="Rf1a003b320544c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602a058dbe4c81" /><Relationship Type="http://schemas.openxmlformats.org/officeDocument/2006/relationships/notesSlide" Target="/ppt/notesSlides/notesSlide4.xml" Id="R75b87c29ea094d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4ed6a49787420a" /><Relationship Type="http://schemas.openxmlformats.org/officeDocument/2006/relationships/notesSlide" Target="/ppt/notesSlides/notesSlide5.xml" Id="R0005564ce0be46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e7010d2cad4382" /><Relationship Type="http://schemas.openxmlformats.org/officeDocument/2006/relationships/image" Target="/ppt/media/image2.png" Id="R81a9f84d699349ce" /><Relationship Type="http://schemas.openxmlformats.org/officeDocument/2006/relationships/notesSlide" Target="/ppt/notesSlides/notesSlide6.xml" Id="R7bd8d122512d40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cdac85fe144a75" /><Relationship Type="http://schemas.openxmlformats.org/officeDocument/2006/relationships/image" Target="/ppt/media/image3.png" Id="Rbbdaa666eb304af7" /><Relationship Type="http://schemas.openxmlformats.org/officeDocument/2006/relationships/image" Target="/ppt/media/image4.png" Id="R077113ee55964314" /><Relationship Type="http://schemas.openxmlformats.org/officeDocument/2006/relationships/notesSlide" Target="/ppt/notesSlides/notesSlide7.xml" Id="R5d37f215acd64c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1448283e924f4c" /><Relationship Type="http://schemas.openxmlformats.org/officeDocument/2006/relationships/notesSlide" Target="/ppt/notesSlides/notesSlide8.xml" Id="Rb160a6e5b8d84e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01ecb648aaa44ed" /><Relationship Type="http://schemas.openxmlformats.org/officeDocument/2006/relationships/notesSlide" Target="/ppt/notesSlides/notesSlide9.xml" Id="R61b7a30ab74b49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e36e2e732e4d74" /><Relationship Type="http://schemas.openxmlformats.org/officeDocument/2006/relationships/notesSlide" Target="/ppt/notesSlides/notesSlide10.xml" Id="Rdd8271660e714b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339280807b4830" /><Relationship Type="http://schemas.openxmlformats.org/officeDocument/2006/relationships/notesSlide" Target="/ppt/notesSlides/notesSlide11.xml" Id="R62949d327d274d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6350244abbc418e" /><Relationship Type="http://schemas.openxmlformats.org/officeDocument/2006/relationships/notesSlide" Target="/ppt/notesSlides/notesSlide12.xml" Id="R0f57aa085a204e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936bc0633446e5" /><Relationship Type="http://schemas.openxmlformats.org/officeDocument/2006/relationships/image" Target="/ppt/media/image2.jpeg" Id="R4f621a95e79040fb" /><Relationship Type="http://schemas.openxmlformats.org/officeDocument/2006/relationships/notesSlide" Target="/ppt/notesSlides/notesSlide13.xml" Id="Rfa999f215ca049cf" /></Relationships>
</file>

<file path=ppt/slides/slide1.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bfea9feaedb4579"/>
          <a:srcRect xmlns:a="http://schemas.openxmlformats.org/drawingml/2006/main" l="23774" t="0" r="23774"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AA0243-3EA8-42BD-B62E-DC2B83927248}"/>
              </a:ext>
            </a:extLst>
          </p:cNvPr>
          <p:cNvSpPr>
            <a:spLocks xmlns:a="http://schemas.openxmlformats.org/drawingml/2006/main" noGrp="1"/>
          </p:cNvSpPr>
          <p:nvPr/>
        </p:nvSpPr>
        <p:spPr>
          <a:xfrm xmlns:a="http://schemas.openxmlformats.org/drawingml/2006/main">
            <a:off x="0" y="0"/>
            <a:ext cx="6819900" cy="6858000"/>
          </a:xfrm>
          <a:prstGeom xmlns:a="http://schemas.openxmlformats.org/drawingml/2006/main" prst="rect">
            <a:avLst/>
          </a:prstGeom>
          <a:solidFill xmlns:a="http://schemas.openxmlformats.org/drawingml/2006/main">
            <a:srgbClr val="080D1A"/>
          </a:solidFill>
          <a:ln xmlns:a="http://schemas.openxmlformats.org/drawingml/2006/main" w="0">
            <a:solidFill>
              <a:srgbClr val="080D1A"/>
            </a:solidFill>
            <a:prstDash val="solid"/>
          </a:ln>
        </p:spPr>
      </p:sp>
      <p:sp>
        <p:nvSpPr>
          <p:cNvPr id="3" name="">
            <a:extLst xmlns:a="http://schemas.openxmlformats.org/drawingml/2006/main">
              <a:ext uri="{FF2B5EF4-FFF2-40B4-BE49-F238E27FC236}">
                <a16:creationId xmlns:a16="http://schemas.microsoft.com/office/drawing/2014/main" id="{FA184DFF-C0F2-4107-82A0-F5B035582172}"/>
              </a:ext>
            </a:extLst>
          </p:cNvPr>
          <p:cNvSpPr>
            <a:spLocks xmlns:a="http://schemas.openxmlformats.org/drawingml/2006/main" noGrp="1"/>
          </p:cNvSpPr>
          <p:nvPr/>
        </p:nvSpPr>
        <p:spPr>
          <a:xfrm xmlns:a="http://schemas.openxmlformats.org/drawingml/2006/main">
            <a:off x="533400" y="0"/>
            <a:ext cx="76200" cy="6858000"/>
          </a:xfrm>
          <a:prstGeom xmlns:a="http://schemas.openxmlformats.org/drawingml/2006/main" prst="rect">
            <a:avLst/>
          </a:prstGeom>
          <a:solidFill xmlns:a="http://schemas.openxmlformats.org/drawingml/2006/main">
            <a:srgbClr val="8B5CF6"/>
          </a:solidFill>
          <a:ln xmlns:a="http://schemas.openxmlformats.org/drawingml/2006/main" w="0">
            <a:solidFill>
              <a:srgbClr val="8B5CF6"/>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a954fee33534697"/>
          <a:stretch xmlns:a="http://schemas.openxmlformats.org/drawingml/2006/main"/>
        </p:blipFill>
        <p:spPr>
          <a:xfrm xmlns:a="http://schemas.openxmlformats.org/drawingml/2006/main">
            <a:off x="838200" y="495300"/>
            <a:ext cx="876300" cy="87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45336DF-AEEC-45D0-B6E2-6BAB3DB20B7D}"/>
              </a:ext>
            </a:extLst>
          </p:cNvPr>
          <p:cNvSpPr>
            <a:spLocks xmlns:a="http://schemas.openxmlformats.org/drawingml/2006/main" noGrp="1"/>
          </p:cNvSpPr>
          <p:nvPr/>
        </p:nvSpPr>
        <p:spPr>
          <a:xfrm xmlns:a="http://schemas.openxmlformats.org/drawingml/2006/main">
            <a:off x="1943100" y="7810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8BDF8"/>
                </a:solidFill>
                <a:latin typeface="Aptos"/>
                <a:ea typeface="Aptos"/>
                <a:cs typeface="Aptos"/>
              </a:defRPr>
            </a:pPr>
            <a:r>
              <a:rPr sz="1125" b="1">
                <a:solidFill>
                  <a:srgbClr val="38BDF8"/>
                </a:solidFill>
                <a:latin typeface="Aptos"/>
                <a:ea typeface="Aptos"/>
                <a:cs typeface="Aptos"/>
              </a:rPr>
              <a:t>FINAL YEAR PROJECT</a:t>
            </a:r>
          </a:p>
        </p:txBody>
      </p:sp>
      <p:sp>
        <p:nvSpPr>
          <p:cNvPr id="6" name="">
            <a:extLst xmlns:a="http://schemas.openxmlformats.org/drawingml/2006/main">
              <a:ext uri="{FF2B5EF4-FFF2-40B4-BE49-F238E27FC236}">
                <a16:creationId xmlns:a16="http://schemas.microsoft.com/office/drawing/2014/main" id="{C5FC8B92-D81A-4C2C-A27F-33CB0AD53310}"/>
              </a:ext>
            </a:extLst>
          </p:cNvPr>
          <p:cNvSpPr>
            <a:spLocks xmlns:a="http://schemas.openxmlformats.org/drawingml/2006/main" noGrp="1"/>
          </p:cNvSpPr>
          <p:nvPr/>
        </p:nvSpPr>
        <p:spPr>
          <a:xfrm xmlns:a="http://schemas.openxmlformats.org/drawingml/2006/main">
            <a:off x="838200" y="1676400"/>
            <a:ext cx="5219700" cy="2990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1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NFC-Based Student</a:t>
            </a:r>
          </a:p>
          <a:p xmlns:a="http://schemas.openxmlformats.org/drawingml/2006/main">
            <a:pPr algn="l">
              <a:lnSpc>
                <a:spcPct val="91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Permit Verification</a:t>
            </a:r>
          </a:p>
          <a:p xmlns:a="http://schemas.openxmlformats.org/drawingml/2006/main">
            <a:pPr algn="l">
              <a:lnSpc>
                <a:spcPct val="91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and Governance</a:t>
            </a:r>
          </a:p>
          <a:p xmlns:a="http://schemas.openxmlformats.org/drawingml/2006/main">
            <a:pPr algn="l">
              <a:lnSpc>
                <a:spcPct val="91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Management System</a:t>
            </a:r>
          </a:p>
        </p:txBody>
      </p:sp>
      <p:sp>
        <p:nvSpPr>
          <p:cNvPr id="7" name="">
            <a:extLst xmlns:a="http://schemas.openxmlformats.org/drawingml/2006/main">
              <a:ext uri="{FF2B5EF4-FFF2-40B4-BE49-F238E27FC236}">
                <a16:creationId xmlns:a16="http://schemas.microsoft.com/office/drawing/2014/main" id="{0A0BF41D-6DC8-4163-A4A0-0AB4CE6C46FB}"/>
              </a:ext>
            </a:extLst>
          </p:cNvPr>
          <p:cNvSpPr>
            <a:spLocks xmlns:a="http://schemas.openxmlformats.org/drawingml/2006/main" noGrp="1"/>
          </p:cNvSpPr>
          <p:nvPr/>
        </p:nvSpPr>
        <p:spPr>
          <a:xfrm xmlns:a="http://schemas.openxmlformats.org/drawingml/2006/main">
            <a:off x="838200" y="48768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D4DAE6"/>
                </a:solidFill>
                <a:latin typeface="Aptos"/>
                <a:ea typeface="Aptos"/>
                <a:cs typeface="Aptos"/>
              </a:defRPr>
            </a:pPr>
            <a:r>
              <a:rPr sz="1800" b="0">
                <a:solidFill>
                  <a:srgbClr val="D4DAE6"/>
                </a:solidFill>
                <a:latin typeface="Aptos"/>
                <a:ea typeface="Aptos"/>
                <a:cs typeface="Aptos"/>
              </a:rPr>
              <a:t>One backend. Two channels. One trusted decision.</a:t>
            </a:r>
          </a:p>
        </p:txBody>
      </p:sp>
      <p:cxnSp>
        <p:nvCxnSpPr>
          <p:cNvPr id="19" name=""/>
          <p:cNvCxnSpPr/>
          <p:nvPr/>
        </p:nvCxnSpPr>
        <p:spPr>
          <a:xfrm xmlns:a="http://schemas.openxmlformats.org/drawingml/2006/main">
            <a:off x="838200" y="5600700"/>
            <a:ext cx="4381500" cy="0"/>
          </a:xfrm>
          <a:prstGeom xmlns:a="http://schemas.openxmlformats.org/drawingml/2006/main" prst="straightConnector1">
            <a:avLst/>
          </a:prstGeom>
          <a:ln xmlns:a="http://schemas.openxmlformats.org/drawingml/2006/main" w="19050">
            <a:solidFill>
              <a:srgbClr val="27324A"/>
            </a:solidFill>
            <a:prstDash val="solid"/>
          </a:ln>
        </p:spPr>
      </p:cxnSp>
      <p:sp>
        <p:nvSpPr>
          <p:cNvPr id="9" name="">
            <a:extLst xmlns:a="http://schemas.openxmlformats.org/drawingml/2006/main">
              <a:ext uri="{FF2B5EF4-FFF2-40B4-BE49-F238E27FC236}">
                <a16:creationId xmlns:a16="http://schemas.microsoft.com/office/drawing/2014/main" id="{AAFFFE7B-1A44-4797-98F3-B361BC7BE99F}"/>
              </a:ext>
            </a:extLst>
          </p:cNvPr>
          <p:cNvSpPr>
            <a:spLocks xmlns:a="http://schemas.openxmlformats.org/drawingml/2006/main" noGrp="1"/>
          </p:cNvSpPr>
          <p:nvPr/>
        </p:nvSpPr>
        <p:spPr>
          <a:xfrm xmlns:a="http://schemas.openxmlformats.org/drawingml/2006/main">
            <a:off x="838200" y="5810250"/>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Daud Abdul-Rahim  •  Kwuatsenu Divine</a:t>
            </a:r>
          </a:p>
        </p:txBody>
      </p:sp>
      <p:sp>
        <p:nvSpPr>
          <p:cNvPr id="10" name="">
            <a:extLst xmlns:a="http://schemas.openxmlformats.org/drawingml/2006/main">
              <a:ext uri="{FF2B5EF4-FFF2-40B4-BE49-F238E27FC236}">
                <a16:creationId xmlns:a16="http://schemas.microsoft.com/office/drawing/2014/main" id="{95B598B1-31AE-4E04-9B74-4445FC4C75E4}"/>
              </a:ext>
            </a:extLst>
          </p:cNvPr>
          <p:cNvSpPr>
            <a:spLocks xmlns:a="http://schemas.openxmlformats.org/drawingml/2006/main" noGrp="1"/>
          </p:cNvSpPr>
          <p:nvPr/>
        </p:nvSpPr>
        <p:spPr>
          <a:xfrm xmlns:a="http://schemas.openxmlformats.org/drawingml/2006/main">
            <a:off x="838200" y="6096000"/>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ptos"/>
                <a:ea typeface="Aptos"/>
                <a:cs typeface="Aptos"/>
              </a:defRPr>
            </a:pPr>
            <a:r>
              <a:rPr sz="1200" b="1">
                <a:solidFill>
                  <a:srgbClr val="FFFFFF"/>
                </a:solidFill>
                <a:latin typeface="Aptos"/>
                <a:ea typeface="Aptos"/>
                <a:cs typeface="Aptos"/>
              </a:rPr>
              <a:t>M'Bangot-Menard Naeem Latif Dieudonne</a:t>
            </a:r>
          </a:p>
        </p:txBody>
      </p:sp>
      <p:sp>
        <p:nvSpPr>
          <p:cNvPr id="11" name="">
            <a:extLst xmlns:a="http://schemas.openxmlformats.org/drawingml/2006/main">
              <a:ext uri="{FF2B5EF4-FFF2-40B4-BE49-F238E27FC236}">
                <a16:creationId xmlns:a16="http://schemas.microsoft.com/office/drawing/2014/main" id="{6CB015BC-B209-400A-BC37-A450E8CC71F8}"/>
              </a:ext>
            </a:extLst>
          </p:cNvPr>
          <p:cNvSpPr>
            <a:spLocks xmlns:a="http://schemas.openxmlformats.org/drawingml/2006/main" noGrp="1"/>
          </p:cNvSpPr>
          <p:nvPr/>
        </p:nvSpPr>
        <p:spPr>
          <a:xfrm xmlns:a="http://schemas.openxmlformats.org/drawingml/2006/main">
            <a:off x="8001000" y="6229350"/>
            <a:ext cx="3581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1">
                <a:solidFill>
                  <a:srgbClr val="FFFFFF"/>
                </a:solidFill>
                <a:latin typeface="Aptos"/>
                <a:ea typeface="Aptos"/>
                <a:cs typeface="Aptos"/>
              </a:defRPr>
            </a:pPr>
            <a:r>
              <a:rPr sz="1125" b="1">
                <a:solidFill>
                  <a:srgbClr val="FFFFFF"/>
                </a:solidFill>
                <a:latin typeface="Aptos"/>
                <a:ea typeface="Aptos"/>
                <a:cs typeface="Aptos"/>
              </a:rPr>
              <a:t>Supervisor  /  Mr. Bryan Laryea</a:t>
            </a:r>
          </a:p>
        </p:txBody>
      </p:sp>
    </p:spTree>
    <p:extLst>
      <p:ext uri="{BB962C8B-B14F-4D97-AF65-F5344CB8AC3E}">
        <p14:creationId xmlns:p14="http://schemas.microsoft.com/office/powerpoint/2010/main" val="2002664907"/>
      </p:ext>
    </p:extLst>
  </p:cSld>
</p:sld>
</file>

<file path=ppt/slides/slide2.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84983A7-5C83-44F7-BA66-4CD648BF5178}"/>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5CF6"/>
                </a:solidFill>
                <a:latin typeface="Aptos"/>
                <a:ea typeface="Aptos"/>
                <a:cs typeface="Aptos"/>
              </a:defRPr>
            </a:pPr>
            <a:r>
              <a:rPr sz="975" b="1">
                <a:solidFill>
                  <a:srgbClr val="8B5CF6"/>
                </a:solidFill>
                <a:latin typeface="Aptos"/>
                <a:ea typeface="Aptos"/>
                <a:cs typeface="Aptos"/>
              </a:rPr>
              <a:t>02 / 13</a:t>
            </a:r>
          </a:p>
        </p:txBody>
      </p:sp>
      <p:sp>
        <p:nvSpPr>
          <p:cNvPr id="2" name="">
            <a:extLst xmlns:a="http://schemas.openxmlformats.org/drawingml/2006/main">
              <a:ext uri="{FF2B5EF4-FFF2-40B4-BE49-F238E27FC236}">
                <a16:creationId xmlns:a16="http://schemas.microsoft.com/office/drawing/2014/main" id="{C2DAF469-A0C8-486A-B998-552109321951}"/>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THE PROBLEM</a:t>
            </a:r>
          </a:p>
        </p:txBody>
      </p:sp>
      <p:sp>
        <p:nvSpPr>
          <p:cNvPr id="3" name="">
            <a:extLst xmlns:a="http://schemas.openxmlformats.org/drawingml/2006/main">
              <a:ext uri="{FF2B5EF4-FFF2-40B4-BE49-F238E27FC236}">
                <a16:creationId xmlns:a16="http://schemas.microsoft.com/office/drawing/2014/main" id="{411CAEB3-039D-47A6-A314-903CD2E87942}"/>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D4DAE6"/>
                </a:solidFill>
                <a:latin typeface="Aptos"/>
                <a:ea typeface="Aptos"/>
                <a:cs typeface="Aptos"/>
              </a:defRPr>
            </a:pPr>
            <a:r>
              <a:rPr sz="825" b="1">
                <a:solidFill>
                  <a:srgbClr val="D4DAE6"/>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E8C0C3B7-46AE-4A46-874D-2FC5362BCADA}"/>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The gaps between decisions caused the real delay</a:t>
            </a:r>
          </a:p>
        </p:txBody>
      </p:sp>
      <p:sp>
        <p:nvSpPr>
          <p:cNvPr id="5" name="">
            <a:extLst xmlns:a="http://schemas.openxmlformats.org/drawingml/2006/main">
              <a:ext uri="{FF2B5EF4-FFF2-40B4-BE49-F238E27FC236}">
                <a16:creationId xmlns:a16="http://schemas.microsoft.com/office/drawing/2014/main" id="{91AE2F8E-6CB1-4911-9368-24498BE3319D}"/>
              </a:ext>
            </a:extLst>
          </p:cNvPr>
          <p:cNvSpPr>
            <a:spLocks xmlns:a="http://schemas.openxmlformats.org/drawingml/2006/main" noGrp="1"/>
          </p:cNvSpPr>
          <p:nvPr/>
        </p:nvSpPr>
        <p:spPr>
          <a:xfrm xmlns:a="http://schemas.openxmlformats.org/drawingml/2006/main">
            <a:off x="533400" y="1809750"/>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98A2B3"/>
                </a:solidFill>
                <a:latin typeface="Aptos"/>
                <a:ea typeface="Aptos"/>
                <a:cs typeface="Aptos"/>
              </a:defRPr>
            </a:pPr>
            <a:r>
              <a:rPr sz="1800" b="0">
                <a:solidFill>
                  <a:srgbClr val="98A2B3"/>
                </a:solidFill>
                <a:latin typeface="Aptos"/>
                <a:ea typeface="Aptos"/>
                <a:cs typeface="Aptos"/>
              </a:rPr>
              <a:t>The process broke into four separate moments:</a:t>
            </a:r>
          </a:p>
        </p:txBody>
      </p:sp>
      <p:sp>
        <p:nvSpPr>
          <p:cNvPr id="6" name="">
            <a:extLst xmlns:a="http://schemas.openxmlformats.org/drawingml/2006/main">
              <a:ext uri="{FF2B5EF4-FFF2-40B4-BE49-F238E27FC236}">
                <a16:creationId xmlns:a16="http://schemas.microsoft.com/office/drawing/2014/main" id="{57E57D0F-42E9-4E95-ACB7-77BCFC6C2053}"/>
              </a:ext>
            </a:extLst>
          </p:cNvPr>
          <p:cNvSpPr>
            <a:spLocks xmlns:a="http://schemas.openxmlformats.org/drawingml/2006/main" noGrp="1"/>
          </p:cNvSpPr>
          <p:nvPr/>
        </p:nvSpPr>
        <p:spPr>
          <a:xfrm xmlns:a="http://schemas.openxmlformats.org/drawingml/2006/main">
            <a:off x="533400" y="27813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8B5CF6"/>
                </a:solidFill>
                <a:latin typeface="Aptos"/>
                <a:ea typeface="Aptos"/>
                <a:cs typeface="Aptos"/>
              </a:defRPr>
            </a:pPr>
            <a:r>
              <a:rPr sz="1275" b="1">
                <a:solidFill>
                  <a:srgbClr val="8B5CF6"/>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0215C740-9AAE-4512-B039-A76319D327B4}"/>
              </a:ext>
            </a:extLst>
          </p:cNvPr>
          <p:cNvSpPr>
            <a:spLocks xmlns:a="http://schemas.openxmlformats.org/drawingml/2006/main" noGrp="1"/>
          </p:cNvSpPr>
          <p:nvPr/>
        </p:nvSpPr>
        <p:spPr>
          <a:xfrm xmlns:a="http://schemas.openxmlformats.org/drawingml/2006/main">
            <a:off x="533400" y="314325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REQUEST</a:t>
            </a:r>
          </a:p>
        </p:txBody>
      </p:sp>
      <p:sp>
        <p:nvSpPr>
          <p:cNvPr id="8" name="">
            <a:extLst xmlns:a="http://schemas.openxmlformats.org/drawingml/2006/main">
              <a:ext uri="{FF2B5EF4-FFF2-40B4-BE49-F238E27FC236}">
                <a16:creationId xmlns:a16="http://schemas.microsoft.com/office/drawing/2014/main" id="{046D1968-1C46-40B1-9C97-723B078D7F56}"/>
              </a:ext>
            </a:extLst>
          </p:cNvPr>
          <p:cNvSpPr>
            <a:spLocks xmlns:a="http://schemas.openxmlformats.org/drawingml/2006/main" noGrp="1"/>
          </p:cNvSpPr>
          <p:nvPr/>
        </p:nvSpPr>
        <p:spPr>
          <a:xfrm xmlns:a="http://schemas.openxmlformats.org/drawingml/2006/main">
            <a:off x="2800350" y="31337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FF6B6B"/>
                </a:solidFill>
                <a:latin typeface="Aptos"/>
                <a:ea typeface="Aptos"/>
                <a:cs typeface="Aptos"/>
              </a:defRPr>
            </a:pPr>
            <a:r>
              <a:rPr sz="2250" b="1">
                <a:solidFill>
                  <a:srgbClr val="FF6B6B"/>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AF6085A9-2709-4DD3-95EA-FA4C18A4AB89}"/>
              </a:ext>
            </a:extLst>
          </p:cNvPr>
          <p:cNvSpPr>
            <a:spLocks xmlns:a="http://schemas.openxmlformats.org/drawingml/2006/main" noGrp="1"/>
          </p:cNvSpPr>
          <p:nvPr/>
        </p:nvSpPr>
        <p:spPr>
          <a:xfrm xmlns:a="http://schemas.openxmlformats.org/drawingml/2006/main">
            <a:off x="3352800" y="27813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8B5CF6"/>
                </a:solidFill>
                <a:latin typeface="Aptos"/>
                <a:ea typeface="Aptos"/>
                <a:cs typeface="Aptos"/>
              </a:defRPr>
            </a:pPr>
            <a:r>
              <a:rPr sz="1275" b="1">
                <a:solidFill>
                  <a:srgbClr val="8B5CF6"/>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2FA069F9-8AF8-436E-AC98-AF89A1FB792E}"/>
              </a:ext>
            </a:extLst>
          </p:cNvPr>
          <p:cNvSpPr>
            <a:spLocks xmlns:a="http://schemas.openxmlformats.org/drawingml/2006/main" noGrp="1"/>
          </p:cNvSpPr>
          <p:nvPr/>
        </p:nvSpPr>
        <p:spPr>
          <a:xfrm xmlns:a="http://schemas.openxmlformats.org/drawingml/2006/main">
            <a:off x="3352800" y="314325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PAYMENT</a:t>
            </a:r>
          </a:p>
        </p:txBody>
      </p:sp>
      <p:sp>
        <p:nvSpPr>
          <p:cNvPr id="11" name="">
            <a:extLst xmlns:a="http://schemas.openxmlformats.org/drawingml/2006/main">
              <a:ext uri="{FF2B5EF4-FFF2-40B4-BE49-F238E27FC236}">
                <a16:creationId xmlns:a16="http://schemas.microsoft.com/office/drawing/2014/main" id="{BF89142A-9310-4F55-A472-BF2C9D82130D}"/>
              </a:ext>
            </a:extLst>
          </p:cNvPr>
          <p:cNvSpPr>
            <a:spLocks xmlns:a="http://schemas.openxmlformats.org/drawingml/2006/main" noGrp="1"/>
          </p:cNvSpPr>
          <p:nvPr/>
        </p:nvSpPr>
        <p:spPr>
          <a:xfrm xmlns:a="http://schemas.openxmlformats.org/drawingml/2006/main">
            <a:off x="5619750" y="31337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FF6B6B"/>
                </a:solidFill>
                <a:latin typeface="Aptos"/>
                <a:ea typeface="Aptos"/>
                <a:cs typeface="Aptos"/>
              </a:defRPr>
            </a:pPr>
            <a:r>
              <a:rPr sz="2250" b="1">
                <a:solidFill>
                  <a:srgbClr val="FF6B6B"/>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EEF1D66D-5517-48A3-9305-D715AB7F5A34}"/>
              </a:ext>
            </a:extLst>
          </p:cNvPr>
          <p:cNvSpPr>
            <a:spLocks xmlns:a="http://schemas.openxmlformats.org/drawingml/2006/main" noGrp="1"/>
          </p:cNvSpPr>
          <p:nvPr/>
        </p:nvSpPr>
        <p:spPr>
          <a:xfrm xmlns:a="http://schemas.openxmlformats.org/drawingml/2006/main">
            <a:off x="6172200" y="27813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8B5CF6"/>
                </a:solidFill>
                <a:latin typeface="Aptos"/>
                <a:ea typeface="Aptos"/>
                <a:cs typeface="Aptos"/>
              </a:defRPr>
            </a:pPr>
            <a:r>
              <a:rPr sz="1275" b="1">
                <a:solidFill>
                  <a:srgbClr val="8B5CF6"/>
                </a:solidFill>
                <a:latin typeface="Aptos"/>
                <a:ea typeface="Aptos"/>
                <a:cs typeface="Aptos"/>
              </a:rPr>
              <a:t>03</a:t>
            </a:r>
          </a:p>
        </p:txBody>
      </p:sp>
      <p:sp>
        <p:nvSpPr>
          <p:cNvPr id="13" name="">
            <a:extLst xmlns:a="http://schemas.openxmlformats.org/drawingml/2006/main">
              <a:ext uri="{FF2B5EF4-FFF2-40B4-BE49-F238E27FC236}">
                <a16:creationId xmlns:a16="http://schemas.microsoft.com/office/drawing/2014/main" id="{5AEF12C0-2533-4CEB-BAD7-A001EF1AAAEC}"/>
              </a:ext>
            </a:extLst>
          </p:cNvPr>
          <p:cNvSpPr>
            <a:spLocks xmlns:a="http://schemas.openxmlformats.org/drawingml/2006/main" noGrp="1"/>
          </p:cNvSpPr>
          <p:nvPr/>
        </p:nvSpPr>
        <p:spPr>
          <a:xfrm xmlns:a="http://schemas.openxmlformats.org/drawingml/2006/main">
            <a:off x="6172200" y="314325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APPROVAL</a:t>
            </a:r>
          </a:p>
        </p:txBody>
      </p:sp>
      <p:sp>
        <p:nvSpPr>
          <p:cNvPr id="14" name="">
            <a:extLst xmlns:a="http://schemas.openxmlformats.org/drawingml/2006/main">
              <a:ext uri="{FF2B5EF4-FFF2-40B4-BE49-F238E27FC236}">
                <a16:creationId xmlns:a16="http://schemas.microsoft.com/office/drawing/2014/main" id="{B4C12AF4-618B-4862-89B2-9ED988146D24}"/>
              </a:ext>
            </a:extLst>
          </p:cNvPr>
          <p:cNvSpPr>
            <a:spLocks xmlns:a="http://schemas.openxmlformats.org/drawingml/2006/main" noGrp="1"/>
          </p:cNvSpPr>
          <p:nvPr/>
        </p:nvSpPr>
        <p:spPr>
          <a:xfrm xmlns:a="http://schemas.openxmlformats.org/drawingml/2006/main">
            <a:off x="8439150" y="313372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FF6B6B"/>
                </a:solidFill>
                <a:latin typeface="Aptos"/>
                <a:ea typeface="Aptos"/>
                <a:cs typeface="Aptos"/>
              </a:defRPr>
            </a:pPr>
            <a:r>
              <a:rPr sz="2250" b="1">
                <a:solidFill>
                  <a:srgbClr val="FF6B6B"/>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BD0E7E44-BF18-42AD-A1F1-EA3FE77B1373}"/>
              </a:ext>
            </a:extLst>
          </p:cNvPr>
          <p:cNvSpPr>
            <a:spLocks xmlns:a="http://schemas.openxmlformats.org/drawingml/2006/main" noGrp="1"/>
          </p:cNvSpPr>
          <p:nvPr/>
        </p:nvSpPr>
        <p:spPr>
          <a:xfrm xmlns:a="http://schemas.openxmlformats.org/drawingml/2006/main">
            <a:off x="8991600" y="2781300"/>
            <a:ext cx="552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8B5CF6"/>
                </a:solidFill>
                <a:latin typeface="Aptos"/>
                <a:ea typeface="Aptos"/>
                <a:cs typeface="Aptos"/>
              </a:defRPr>
            </a:pPr>
            <a:r>
              <a:rPr sz="1275" b="1">
                <a:solidFill>
                  <a:srgbClr val="8B5CF6"/>
                </a:solidFill>
                <a:latin typeface="Aptos"/>
                <a:ea typeface="Aptos"/>
                <a:cs typeface="Aptos"/>
              </a:rPr>
              <a:t>04</a:t>
            </a:r>
          </a:p>
        </p:txBody>
      </p:sp>
      <p:sp>
        <p:nvSpPr>
          <p:cNvPr id="16" name="">
            <a:extLst xmlns:a="http://schemas.openxmlformats.org/drawingml/2006/main">
              <a:ext uri="{FF2B5EF4-FFF2-40B4-BE49-F238E27FC236}">
                <a16:creationId xmlns:a16="http://schemas.microsoft.com/office/drawing/2014/main" id="{562A6626-7CF1-4B82-A828-3F3A48997125}"/>
              </a:ext>
            </a:extLst>
          </p:cNvPr>
          <p:cNvSpPr>
            <a:spLocks xmlns:a="http://schemas.openxmlformats.org/drawingml/2006/main" noGrp="1"/>
          </p:cNvSpPr>
          <p:nvPr/>
        </p:nvSpPr>
        <p:spPr>
          <a:xfrm xmlns:a="http://schemas.openxmlformats.org/drawingml/2006/main">
            <a:off x="8991600" y="314325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VERIFY</a:t>
            </a:r>
          </a:p>
        </p:txBody>
      </p:sp>
      <p:cxnSp>
        <p:nvCxnSpPr>
          <p:cNvPr id="44" name=""/>
          <p:cNvCxnSpPr/>
          <p:nvPr/>
        </p:nvCxnSpPr>
        <p:spPr>
          <a:xfrm xmlns:a="http://schemas.openxmlformats.org/drawingml/2006/main">
            <a:off x="533400" y="3848100"/>
            <a:ext cx="10629900" cy="0"/>
          </a:xfrm>
          <a:prstGeom xmlns:a="http://schemas.openxmlformats.org/drawingml/2006/main" prst="straightConnector1">
            <a:avLst/>
          </a:prstGeom>
          <a:ln xmlns:a="http://schemas.openxmlformats.org/drawingml/2006/main" w="19050">
            <a:solidFill>
              <a:srgbClr val="27324A"/>
            </a:solidFill>
            <a:prstDash val="solid"/>
          </a:ln>
        </p:spPr>
      </p:cxnSp>
      <p:sp>
        <p:nvSpPr>
          <p:cNvPr id="18" name="">
            <a:extLst xmlns:a="http://schemas.openxmlformats.org/drawingml/2006/main">
              <a:ext uri="{FF2B5EF4-FFF2-40B4-BE49-F238E27FC236}">
                <a16:creationId xmlns:a16="http://schemas.microsoft.com/office/drawing/2014/main" id="{700C1287-CF2F-4902-8680-4DFB986BA095}"/>
              </a:ext>
            </a:extLst>
          </p:cNvPr>
          <p:cNvSpPr>
            <a:spLocks xmlns:a="http://schemas.openxmlformats.org/drawingml/2006/main" noGrp="1"/>
          </p:cNvSpPr>
          <p:nvPr/>
        </p:nvSpPr>
        <p:spPr>
          <a:xfrm xmlns:a="http://schemas.openxmlformats.org/drawingml/2006/main">
            <a:off x="533400" y="4457700"/>
            <a:ext cx="57150" cy="1123950"/>
          </a:xfrm>
          <a:prstGeom xmlns:a="http://schemas.openxmlformats.org/drawingml/2006/main" prst="rect">
            <a:avLst/>
          </a:prstGeom>
          <a:solidFill xmlns:a="http://schemas.openxmlformats.org/drawingml/2006/main">
            <a:srgbClr val="8B5CF6"/>
          </a:solidFill>
          <a:ln xmlns:a="http://schemas.openxmlformats.org/drawingml/2006/main" w="0">
            <a:solidFill>
              <a:srgbClr val="8B5CF6"/>
            </a:solidFill>
            <a:prstDash val="solid"/>
          </a:ln>
        </p:spPr>
      </p:sp>
      <p:sp>
        <p:nvSpPr>
          <p:cNvPr id="19" name="">
            <a:extLst xmlns:a="http://schemas.openxmlformats.org/drawingml/2006/main">
              <a:ext uri="{FF2B5EF4-FFF2-40B4-BE49-F238E27FC236}">
                <a16:creationId xmlns:a16="http://schemas.microsoft.com/office/drawing/2014/main" id="{696B318E-7C10-4688-9889-D671DBE26719}"/>
              </a:ext>
            </a:extLst>
          </p:cNvPr>
          <p:cNvSpPr>
            <a:spLocks xmlns:a="http://schemas.openxmlformats.org/drawingml/2006/main" noGrp="1"/>
          </p:cNvSpPr>
          <p:nvPr/>
        </p:nvSpPr>
        <p:spPr>
          <a:xfrm xmlns:a="http://schemas.openxmlformats.org/drawingml/2006/main">
            <a:off x="762000" y="4457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Students waited</a:t>
            </a:r>
          </a:p>
        </p:txBody>
      </p:sp>
      <p:sp>
        <p:nvSpPr>
          <p:cNvPr id="20" name="">
            <a:extLst xmlns:a="http://schemas.openxmlformats.org/drawingml/2006/main">
              <a:ext uri="{FF2B5EF4-FFF2-40B4-BE49-F238E27FC236}">
                <a16:creationId xmlns:a16="http://schemas.microsoft.com/office/drawing/2014/main" id="{1F87F717-7B01-4B91-B442-549976F9B653}"/>
              </a:ext>
            </a:extLst>
          </p:cNvPr>
          <p:cNvSpPr>
            <a:spLocks xmlns:a="http://schemas.openxmlformats.org/drawingml/2006/main" noGrp="1"/>
          </p:cNvSpPr>
          <p:nvPr/>
        </p:nvSpPr>
        <p:spPr>
          <a:xfrm xmlns:a="http://schemas.openxmlformats.org/drawingml/2006/main">
            <a:off x="762000" y="49149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98A2B3"/>
                </a:solidFill>
                <a:latin typeface="Aptos"/>
                <a:ea typeface="Aptos"/>
                <a:cs typeface="Aptos"/>
              </a:defRPr>
            </a:pPr>
            <a:r>
              <a:rPr sz="1425" b="0">
                <a:solidFill>
                  <a:srgbClr val="98A2B3"/>
                </a:solidFill>
                <a:latin typeface="Aptos"/>
                <a:ea typeface="Aptos"/>
                <a:cs typeface="Aptos"/>
              </a:rPr>
              <a:t>while eligibility and payment were reconciled.</a:t>
            </a:r>
          </a:p>
        </p:txBody>
      </p:sp>
      <p:sp>
        <p:nvSpPr>
          <p:cNvPr id="21" name="">
            <a:extLst xmlns:a="http://schemas.openxmlformats.org/drawingml/2006/main">
              <a:ext uri="{FF2B5EF4-FFF2-40B4-BE49-F238E27FC236}">
                <a16:creationId xmlns:a16="http://schemas.microsoft.com/office/drawing/2014/main" id="{26195955-1557-4F65-914B-ECD563030623}"/>
              </a:ext>
            </a:extLst>
          </p:cNvPr>
          <p:cNvSpPr>
            <a:spLocks xmlns:a="http://schemas.openxmlformats.org/drawingml/2006/main" noGrp="1"/>
          </p:cNvSpPr>
          <p:nvPr/>
        </p:nvSpPr>
        <p:spPr>
          <a:xfrm xmlns:a="http://schemas.openxmlformats.org/drawingml/2006/main">
            <a:off x="4095750" y="4457700"/>
            <a:ext cx="57150" cy="1123950"/>
          </a:xfrm>
          <a:prstGeom xmlns:a="http://schemas.openxmlformats.org/drawingml/2006/main" prst="rect">
            <a:avLst/>
          </a:prstGeom>
          <a:solidFill xmlns:a="http://schemas.openxmlformats.org/drawingml/2006/main">
            <a:srgbClr val="8B5CF6"/>
          </a:solidFill>
          <a:ln xmlns:a="http://schemas.openxmlformats.org/drawingml/2006/main" w="0">
            <a:solidFill>
              <a:srgbClr val="8B5CF6"/>
            </a:solidFill>
            <a:prstDash val="solid"/>
          </a:ln>
        </p:spPr>
      </p:sp>
      <p:sp>
        <p:nvSpPr>
          <p:cNvPr id="22" name="">
            <a:extLst xmlns:a="http://schemas.openxmlformats.org/drawingml/2006/main">
              <a:ext uri="{FF2B5EF4-FFF2-40B4-BE49-F238E27FC236}">
                <a16:creationId xmlns:a16="http://schemas.microsoft.com/office/drawing/2014/main" id="{50578AEB-7E87-4739-8A8F-75701FABC567}"/>
              </a:ext>
            </a:extLst>
          </p:cNvPr>
          <p:cNvSpPr>
            <a:spLocks xmlns:a="http://schemas.openxmlformats.org/drawingml/2006/main" noGrp="1"/>
          </p:cNvSpPr>
          <p:nvPr/>
        </p:nvSpPr>
        <p:spPr>
          <a:xfrm xmlns:a="http://schemas.openxmlformats.org/drawingml/2006/main">
            <a:off x="4324350" y="4457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Administrators searched</a:t>
            </a:r>
          </a:p>
        </p:txBody>
      </p:sp>
      <p:sp>
        <p:nvSpPr>
          <p:cNvPr id="23" name="">
            <a:extLst xmlns:a="http://schemas.openxmlformats.org/drawingml/2006/main">
              <a:ext uri="{FF2B5EF4-FFF2-40B4-BE49-F238E27FC236}">
                <a16:creationId xmlns:a16="http://schemas.microsoft.com/office/drawing/2014/main" id="{74C37D50-3D17-4D26-AE97-02EDEA10499D}"/>
              </a:ext>
            </a:extLst>
          </p:cNvPr>
          <p:cNvSpPr>
            <a:spLocks xmlns:a="http://schemas.openxmlformats.org/drawingml/2006/main" noGrp="1"/>
          </p:cNvSpPr>
          <p:nvPr/>
        </p:nvSpPr>
        <p:spPr>
          <a:xfrm xmlns:a="http://schemas.openxmlformats.org/drawingml/2006/main">
            <a:off x="4324350" y="49149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98A2B3"/>
                </a:solidFill>
                <a:latin typeface="Aptos"/>
                <a:ea typeface="Aptos"/>
                <a:cs typeface="Aptos"/>
              </a:defRPr>
            </a:pPr>
            <a:r>
              <a:rPr sz="1425" b="0">
                <a:solidFill>
                  <a:srgbClr val="98A2B3"/>
                </a:solidFill>
                <a:latin typeface="Aptos"/>
                <a:ea typeface="Aptos"/>
                <a:cs typeface="Aptos"/>
              </a:rPr>
              <a:t>across records with limited shared visibility.</a:t>
            </a:r>
          </a:p>
        </p:txBody>
      </p:sp>
      <p:sp>
        <p:nvSpPr>
          <p:cNvPr id="24" name="">
            <a:extLst xmlns:a="http://schemas.openxmlformats.org/drawingml/2006/main">
              <a:ext uri="{FF2B5EF4-FFF2-40B4-BE49-F238E27FC236}">
                <a16:creationId xmlns:a16="http://schemas.microsoft.com/office/drawing/2014/main" id="{6EDDB823-1418-4AF8-A64F-03C9EA6F6CD4}"/>
              </a:ext>
            </a:extLst>
          </p:cNvPr>
          <p:cNvSpPr>
            <a:spLocks xmlns:a="http://schemas.openxmlformats.org/drawingml/2006/main" noGrp="1"/>
          </p:cNvSpPr>
          <p:nvPr/>
        </p:nvSpPr>
        <p:spPr>
          <a:xfrm xmlns:a="http://schemas.openxmlformats.org/drawingml/2006/main">
            <a:off x="7658100" y="4457700"/>
            <a:ext cx="57150" cy="11239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25" name="">
            <a:extLst xmlns:a="http://schemas.openxmlformats.org/drawingml/2006/main">
              <a:ext uri="{FF2B5EF4-FFF2-40B4-BE49-F238E27FC236}">
                <a16:creationId xmlns:a16="http://schemas.microsoft.com/office/drawing/2014/main" id="{0D39D978-100B-441B-BF70-A8B4C1B038B5}"/>
              </a:ext>
            </a:extLst>
          </p:cNvPr>
          <p:cNvSpPr>
            <a:spLocks xmlns:a="http://schemas.openxmlformats.org/drawingml/2006/main" noGrp="1"/>
          </p:cNvSpPr>
          <p:nvPr/>
        </p:nvSpPr>
        <p:spPr>
          <a:xfrm xmlns:a="http://schemas.openxmlformats.org/drawingml/2006/main">
            <a:off x="7886700" y="445770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Staff needed certainty</a:t>
            </a:r>
          </a:p>
        </p:txBody>
      </p:sp>
      <p:sp>
        <p:nvSpPr>
          <p:cNvPr id="26" name="">
            <a:extLst xmlns:a="http://schemas.openxmlformats.org/drawingml/2006/main">
              <a:ext uri="{FF2B5EF4-FFF2-40B4-BE49-F238E27FC236}">
                <a16:creationId xmlns:a16="http://schemas.microsoft.com/office/drawing/2014/main" id="{D0A1F8F8-6570-4000-9BC5-EDE964C76126}"/>
              </a:ext>
            </a:extLst>
          </p:cNvPr>
          <p:cNvSpPr>
            <a:spLocks xmlns:a="http://schemas.openxmlformats.org/drawingml/2006/main" noGrp="1"/>
          </p:cNvSpPr>
          <p:nvPr/>
        </p:nvSpPr>
        <p:spPr>
          <a:xfrm xmlns:a="http://schemas.openxmlformats.org/drawingml/2006/main">
            <a:off x="7886700" y="49149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98A2B3"/>
                </a:solidFill>
                <a:latin typeface="Aptos"/>
                <a:ea typeface="Aptos"/>
                <a:cs typeface="Aptos"/>
              </a:defRPr>
            </a:pPr>
            <a:r>
              <a:rPr sz="1425" b="0">
                <a:solidFill>
                  <a:srgbClr val="98A2B3"/>
                </a:solidFill>
                <a:latin typeface="Aptos"/>
                <a:ea typeface="Aptos"/>
                <a:cs typeface="Aptos"/>
              </a:rPr>
              <a:t>from a current and auditable permit decision.</a:t>
            </a:r>
          </a:p>
        </p:txBody>
      </p:sp>
      <p:sp>
        <p:nvSpPr>
          <p:cNvPr id="27" name="">
            <a:extLst xmlns:a="http://schemas.openxmlformats.org/drawingml/2006/main">
              <a:ext uri="{FF2B5EF4-FFF2-40B4-BE49-F238E27FC236}">
                <a16:creationId xmlns:a16="http://schemas.microsoft.com/office/drawing/2014/main" id="{34277FCB-A441-4026-B44A-A324B3A4A760}"/>
              </a:ext>
            </a:extLst>
          </p:cNvPr>
          <p:cNvSpPr>
            <a:spLocks xmlns:a="http://schemas.openxmlformats.org/drawingml/2006/main" noGrp="1"/>
          </p:cNvSpPr>
          <p:nvPr/>
        </p:nvSpPr>
        <p:spPr>
          <a:xfrm xmlns:a="http://schemas.openxmlformats.org/drawingml/2006/main">
            <a:off x="533400" y="60198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38BDF8"/>
                </a:solidFill>
                <a:latin typeface="Aptos"/>
                <a:ea typeface="Aptos"/>
                <a:cs typeface="Aptos"/>
              </a:defRPr>
            </a:pPr>
            <a:r>
              <a:rPr sz="1575" b="1">
                <a:solidFill>
                  <a:srgbClr val="38BDF8"/>
                </a:solidFill>
                <a:latin typeface="Aptos"/>
                <a:ea typeface="Aptos"/>
                <a:cs typeface="Aptos"/>
              </a:rPr>
              <a:t>The design target was a connected journey—not simply a digital form.</a:t>
            </a:r>
          </a:p>
        </p:txBody>
      </p:sp>
    </p:spTree>
    <p:extLst>
      <p:ext uri="{BB962C8B-B14F-4D97-AF65-F5344CB8AC3E}">
        <p14:creationId xmlns:p14="http://schemas.microsoft.com/office/powerpoint/2010/main" val="860789608"/>
      </p:ext>
    </p:extLst>
  </p:cSld>
</p:sld>
</file>

<file path=ppt/slides/slide3.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99BA63C-11EB-493F-BA08-990C14DDB1AA}"/>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D4AFF"/>
                </a:solidFill>
                <a:latin typeface="Aptos"/>
                <a:ea typeface="Aptos"/>
                <a:cs typeface="Aptos"/>
              </a:defRPr>
            </a:pPr>
            <a:r>
              <a:rPr sz="975" b="1">
                <a:solidFill>
                  <a:srgbClr val="6D4AFF"/>
                </a:solidFill>
                <a:latin typeface="Aptos"/>
                <a:ea typeface="Aptos"/>
                <a:cs typeface="Aptos"/>
              </a:rPr>
              <a:t>03 / 13</a:t>
            </a:r>
          </a:p>
        </p:txBody>
      </p:sp>
      <p:sp>
        <p:nvSpPr>
          <p:cNvPr id="2" name="">
            <a:extLst xmlns:a="http://schemas.openxmlformats.org/drawingml/2006/main">
              <a:ext uri="{FF2B5EF4-FFF2-40B4-BE49-F238E27FC236}">
                <a16:creationId xmlns:a16="http://schemas.microsoft.com/office/drawing/2014/main" id="{D953085F-3CE0-4722-B6F5-13D1E3D45612}"/>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THE SOLUTION</a:t>
            </a:r>
          </a:p>
        </p:txBody>
      </p:sp>
      <p:sp>
        <p:nvSpPr>
          <p:cNvPr id="3" name="">
            <a:extLst xmlns:a="http://schemas.openxmlformats.org/drawingml/2006/main">
              <a:ext uri="{FF2B5EF4-FFF2-40B4-BE49-F238E27FC236}">
                <a16:creationId xmlns:a16="http://schemas.microsoft.com/office/drawing/2014/main" id="{F143366F-F7D2-45F7-B36B-0277C284ABBC}"/>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07BEE4E5-91C6-4491-8120-4956902F5553}"/>
              </a:ext>
            </a:extLst>
          </p:cNvPr>
          <p:cNvSpPr>
            <a:spLocks xmlns:a="http://schemas.openxmlformats.org/drawingml/2006/main" noGrp="1"/>
          </p:cNvSpPr>
          <p:nvPr/>
        </p:nvSpPr>
        <p:spPr>
          <a:xfrm xmlns:a="http://schemas.openxmlformats.org/drawingml/2006/main">
            <a:off x="533400" y="7429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777"/>
          </a:bodyPr>
          <a:lstStyle xmlns:a="http://schemas.openxmlformats.org/drawingml/2006/main"/>
          <a:p xmlns:a="http://schemas.openxmlformats.org/drawingml/2006/main">
            <a:pPr algn="l">
              <a:lnSpc>
                <a:spcPct val="94000"/>
              </a:lnSpc>
              <a:buNone/>
              <a:defRPr sz="3750" b="1">
                <a:solidFill>
                  <a:srgbClr val="101828"/>
                </a:solidFill>
                <a:latin typeface="Aptos Display"/>
                <a:ea typeface="Aptos Display"/>
                <a:cs typeface="Aptos Display"/>
              </a:defRPr>
            </a:pPr>
            <a:r>
              <a:rPr sz="3750" b="1">
                <a:solidFill>
                  <a:srgbClr val="101828"/>
                </a:solidFill>
                <a:latin typeface="Aptos Display"/>
                <a:ea typeface="Aptos Display"/>
                <a:cs typeface="Aptos Display"/>
              </a:rPr>
              <a:t>Different interfaces now share one controlled source of truth</a:t>
            </a:r>
          </a:p>
        </p:txBody>
      </p:sp>
      <p:sp>
        <p:nvSpPr>
          <p:cNvPr id="5" name="">
            <a:extLst xmlns:a="http://schemas.openxmlformats.org/drawingml/2006/main">
              <a:ext uri="{FF2B5EF4-FFF2-40B4-BE49-F238E27FC236}">
                <a16:creationId xmlns:a16="http://schemas.microsoft.com/office/drawing/2014/main" id="{45E95AD2-E8FD-4E04-A3B1-0EFE19A22273}"/>
              </a:ext>
            </a:extLst>
          </p:cNvPr>
          <p:cNvSpPr>
            <a:spLocks xmlns:a="http://schemas.openxmlformats.org/drawingml/2006/main" noGrp="1"/>
          </p:cNvSpPr>
          <p:nvPr/>
        </p:nvSpPr>
        <p:spPr>
          <a:xfrm xmlns:a="http://schemas.openxmlformats.org/drawingml/2006/main">
            <a:off x="514350" y="161925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150" b="1">
                <a:solidFill>
                  <a:srgbClr val="EDE9FE"/>
                </a:solidFill>
                <a:latin typeface="Aptos Display"/>
                <a:ea typeface="Aptos Display"/>
                <a:cs typeface="Aptos Display"/>
              </a:defRPr>
            </a:pPr>
            <a:r>
              <a:rPr sz="9150" b="1">
                <a:solidFill>
                  <a:srgbClr val="EDE9FE"/>
                </a:solidFill>
                <a:latin typeface="Aptos Display"/>
                <a:ea typeface="Aptos Display"/>
                <a:cs typeface="Aptos Display"/>
              </a:rPr>
              <a:t>ONE</a:t>
            </a:r>
          </a:p>
        </p:txBody>
      </p:sp>
      <p:sp>
        <p:nvSpPr>
          <p:cNvPr id="6" name="">
            <a:extLst xmlns:a="http://schemas.openxmlformats.org/drawingml/2006/main">
              <a:ext uri="{FF2B5EF4-FFF2-40B4-BE49-F238E27FC236}">
                <a16:creationId xmlns:a16="http://schemas.microsoft.com/office/drawing/2014/main" id="{20863ADA-ADA5-4510-B180-5EC9CA3545BF}"/>
              </a:ext>
            </a:extLst>
          </p:cNvPr>
          <p:cNvSpPr>
            <a:spLocks xmlns:a="http://schemas.openxmlformats.org/drawingml/2006/main" noGrp="1"/>
          </p:cNvSpPr>
          <p:nvPr/>
        </p:nvSpPr>
        <p:spPr>
          <a:xfrm xmlns:a="http://schemas.openxmlformats.org/drawingml/2006/main">
            <a:off x="571500" y="272415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6D4AFF"/>
                </a:solidFill>
                <a:latin typeface="Aptos"/>
                <a:ea typeface="Aptos"/>
                <a:cs typeface="Aptos"/>
              </a:defRPr>
            </a:pPr>
            <a:r>
              <a:rPr sz="2475" b="1">
                <a:solidFill>
                  <a:srgbClr val="6D4AFF"/>
                </a:solidFill>
                <a:latin typeface="Aptos"/>
                <a:ea typeface="Aptos"/>
                <a:cs typeface="Aptos"/>
              </a:rPr>
              <a:t>system</a:t>
            </a:r>
          </a:p>
        </p:txBody>
      </p:sp>
      <p:cxnSp>
        <p:nvCxnSpPr>
          <p:cNvPr id="25" name=""/>
          <p:cNvCxnSpPr/>
          <p:nvPr/>
        </p:nvCxnSpPr>
        <p:spPr>
          <a:xfrm xmlns:a="http://schemas.openxmlformats.org/drawingml/2006/main">
            <a:off x="3333750" y="3314700"/>
            <a:ext cx="1238250" cy="0"/>
          </a:xfrm>
          <a:prstGeom xmlns:a="http://schemas.openxmlformats.org/drawingml/2006/main" prst="straightConnector1">
            <a:avLst/>
          </a:prstGeom>
          <a:ln xmlns:a="http://schemas.openxmlformats.org/drawingml/2006/main" w="38100">
            <a:solidFill>
              <a:srgbClr val="6D4AFF"/>
            </a:solidFill>
            <a:prstDash val="solid"/>
          </a:ln>
        </p:spPr>
      </p:cxnSp>
      <p:cxnSp>
        <p:nvCxnSpPr>
          <p:cNvPr id="26" name=""/>
          <p:cNvCxnSpPr/>
          <p:nvPr/>
        </p:nvCxnSpPr>
        <p:spPr>
          <a:xfrm xmlns:a="http://schemas.openxmlformats.org/drawingml/2006/main">
            <a:off x="7620000" y="3314700"/>
            <a:ext cx="1238250" cy="0"/>
          </a:xfrm>
          <a:prstGeom xmlns:a="http://schemas.openxmlformats.org/drawingml/2006/main" prst="straightConnector1">
            <a:avLst/>
          </a:prstGeom>
          <a:ln xmlns:a="http://schemas.openxmlformats.org/drawingml/2006/main" w="38100">
            <a:solidFill>
              <a:srgbClr val="6D4AFF"/>
            </a:solidFill>
            <a:prstDash val="solid"/>
          </a:ln>
        </p:spPr>
      </p:cxnSp>
      <p:cxnSp>
        <p:nvCxnSpPr>
          <p:cNvPr id="27" name=""/>
          <p:cNvCxnSpPr/>
          <p:nvPr/>
        </p:nvCxnSpPr>
        <p:spPr>
          <a:xfrm xmlns:a="http://schemas.openxmlformats.org/drawingml/2006/main">
            <a:off x="6096000" y="4362450"/>
            <a:ext cx="0" cy="914400"/>
          </a:xfrm>
          <a:prstGeom xmlns:a="http://schemas.openxmlformats.org/drawingml/2006/main" prst="straightConnector1">
            <a:avLst/>
          </a:prstGeom>
          <a:ln xmlns:a="http://schemas.openxmlformats.org/drawingml/2006/main" w="38100">
            <a:solidFill>
              <a:srgbClr val="6D4AFF"/>
            </a:solidFill>
            <a:prstDash val="solid"/>
          </a:ln>
        </p:spPr>
      </p:cxnSp>
      <p:sp>
        <p:nvSpPr>
          <p:cNvPr id="10" name="">
            <a:extLst xmlns:a="http://schemas.openxmlformats.org/drawingml/2006/main">
              <a:ext uri="{FF2B5EF4-FFF2-40B4-BE49-F238E27FC236}">
                <a16:creationId xmlns:a16="http://schemas.microsoft.com/office/drawing/2014/main" id="{03BB496B-96D3-4A2C-82D2-13F28A2040F5}"/>
              </a:ext>
            </a:extLst>
          </p:cNvPr>
          <p:cNvSpPr>
            <a:spLocks xmlns:a="http://schemas.openxmlformats.org/drawingml/2006/main" noGrp="1"/>
          </p:cNvSpPr>
          <p:nvPr/>
        </p:nvSpPr>
        <p:spPr>
          <a:xfrm xmlns:a="http://schemas.openxmlformats.org/drawingml/2006/main">
            <a:off x="4572000" y="2228850"/>
            <a:ext cx="3048000" cy="2190750"/>
          </a:xfrm>
          <a:prstGeom xmlns:a="http://schemas.openxmlformats.org/drawingml/2006/main" prst="roundRect">
            <a:avLst>
              <a:gd name="adj" fmla="val 7826"/>
            </a:avLst>
          </a:prstGeom>
          <a:solidFill xmlns:a="http://schemas.openxmlformats.org/drawingml/2006/main">
            <a:srgbClr val="080D1A"/>
          </a:solidFill>
          <a:ln xmlns:a="http://schemas.openxmlformats.org/drawingml/2006/main" w="0">
            <a:solidFill>
              <a:srgbClr val="080D1A"/>
            </a:solidFill>
            <a:prstDash val="solid"/>
          </a:ln>
        </p:spPr>
      </p:sp>
      <p:sp>
        <p:nvSpPr>
          <p:cNvPr id="11" name="">
            <a:extLst xmlns:a="http://schemas.openxmlformats.org/drawingml/2006/main">
              <a:ext uri="{FF2B5EF4-FFF2-40B4-BE49-F238E27FC236}">
                <a16:creationId xmlns:a16="http://schemas.microsoft.com/office/drawing/2014/main" id="{B6E22E50-851C-4798-A69C-5E71AD82A054}"/>
              </a:ext>
            </a:extLst>
          </p:cNvPr>
          <p:cNvSpPr>
            <a:spLocks xmlns:a="http://schemas.openxmlformats.org/drawingml/2006/main" noGrp="1"/>
          </p:cNvSpPr>
          <p:nvPr/>
        </p:nvSpPr>
        <p:spPr>
          <a:xfrm xmlns:a="http://schemas.openxmlformats.org/drawingml/2006/main">
            <a:off x="4953000" y="2590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38BDF8"/>
                </a:solidFill>
                <a:latin typeface="Aptos"/>
                <a:ea typeface="Aptos"/>
                <a:cs typeface="Aptos"/>
              </a:defRPr>
            </a:pPr>
            <a:r>
              <a:rPr sz="1275" b="1">
                <a:solidFill>
                  <a:srgbClr val="38BDF8"/>
                </a:solidFill>
                <a:latin typeface="Aptos"/>
                <a:ea typeface="Aptos"/>
                <a:cs typeface="Aptos"/>
              </a:rPr>
              <a:t>SHARED BACKEND</a:t>
            </a:r>
          </a:p>
        </p:txBody>
      </p:sp>
      <p:sp>
        <p:nvSpPr>
          <p:cNvPr id="12" name="">
            <a:extLst xmlns:a="http://schemas.openxmlformats.org/drawingml/2006/main">
              <a:ext uri="{FF2B5EF4-FFF2-40B4-BE49-F238E27FC236}">
                <a16:creationId xmlns:a16="http://schemas.microsoft.com/office/drawing/2014/main" id="{0E510F12-D486-47F6-B31E-23FF30E3553A}"/>
              </a:ext>
            </a:extLst>
          </p:cNvPr>
          <p:cNvSpPr>
            <a:spLocks xmlns:a="http://schemas.openxmlformats.org/drawingml/2006/main" noGrp="1"/>
          </p:cNvSpPr>
          <p:nvPr/>
        </p:nvSpPr>
        <p:spPr>
          <a:xfrm xmlns:a="http://schemas.openxmlformats.org/drawingml/2006/main">
            <a:off x="4953000" y="3105150"/>
            <a:ext cx="2286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Laravel rules</a:t>
            </a:r>
          </a:p>
          <a:p xmlns:a="http://schemas.openxmlformats.org/drawingml/2006/main">
            <a:pPr algn="ctr">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 one database</a:t>
            </a:r>
          </a:p>
        </p:txBody>
      </p:sp>
      <p:sp>
        <p:nvSpPr>
          <p:cNvPr id="13" name="">
            <a:extLst xmlns:a="http://schemas.openxmlformats.org/drawingml/2006/main">
              <a:ext uri="{FF2B5EF4-FFF2-40B4-BE49-F238E27FC236}">
                <a16:creationId xmlns:a16="http://schemas.microsoft.com/office/drawing/2014/main" id="{8373CC02-6CD5-430B-A602-56B18C41E9CD}"/>
              </a:ext>
            </a:extLst>
          </p:cNvPr>
          <p:cNvSpPr>
            <a:spLocks xmlns:a="http://schemas.openxmlformats.org/drawingml/2006/main" noGrp="1"/>
          </p:cNvSpPr>
          <p:nvPr/>
        </p:nvSpPr>
        <p:spPr>
          <a:xfrm xmlns:a="http://schemas.openxmlformats.org/drawingml/2006/main">
            <a:off x="552450" y="3619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ptos"/>
                <a:ea typeface="Aptos"/>
                <a:cs typeface="Aptos"/>
              </a:defRPr>
            </a:pPr>
            <a:r>
              <a:rPr sz="1875" b="1">
                <a:solidFill>
                  <a:srgbClr val="101828"/>
                </a:solidFill>
                <a:latin typeface="Aptos"/>
                <a:ea typeface="Aptos"/>
                <a:cs typeface="Aptos"/>
              </a:rPr>
              <a:t>WEBSITE</a:t>
            </a:r>
          </a:p>
        </p:txBody>
      </p:sp>
      <p:sp>
        <p:nvSpPr>
          <p:cNvPr id="14" name="">
            <a:extLst xmlns:a="http://schemas.openxmlformats.org/drawingml/2006/main">
              <a:ext uri="{FF2B5EF4-FFF2-40B4-BE49-F238E27FC236}">
                <a16:creationId xmlns:a16="http://schemas.microsoft.com/office/drawing/2014/main" id="{408EFC4D-D769-487D-8A5C-C89B22BFF85C}"/>
              </a:ext>
            </a:extLst>
          </p:cNvPr>
          <p:cNvSpPr>
            <a:spLocks xmlns:a="http://schemas.openxmlformats.org/drawingml/2006/main" noGrp="1"/>
          </p:cNvSpPr>
          <p:nvPr/>
        </p:nvSpPr>
        <p:spPr>
          <a:xfrm xmlns:a="http://schemas.openxmlformats.org/drawingml/2006/main">
            <a:off x="552450" y="405765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67085"/>
                </a:solidFill>
                <a:latin typeface="Aptos"/>
                <a:ea typeface="Aptos"/>
                <a:cs typeface="Aptos"/>
              </a:defRPr>
            </a:pPr>
            <a:r>
              <a:rPr sz="1500" b="0">
                <a:solidFill>
                  <a:srgbClr val="667085"/>
                </a:solidFill>
                <a:latin typeface="Aptos"/>
                <a:ea typeface="Aptos"/>
                <a:cs typeface="Aptos"/>
              </a:rPr>
              <a:t>Public information and administrative operations</a:t>
            </a:r>
          </a:p>
        </p:txBody>
      </p:sp>
      <p:sp>
        <p:nvSpPr>
          <p:cNvPr id="15" name="">
            <a:extLst xmlns:a="http://schemas.openxmlformats.org/drawingml/2006/main">
              <a:ext uri="{FF2B5EF4-FFF2-40B4-BE49-F238E27FC236}">
                <a16:creationId xmlns:a16="http://schemas.microsoft.com/office/drawing/2014/main" id="{EBB43B8D-1FEF-4ED5-AA51-7EBFAAC1F4D0}"/>
              </a:ext>
            </a:extLst>
          </p:cNvPr>
          <p:cNvSpPr>
            <a:spLocks xmlns:a="http://schemas.openxmlformats.org/drawingml/2006/main" noGrp="1"/>
          </p:cNvSpPr>
          <p:nvPr/>
        </p:nvSpPr>
        <p:spPr>
          <a:xfrm xmlns:a="http://schemas.openxmlformats.org/drawingml/2006/main">
            <a:off x="8858250" y="3619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ptos"/>
                <a:ea typeface="Aptos"/>
                <a:cs typeface="Aptos"/>
              </a:defRPr>
            </a:pPr>
            <a:r>
              <a:rPr sz="1875" b="1">
                <a:solidFill>
                  <a:srgbClr val="101828"/>
                </a:solidFill>
                <a:latin typeface="Aptos"/>
                <a:ea typeface="Aptos"/>
                <a:cs typeface="Aptos"/>
              </a:rPr>
              <a:t>MOBILE APP</a:t>
            </a:r>
          </a:p>
        </p:txBody>
      </p:sp>
      <p:sp>
        <p:nvSpPr>
          <p:cNvPr id="16" name="">
            <a:extLst xmlns:a="http://schemas.openxmlformats.org/drawingml/2006/main">
              <a:ext uri="{FF2B5EF4-FFF2-40B4-BE49-F238E27FC236}">
                <a16:creationId xmlns:a16="http://schemas.microsoft.com/office/drawing/2014/main" id="{1C78EE18-4EF7-409D-B354-8C80444ED8CA}"/>
              </a:ext>
            </a:extLst>
          </p:cNvPr>
          <p:cNvSpPr>
            <a:spLocks xmlns:a="http://schemas.openxmlformats.org/drawingml/2006/main" noGrp="1"/>
          </p:cNvSpPr>
          <p:nvPr/>
        </p:nvSpPr>
        <p:spPr>
          <a:xfrm xmlns:a="http://schemas.openxmlformats.org/drawingml/2006/main">
            <a:off x="8858250" y="4057650"/>
            <a:ext cx="2781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667085"/>
                </a:solidFill>
                <a:latin typeface="Aptos"/>
                <a:ea typeface="Aptos"/>
                <a:cs typeface="Aptos"/>
              </a:defRPr>
            </a:pPr>
            <a:r>
              <a:rPr sz="1500" b="0">
                <a:solidFill>
                  <a:srgbClr val="667085"/>
                </a:solidFill>
                <a:latin typeface="Aptos"/>
                <a:ea typeface="Aptos"/>
                <a:cs typeface="Aptos"/>
              </a:rPr>
              <a:t>Student services and authorized staff verification</a:t>
            </a:r>
          </a:p>
        </p:txBody>
      </p:sp>
      <p:sp>
        <p:nvSpPr>
          <p:cNvPr id="17" name="">
            <a:extLst xmlns:a="http://schemas.openxmlformats.org/drawingml/2006/main">
              <a:ext uri="{FF2B5EF4-FFF2-40B4-BE49-F238E27FC236}">
                <a16:creationId xmlns:a16="http://schemas.microsoft.com/office/drawing/2014/main" id="{224D6D3F-58AC-474C-8DC1-14EC5C4858FC}"/>
              </a:ext>
            </a:extLst>
          </p:cNvPr>
          <p:cNvSpPr>
            <a:spLocks xmlns:a="http://schemas.openxmlformats.org/drawingml/2006/main" noGrp="1"/>
          </p:cNvSpPr>
          <p:nvPr/>
        </p:nvSpPr>
        <p:spPr>
          <a:xfrm xmlns:a="http://schemas.openxmlformats.org/drawingml/2006/main">
            <a:off x="4800600" y="544830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047857"/>
                </a:solidFill>
                <a:latin typeface="Aptos"/>
                <a:ea typeface="Aptos"/>
                <a:cs typeface="Aptos"/>
              </a:defRPr>
            </a:pPr>
            <a:r>
              <a:rPr sz="1350" b="1">
                <a:solidFill>
                  <a:srgbClr val="047857"/>
                </a:solidFill>
                <a:latin typeface="Aptos"/>
                <a:ea typeface="Aptos"/>
                <a:cs typeface="Aptos"/>
              </a:rPr>
              <a:t>CURRENT DECISION</a:t>
            </a:r>
          </a:p>
        </p:txBody>
      </p:sp>
      <p:sp>
        <p:nvSpPr>
          <p:cNvPr id="18" name="">
            <a:extLst xmlns:a="http://schemas.openxmlformats.org/drawingml/2006/main">
              <a:ext uri="{FF2B5EF4-FFF2-40B4-BE49-F238E27FC236}">
                <a16:creationId xmlns:a16="http://schemas.microsoft.com/office/drawing/2014/main" id="{A74D8848-1D57-410B-B2F4-B04A56195B73}"/>
              </a:ext>
            </a:extLst>
          </p:cNvPr>
          <p:cNvSpPr>
            <a:spLocks xmlns:a="http://schemas.openxmlformats.org/drawingml/2006/main" noGrp="1"/>
          </p:cNvSpPr>
          <p:nvPr/>
        </p:nvSpPr>
        <p:spPr>
          <a:xfrm xmlns:a="http://schemas.openxmlformats.org/drawingml/2006/main">
            <a:off x="4095750" y="58293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67085"/>
                </a:solidFill>
                <a:latin typeface="Aptos"/>
                <a:ea typeface="Aptos"/>
                <a:cs typeface="Aptos"/>
              </a:defRPr>
            </a:pPr>
            <a:r>
              <a:rPr sz="1425" b="0">
                <a:solidFill>
                  <a:srgbClr val="667085"/>
                </a:solidFill>
                <a:latin typeface="Aptos"/>
                <a:ea typeface="Aptos"/>
                <a:cs typeface="Aptos"/>
              </a:rPr>
              <a:t>Same permit • payment • role • audit state</a:t>
            </a:r>
          </a:p>
        </p:txBody>
      </p:sp>
    </p:spTree>
    <p:extLst>
      <p:ext uri="{BB962C8B-B14F-4D97-AF65-F5344CB8AC3E}">
        <p14:creationId xmlns:p14="http://schemas.microsoft.com/office/powerpoint/2010/main" val="1684836416"/>
      </p:ext>
    </p:extLst>
  </p:cSld>
</p:sld>
</file>

<file path=ppt/slides/slide4.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811A1E2-7745-481B-BDC3-E6B412098998}"/>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5CF6"/>
                </a:solidFill>
                <a:latin typeface="Aptos"/>
                <a:ea typeface="Aptos"/>
                <a:cs typeface="Aptos"/>
              </a:defRPr>
            </a:pPr>
            <a:r>
              <a:rPr sz="975" b="1">
                <a:solidFill>
                  <a:srgbClr val="8B5CF6"/>
                </a:solidFill>
                <a:latin typeface="Aptos"/>
                <a:ea typeface="Aptos"/>
                <a:cs typeface="Aptos"/>
              </a:rPr>
              <a:t>04 / 13</a:t>
            </a:r>
          </a:p>
        </p:txBody>
      </p:sp>
      <p:sp>
        <p:nvSpPr>
          <p:cNvPr id="2" name="">
            <a:extLst xmlns:a="http://schemas.openxmlformats.org/drawingml/2006/main">
              <a:ext uri="{FF2B5EF4-FFF2-40B4-BE49-F238E27FC236}">
                <a16:creationId xmlns:a16="http://schemas.microsoft.com/office/drawing/2014/main" id="{4FE34CB2-8924-4B19-8084-EFA6F22D0372}"/>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ARCHITECTURE</a:t>
            </a:r>
          </a:p>
        </p:txBody>
      </p:sp>
      <p:sp>
        <p:nvSpPr>
          <p:cNvPr id="3" name="">
            <a:extLst xmlns:a="http://schemas.openxmlformats.org/drawingml/2006/main">
              <a:ext uri="{FF2B5EF4-FFF2-40B4-BE49-F238E27FC236}">
                <a16:creationId xmlns:a16="http://schemas.microsoft.com/office/drawing/2014/main" id="{79E9E8F8-3A6F-4E10-AF57-592FBC691A92}"/>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D4DAE6"/>
                </a:solidFill>
                <a:latin typeface="Aptos"/>
                <a:ea typeface="Aptos"/>
                <a:cs typeface="Aptos"/>
              </a:defRPr>
            </a:pPr>
            <a:r>
              <a:rPr sz="825" b="1">
                <a:solidFill>
                  <a:srgbClr val="D4DAE6"/>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A8D19B6A-FC7D-42AF-B7D8-1C3D593C4253}"/>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Laravel is the control layer for every channel</a:t>
            </a:r>
          </a:p>
        </p:txBody>
      </p:sp>
      <p:sp>
        <p:nvSpPr>
          <p:cNvPr id="5" name="">
            <a:extLst xmlns:a="http://schemas.openxmlformats.org/drawingml/2006/main">
              <a:ext uri="{FF2B5EF4-FFF2-40B4-BE49-F238E27FC236}">
                <a16:creationId xmlns:a16="http://schemas.microsoft.com/office/drawing/2014/main" id="{1512A526-C302-452E-B15C-C021FF055EC5}"/>
              </a:ext>
            </a:extLst>
          </p:cNvPr>
          <p:cNvSpPr>
            <a:spLocks xmlns:a="http://schemas.openxmlformats.org/drawingml/2006/main" noGrp="1"/>
          </p:cNvSpPr>
          <p:nvPr/>
        </p:nvSpPr>
        <p:spPr>
          <a:xfrm xmlns:a="http://schemas.openxmlformats.org/drawingml/2006/main">
            <a:off x="533400" y="16954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98A2B3"/>
                </a:solidFill>
                <a:latin typeface="Aptos"/>
                <a:ea typeface="Aptos"/>
                <a:cs typeface="Aptos"/>
              </a:defRPr>
            </a:pPr>
            <a:r>
              <a:rPr sz="1725" b="0">
                <a:solidFill>
                  <a:srgbClr val="98A2B3"/>
                </a:solidFill>
                <a:latin typeface="Aptos"/>
                <a:ea typeface="Aptos"/>
                <a:cs typeface="Aptos"/>
              </a:rPr>
              <a:t>The interfaces stay independent; the business rules stay centralized.</a:t>
            </a:r>
          </a:p>
        </p:txBody>
      </p:sp>
      <p:cxnSp>
        <p:nvCxnSpPr>
          <p:cNvPr id="42" name=""/>
          <p:cNvCxnSpPr/>
          <p:nvPr/>
        </p:nvCxnSpPr>
        <p:spPr>
          <a:xfrm xmlns:a="http://schemas.openxmlformats.org/drawingml/2006/main">
            <a:off x="3009900" y="3295650"/>
            <a:ext cx="1676400" cy="0"/>
          </a:xfrm>
          <a:prstGeom xmlns:a="http://schemas.openxmlformats.org/drawingml/2006/main" prst="straightConnector1">
            <a:avLst/>
          </a:prstGeom>
          <a:ln xmlns:a="http://schemas.openxmlformats.org/drawingml/2006/main" w="28575">
            <a:solidFill>
              <a:srgbClr val="27324A"/>
            </a:solidFill>
            <a:prstDash val="solid"/>
          </a:ln>
        </p:spPr>
      </p:cxnSp>
      <p:cxnSp>
        <p:nvCxnSpPr>
          <p:cNvPr id="43" name=""/>
          <p:cNvCxnSpPr/>
          <p:nvPr/>
        </p:nvCxnSpPr>
        <p:spPr>
          <a:xfrm xmlns:a="http://schemas.openxmlformats.org/drawingml/2006/main">
            <a:off x="3009900" y="4686300"/>
            <a:ext cx="838200" cy="0"/>
          </a:xfrm>
          <a:prstGeom xmlns:a="http://schemas.openxmlformats.org/drawingml/2006/main" prst="straightConnector1">
            <a:avLst/>
          </a:prstGeom>
          <a:ln xmlns:a="http://schemas.openxmlformats.org/drawingml/2006/main" w="28575">
            <a:solidFill>
              <a:srgbClr val="27324A"/>
            </a:solidFill>
            <a:prstDash val="solid"/>
          </a:ln>
        </p:spPr>
      </p:cxnSp>
      <p:cxnSp>
        <p:nvCxnSpPr>
          <p:cNvPr id="44" name=""/>
          <p:cNvCxnSpPr/>
          <p:nvPr/>
        </p:nvCxnSpPr>
        <p:spPr>
          <a:xfrm xmlns:a="http://schemas.openxmlformats.org/drawingml/2006/main">
            <a:off x="3848100" y="3295650"/>
            <a:ext cx="0" cy="1390650"/>
          </a:xfrm>
          <a:prstGeom xmlns:a="http://schemas.openxmlformats.org/drawingml/2006/main" prst="straightConnector1">
            <a:avLst/>
          </a:prstGeom>
          <a:ln xmlns:a="http://schemas.openxmlformats.org/drawingml/2006/main" w="28575">
            <a:solidFill>
              <a:srgbClr val="27324A"/>
            </a:solidFill>
            <a:prstDash val="solid"/>
          </a:ln>
        </p:spPr>
      </p:cxnSp>
      <p:cxnSp>
        <p:nvCxnSpPr>
          <p:cNvPr id="45" name=""/>
          <p:cNvCxnSpPr/>
          <p:nvPr/>
        </p:nvCxnSpPr>
        <p:spPr>
          <a:xfrm xmlns:a="http://schemas.openxmlformats.org/drawingml/2006/main">
            <a:off x="7505700" y="3295650"/>
            <a:ext cx="1562100" cy="0"/>
          </a:xfrm>
          <a:prstGeom xmlns:a="http://schemas.openxmlformats.org/drawingml/2006/main" prst="straightConnector1">
            <a:avLst/>
          </a:prstGeom>
          <a:ln xmlns:a="http://schemas.openxmlformats.org/drawingml/2006/main" w="28575">
            <a:solidFill>
              <a:srgbClr val="27324A"/>
            </a:solidFill>
            <a:prstDash val="solid"/>
          </a:ln>
        </p:spPr>
      </p:cxnSp>
      <p:cxnSp>
        <p:nvCxnSpPr>
          <p:cNvPr id="46" name=""/>
          <p:cNvCxnSpPr/>
          <p:nvPr/>
        </p:nvCxnSpPr>
        <p:spPr>
          <a:xfrm xmlns:a="http://schemas.openxmlformats.org/drawingml/2006/main">
            <a:off x="6096000" y="4171950"/>
            <a:ext cx="0" cy="876300"/>
          </a:xfrm>
          <a:prstGeom xmlns:a="http://schemas.openxmlformats.org/drawingml/2006/main" prst="straightConnector1">
            <a:avLst/>
          </a:prstGeom>
          <a:ln xmlns:a="http://schemas.openxmlformats.org/drawingml/2006/main" w="28575">
            <a:solidFill>
              <a:srgbClr val="27324A"/>
            </a:solidFill>
            <a:prstDash val="solid"/>
          </a:ln>
        </p:spPr>
      </p:cxnSp>
      <p:cxnSp>
        <p:nvCxnSpPr>
          <p:cNvPr id="47" name=""/>
          <p:cNvCxnSpPr/>
          <p:nvPr/>
        </p:nvCxnSpPr>
        <p:spPr>
          <a:xfrm xmlns:a="http://schemas.openxmlformats.org/drawingml/2006/main">
            <a:off x="7239000" y="4171950"/>
            <a:ext cx="2286000" cy="876300"/>
          </a:xfrm>
          <a:prstGeom xmlns:a="http://schemas.openxmlformats.org/drawingml/2006/main" prst="straightConnector1">
            <a:avLst/>
          </a:prstGeom>
          <a:ln xmlns:a="http://schemas.openxmlformats.org/drawingml/2006/main" w="28575">
            <a:solidFill>
              <a:srgbClr val="27324A"/>
            </a:solidFill>
            <a:prstDash val="solid"/>
          </a:ln>
        </p:spPr>
      </p:cxnSp>
      <p:sp>
        <p:nvSpPr>
          <p:cNvPr id="12" name="">
            <a:extLst xmlns:a="http://schemas.openxmlformats.org/drawingml/2006/main">
              <a:ext uri="{FF2B5EF4-FFF2-40B4-BE49-F238E27FC236}">
                <a16:creationId xmlns:a16="http://schemas.microsoft.com/office/drawing/2014/main" id="{14AF97AF-A469-4E96-8922-1819E4756A58}"/>
              </a:ext>
            </a:extLst>
          </p:cNvPr>
          <p:cNvSpPr>
            <a:spLocks xmlns:a="http://schemas.openxmlformats.org/drawingml/2006/main" noGrp="1"/>
          </p:cNvSpPr>
          <p:nvPr/>
        </p:nvSpPr>
        <p:spPr>
          <a:xfrm xmlns:a="http://schemas.openxmlformats.org/drawingml/2006/main">
            <a:off x="533400" y="2724150"/>
            <a:ext cx="2476500" cy="1143000"/>
          </a:xfrm>
          <a:prstGeom xmlns:a="http://schemas.openxmlformats.org/drawingml/2006/main" prst="roundRect">
            <a:avLst>
              <a:gd name="adj" fmla="val 11667"/>
            </a:avLst>
          </a:prstGeom>
          <a:solidFill xmlns:a="http://schemas.openxmlformats.org/drawingml/2006/main">
            <a:srgbClr val="1A2235"/>
          </a:solidFill>
          <a:ln xmlns:a="http://schemas.openxmlformats.org/drawingml/2006/main" w="9525">
            <a:solidFill>
              <a:srgbClr val="27324A"/>
            </a:solidFill>
            <a:prstDash val="solid"/>
          </a:ln>
        </p:spPr>
      </p:sp>
      <p:sp>
        <p:nvSpPr>
          <p:cNvPr id="13" name="">
            <a:extLst xmlns:a="http://schemas.openxmlformats.org/drawingml/2006/main">
              <a:ext uri="{FF2B5EF4-FFF2-40B4-BE49-F238E27FC236}">
                <a16:creationId xmlns:a16="http://schemas.microsoft.com/office/drawing/2014/main" id="{5B3C5475-E0A7-4128-8A2C-02F27B809612}"/>
              </a:ext>
            </a:extLst>
          </p:cNvPr>
          <p:cNvSpPr>
            <a:spLocks xmlns:a="http://schemas.openxmlformats.org/drawingml/2006/main" noGrp="1"/>
          </p:cNvSpPr>
          <p:nvPr/>
        </p:nvSpPr>
        <p:spPr>
          <a:xfrm xmlns:a="http://schemas.openxmlformats.org/drawingml/2006/main">
            <a:off x="533400" y="2724150"/>
            <a:ext cx="76200" cy="1143000"/>
          </a:xfrm>
          <a:prstGeom xmlns:a="http://schemas.openxmlformats.org/drawingml/2006/main" prst="rect">
            <a:avLst/>
          </a:prstGeom>
          <a:solidFill xmlns:a="http://schemas.openxmlformats.org/drawingml/2006/main">
            <a:srgbClr val="8B5CF6"/>
          </a:solidFill>
          <a:ln xmlns:a="http://schemas.openxmlformats.org/drawingml/2006/main" w="0">
            <a:solidFill>
              <a:srgbClr val="8B5CF6"/>
            </a:solidFill>
            <a:prstDash val="solid"/>
          </a:ln>
        </p:spPr>
      </p:sp>
      <p:sp>
        <p:nvSpPr>
          <p:cNvPr id="14" name="">
            <a:extLst xmlns:a="http://schemas.openxmlformats.org/drawingml/2006/main">
              <a:ext uri="{FF2B5EF4-FFF2-40B4-BE49-F238E27FC236}">
                <a16:creationId xmlns:a16="http://schemas.microsoft.com/office/drawing/2014/main" id="{33E810DF-B0D1-4465-A36B-B867F5B04EE9}"/>
              </a:ext>
            </a:extLst>
          </p:cNvPr>
          <p:cNvSpPr>
            <a:spLocks xmlns:a="http://schemas.openxmlformats.org/drawingml/2006/main" noGrp="1"/>
          </p:cNvSpPr>
          <p:nvPr/>
        </p:nvSpPr>
        <p:spPr>
          <a:xfrm xmlns:a="http://schemas.openxmlformats.org/drawingml/2006/main">
            <a:off x="800100" y="29432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Website</a:t>
            </a:r>
          </a:p>
        </p:txBody>
      </p:sp>
      <p:sp>
        <p:nvSpPr>
          <p:cNvPr id="15" name="">
            <a:extLst xmlns:a="http://schemas.openxmlformats.org/drawingml/2006/main">
              <a:ext uri="{FF2B5EF4-FFF2-40B4-BE49-F238E27FC236}">
                <a16:creationId xmlns:a16="http://schemas.microsoft.com/office/drawing/2014/main" id="{C771D3C0-7546-4644-81DE-D7318C22D0CC}"/>
              </a:ext>
            </a:extLst>
          </p:cNvPr>
          <p:cNvSpPr>
            <a:spLocks xmlns:a="http://schemas.openxmlformats.org/drawingml/2006/main" noGrp="1"/>
          </p:cNvSpPr>
          <p:nvPr/>
        </p:nvSpPr>
        <p:spPr>
          <a:xfrm xmlns:a="http://schemas.openxmlformats.org/drawingml/2006/main">
            <a:off x="800100" y="33718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98A2B3"/>
                </a:solidFill>
                <a:latin typeface="Aptos"/>
                <a:ea typeface="Aptos"/>
                <a:cs typeface="Aptos"/>
              </a:defRPr>
            </a:pPr>
            <a:r>
              <a:rPr sz="1275" b="0">
                <a:solidFill>
                  <a:srgbClr val="98A2B3"/>
                </a:solidFill>
                <a:latin typeface="Aptos"/>
                <a:ea typeface="Aptos"/>
                <a:cs typeface="Aptos"/>
              </a:rPr>
              <a:t>Inertia • React • TypeScript</a:t>
            </a:r>
          </a:p>
        </p:txBody>
      </p:sp>
      <p:sp>
        <p:nvSpPr>
          <p:cNvPr id="16" name="">
            <a:extLst xmlns:a="http://schemas.openxmlformats.org/drawingml/2006/main">
              <a:ext uri="{FF2B5EF4-FFF2-40B4-BE49-F238E27FC236}">
                <a16:creationId xmlns:a16="http://schemas.microsoft.com/office/drawing/2014/main" id="{33EFB777-5F33-4190-9CC2-6F22ADB8568C}"/>
              </a:ext>
            </a:extLst>
          </p:cNvPr>
          <p:cNvSpPr>
            <a:spLocks xmlns:a="http://schemas.openxmlformats.org/drawingml/2006/main" noGrp="1"/>
          </p:cNvSpPr>
          <p:nvPr/>
        </p:nvSpPr>
        <p:spPr>
          <a:xfrm xmlns:a="http://schemas.openxmlformats.org/drawingml/2006/main">
            <a:off x="533400" y="4114800"/>
            <a:ext cx="2476500" cy="1143000"/>
          </a:xfrm>
          <a:prstGeom xmlns:a="http://schemas.openxmlformats.org/drawingml/2006/main" prst="roundRect">
            <a:avLst>
              <a:gd name="adj" fmla="val 11667"/>
            </a:avLst>
          </a:prstGeom>
          <a:solidFill xmlns:a="http://schemas.openxmlformats.org/drawingml/2006/main">
            <a:srgbClr val="1A2235"/>
          </a:solidFill>
          <a:ln xmlns:a="http://schemas.openxmlformats.org/drawingml/2006/main" w="9525">
            <a:solidFill>
              <a:srgbClr val="27324A"/>
            </a:solidFill>
            <a:prstDash val="solid"/>
          </a:ln>
        </p:spPr>
      </p:sp>
      <p:sp>
        <p:nvSpPr>
          <p:cNvPr id="17" name="">
            <a:extLst xmlns:a="http://schemas.openxmlformats.org/drawingml/2006/main">
              <a:ext uri="{FF2B5EF4-FFF2-40B4-BE49-F238E27FC236}">
                <a16:creationId xmlns:a16="http://schemas.microsoft.com/office/drawing/2014/main" id="{5CB0AF2B-121C-400C-A20E-254D92B44E40}"/>
              </a:ext>
            </a:extLst>
          </p:cNvPr>
          <p:cNvSpPr>
            <a:spLocks xmlns:a="http://schemas.openxmlformats.org/drawingml/2006/main" noGrp="1"/>
          </p:cNvSpPr>
          <p:nvPr/>
        </p:nvSpPr>
        <p:spPr>
          <a:xfrm xmlns:a="http://schemas.openxmlformats.org/drawingml/2006/main">
            <a:off x="533400" y="4114800"/>
            <a:ext cx="76200" cy="1143000"/>
          </a:xfrm>
          <a:prstGeom xmlns:a="http://schemas.openxmlformats.org/drawingml/2006/main" prst="rect">
            <a:avLst/>
          </a:prstGeom>
          <a:solidFill xmlns:a="http://schemas.openxmlformats.org/drawingml/2006/main">
            <a:srgbClr val="38BDF8"/>
          </a:solidFill>
          <a:ln xmlns:a="http://schemas.openxmlformats.org/drawingml/2006/main" w="0">
            <a:solidFill>
              <a:srgbClr val="38BDF8"/>
            </a:solidFill>
            <a:prstDash val="solid"/>
          </a:ln>
        </p:spPr>
      </p:sp>
      <p:sp>
        <p:nvSpPr>
          <p:cNvPr id="18" name="">
            <a:extLst xmlns:a="http://schemas.openxmlformats.org/drawingml/2006/main">
              <a:ext uri="{FF2B5EF4-FFF2-40B4-BE49-F238E27FC236}">
                <a16:creationId xmlns:a16="http://schemas.microsoft.com/office/drawing/2014/main" id="{E2207B3D-5D1E-4351-805F-501316DDA610}"/>
              </a:ext>
            </a:extLst>
          </p:cNvPr>
          <p:cNvSpPr>
            <a:spLocks xmlns:a="http://schemas.openxmlformats.org/drawingml/2006/main" noGrp="1"/>
          </p:cNvSpPr>
          <p:nvPr/>
        </p:nvSpPr>
        <p:spPr>
          <a:xfrm xmlns:a="http://schemas.openxmlformats.org/drawingml/2006/main">
            <a:off x="800100" y="433387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Mobile app</a:t>
            </a:r>
          </a:p>
        </p:txBody>
      </p:sp>
      <p:sp>
        <p:nvSpPr>
          <p:cNvPr id="19" name="">
            <a:extLst xmlns:a="http://schemas.openxmlformats.org/drawingml/2006/main">
              <a:ext uri="{FF2B5EF4-FFF2-40B4-BE49-F238E27FC236}">
                <a16:creationId xmlns:a16="http://schemas.microsoft.com/office/drawing/2014/main" id="{0CD736DF-99ED-424D-8D00-DCEB2BFABDD7}"/>
              </a:ext>
            </a:extLst>
          </p:cNvPr>
          <p:cNvSpPr>
            <a:spLocks xmlns:a="http://schemas.openxmlformats.org/drawingml/2006/main" noGrp="1"/>
          </p:cNvSpPr>
          <p:nvPr/>
        </p:nvSpPr>
        <p:spPr>
          <a:xfrm xmlns:a="http://schemas.openxmlformats.org/drawingml/2006/main">
            <a:off x="800100" y="47625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98A2B3"/>
                </a:solidFill>
                <a:latin typeface="Aptos"/>
                <a:ea typeface="Aptos"/>
                <a:cs typeface="Aptos"/>
              </a:defRPr>
            </a:pPr>
            <a:r>
              <a:rPr sz="1275" b="0">
                <a:solidFill>
                  <a:srgbClr val="98A2B3"/>
                </a:solidFill>
                <a:latin typeface="Aptos"/>
                <a:ea typeface="Aptos"/>
                <a:cs typeface="Aptos"/>
              </a:rPr>
              <a:t>Expo React Native</a:t>
            </a:r>
          </a:p>
        </p:txBody>
      </p:sp>
      <p:sp>
        <p:nvSpPr>
          <p:cNvPr id="20" name="">
            <a:extLst xmlns:a="http://schemas.openxmlformats.org/drawingml/2006/main">
              <a:ext uri="{FF2B5EF4-FFF2-40B4-BE49-F238E27FC236}">
                <a16:creationId xmlns:a16="http://schemas.microsoft.com/office/drawing/2014/main" id="{B0EADFA2-5C54-4FFD-8E09-EDBE1FA9DFEB}"/>
              </a:ext>
            </a:extLst>
          </p:cNvPr>
          <p:cNvSpPr>
            <a:spLocks xmlns:a="http://schemas.openxmlformats.org/drawingml/2006/main" noGrp="1"/>
          </p:cNvSpPr>
          <p:nvPr/>
        </p:nvSpPr>
        <p:spPr>
          <a:xfrm xmlns:a="http://schemas.openxmlformats.org/drawingml/2006/main">
            <a:off x="4686300" y="2400300"/>
            <a:ext cx="2819400" cy="1771650"/>
          </a:xfrm>
          <a:prstGeom xmlns:a="http://schemas.openxmlformats.org/drawingml/2006/main" prst="roundRect">
            <a:avLst>
              <a:gd name="adj" fmla="val 7527"/>
            </a:avLst>
          </a:prstGeom>
          <a:solidFill xmlns:a="http://schemas.openxmlformats.org/drawingml/2006/main">
            <a:srgbClr val="6D4AFF"/>
          </a:solidFill>
          <a:ln xmlns:a="http://schemas.openxmlformats.org/drawingml/2006/main" w="9525">
            <a:solidFill>
              <a:srgbClr val="27324A"/>
            </a:solidFill>
            <a:prstDash val="solid"/>
          </a:ln>
        </p:spPr>
      </p:sp>
      <p:sp>
        <p:nvSpPr>
          <p:cNvPr id="21" name="">
            <a:extLst xmlns:a="http://schemas.openxmlformats.org/drawingml/2006/main">
              <a:ext uri="{FF2B5EF4-FFF2-40B4-BE49-F238E27FC236}">
                <a16:creationId xmlns:a16="http://schemas.microsoft.com/office/drawing/2014/main" id="{C305C0EE-5AA3-4394-979D-A167F5B34A0B}"/>
              </a:ext>
            </a:extLst>
          </p:cNvPr>
          <p:cNvSpPr>
            <a:spLocks xmlns:a="http://schemas.openxmlformats.org/drawingml/2006/main" noGrp="1"/>
          </p:cNvSpPr>
          <p:nvPr/>
        </p:nvSpPr>
        <p:spPr>
          <a:xfrm xmlns:a="http://schemas.openxmlformats.org/drawingml/2006/main">
            <a:off x="4686300" y="2400300"/>
            <a:ext cx="76200" cy="1771650"/>
          </a:xfrm>
          <a:prstGeom xmlns:a="http://schemas.openxmlformats.org/drawingml/2006/main" prst="rect">
            <a:avLst/>
          </a:prstGeom>
          <a:solidFill xmlns:a="http://schemas.openxmlformats.org/drawingml/2006/main">
            <a:srgbClr val="6D4AFF"/>
          </a:solidFill>
          <a:ln xmlns:a="http://schemas.openxmlformats.org/drawingml/2006/main" w="0">
            <a:solidFill>
              <a:srgbClr val="6D4AFF"/>
            </a:solidFill>
            <a:prstDash val="solid"/>
          </a:ln>
        </p:spPr>
      </p:sp>
      <p:sp>
        <p:nvSpPr>
          <p:cNvPr id="22" name="">
            <a:extLst xmlns:a="http://schemas.openxmlformats.org/drawingml/2006/main">
              <a:ext uri="{FF2B5EF4-FFF2-40B4-BE49-F238E27FC236}">
                <a16:creationId xmlns:a16="http://schemas.microsoft.com/office/drawing/2014/main" id="{70C9DEC3-3734-4FF0-B42A-C02CF466C240}"/>
              </a:ext>
            </a:extLst>
          </p:cNvPr>
          <p:cNvSpPr>
            <a:spLocks xmlns:a="http://schemas.openxmlformats.org/drawingml/2006/main" noGrp="1"/>
          </p:cNvSpPr>
          <p:nvPr/>
        </p:nvSpPr>
        <p:spPr>
          <a:xfrm xmlns:a="http://schemas.openxmlformats.org/drawingml/2006/main">
            <a:off x="4953000" y="2619375"/>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Laravel 13</a:t>
            </a:r>
          </a:p>
        </p:txBody>
      </p:sp>
      <p:sp>
        <p:nvSpPr>
          <p:cNvPr id="23" name="">
            <a:extLst xmlns:a="http://schemas.openxmlformats.org/drawingml/2006/main">
              <a:ext uri="{FF2B5EF4-FFF2-40B4-BE49-F238E27FC236}">
                <a16:creationId xmlns:a16="http://schemas.microsoft.com/office/drawing/2014/main" id="{5A2E0EA5-6570-47AC-B55A-5CA6B6E66243}"/>
              </a:ext>
            </a:extLst>
          </p:cNvPr>
          <p:cNvSpPr>
            <a:spLocks xmlns:a="http://schemas.openxmlformats.org/drawingml/2006/main" noGrp="1"/>
          </p:cNvSpPr>
          <p:nvPr/>
        </p:nvSpPr>
        <p:spPr>
          <a:xfrm xmlns:a="http://schemas.openxmlformats.org/drawingml/2006/main">
            <a:off x="4953000" y="304800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98A2B3"/>
                </a:solidFill>
                <a:latin typeface="Aptos"/>
                <a:ea typeface="Aptos"/>
                <a:cs typeface="Aptos"/>
              </a:defRPr>
            </a:pPr>
            <a:r>
              <a:rPr sz="1275" b="0">
                <a:solidFill>
                  <a:srgbClr val="98A2B3"/>
                </a:solidFill>
                <a:latin typeface="Aptos"/>
                <a:ea typeface="Aptos"/>
                <a:cs typeface="Aptos"/>
              </a:rPr>
              <a:t>Application + API</a:t>
            </a:r>
          </a:p>
          <a:p xmlns:a="http://schemas.openxmlformats.org/drawingml/2006/main">
            <a:pPr algn="l">
              <a:defRPr sz="1275" b="0">
                <a:solidFill>
                  <a:srgbClr val="98A2B3"/>
                </a:solidFill>
                <a:latin typeface="Aptos"/>
                <a:ea typeface="Aptos"/>
                <a:cs typeface="Aptos"/>
              </a:defRPr>
            </a:pPr>
            <a:r>
              <a:rPr sz="1275" b="0">
                <a:solidFill>
                  <a:srgbClr val="98A2B3"/>
                </a:solidFill>
                <a:latin typeface="Aptos"/>
                <a:ea typeface="Aptos"/>
                <a:cs typeface="Aptos"/>
              </a:rPr>
              <a:t>Sanctum authentication</a:t>
            </a:r>
          </a:p>
        </p:txBody>
      </p:sp>
      <p:sp>
        <p:nvSpPr>
          <p:cNvPr id="24" name="">
            <a:extLst xmlns:a="http://schemas.openxmlformats.org/drawingml/2006/main">
              <a:ext uri="{FF2B5EF4-FFF2-40B4-BE49-F238E27FC236}">
                <a16:creationId xmlns:a16="http://schemas.microsoft.com/office/drawing/2014/main" id="{B1D35A19-1CE5-4FA6-A15E-96A71C6E22B2}"/>
              </a:ext>
            </a:extLst>
          </p:cNvPr>
          <p:cNvSpPr>
            <a:spLocks xmlns:a="http://schemas.openxmlformats.org/drawingml/2006/main" noGrp="1"/>
          </p:cNvSpPr>
          <p:nvPr/>
        </p:nvSpPr>
        <p:spPr>
          <a:xfrm xmlns:a="http://schemas.openxmlformats.org/drawingml/2006/main">
            <a:off x="9067800" y="2724150"/>
            <a:ext cx="2590800" cy="1143000"/>
          </a:xfrm>
          <a:prstGeom xmlns:a="http://schemas.openxmlformats.org/drawingml/2006/main" prst="roundRect">
            <a:avLst>
              <a:gd name="adj" fmla="val 11667"/>
            </a:avLst>
          </a:prstGeom>
          <a:solidFill xmlns:a="http://schemas.openxmlformats.org/drawingml/2006/main">
            <a:srgbClr val="1A2235"/>
          </a:solidFill>
          <a:ln xmlns:a="http://schemas.openxmlformats.org/drawingml/2006/main" w="9525">
            <a:solidFill>
              <a:srgbClr val="27324A"/>
            </a:solidFill>
            <a:prstDash val="solid"/>
          </a:ln>
        </p:spPr>
      </p:sp>
      <p:sp>
        <p:nvSpPr>
          <p:cNvPr id="25" name="">
            <a:extLst xmlns:a="http://schemas.openxmlformats.org/drawingml/2006/main">
              <a:ext uri="{FF2B5EF4-FFF2-40B4-BE49-F238E27FC236}">
                <a16:creationId xmlns:a16="http://schemas.microsoft.com/office/drawing/2014/main" id="{B06E579B-37A7-4D2F-88BD-5F1A36B1C4D0}"/>
              </a:ext>
            </a:extLst>
          </p:cNvPr>
          <p:cNvSpPr>
            <a:spLocks xmlns:a="http://schemas.openxmlformats.org/drawingml/2006/main" noGrp="1"/>
          </p:cNvSpPr>
          <p:nvPr/>
        </p:nvSpPr>
        <p:spPr>
          <a:xfrm xmlns:a="http://schemas.openxmlformats.org/drawingml/2006/main">
            <a:off x="9067800" y="2724150"/>
            <a:ext cx="76200" cy="1143000"/>
          </a:xfrm>
          <a:prstGeom xmlns:a="http://schemas.openxmlformats.org/drawingml/2006/main" prst="rect">
            <a:avLst/>
          </a:prstGeom>
          <a:solidFill xmlns:a="http://schemas.openxmlformats.org/drawingml/2006/main">
            <a:srgbClr val="38BDF8"/>
          </a:solidFill>
          <a:ln xmlns:a="http://schemas.openxmlformats.org/drawingml/2006/main" w="0">
            <a:solidFill>
              <a:srgbClr val="38BDF8"/>
            </a:solidFill>
            <a:prstDash val="solid"/>
          </a:ln>
        </p:spPr>
      </p:sp>
      <p:sp>
        <p:nvSpPr>
          <p:cNvPr id="26" name="">
            <a:extLst xmlns:a="http://schemas.openxmlformats.org/drawingml/2006/main">
              <a:ext uri="{FF2B5EF4-FFF2-40B4-BE49-F238E27FC236}">
                <a16:creationId xmlns:a16="http://schemas.microsoft.com/office/drawing/2014/main" id="{F95F625D-C4BC-4718-A02A-A366D7B73FBA}"/>
              </a:ext>
            </a:extLst>
          </p:cNvPr>
          <p:cNvSpPr>
            <a:spLocks xmlns:a="http://schemas.openxmlformats.org/drawingml/2006/main" noGrp="1"/>
          </p:cNvSpPr>
          <p:nvPr/>
        </p:nvSpPr>
        <p:spPr>
          <a:xfrm xmlns:a="http://schemas.openxmlformats.org/drawingml/2006/main">
            <a:off x="9334500" y="2943225"/>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PostgreSQL</a:t>
            </a:r>
          </a:p>
        </p:txBody>
      </p:sp>
      <p:sp>
        <p:nvSpPr>
          <p:cNvPr id="27" name="">
            <a:extLst xmlns:a="http://schemas.openxmlformats.org/drawingml/2006/main">
              <a:ext uri="{FF2B5EF4-FFF2-40B4-BE49-F238E27FC236}">
                <a16:creationId xmlns:a16="http://schemas.microsoft.com/office/drawing/2014/main" id="{861878AF-7E0C-4845-9BD6-C691663D0511}"/>
              </a:ext>
            </a:extLst>
          </p:cNvPr>
          <p:cNvSpPr>
            <a:spLocks xmlns:a="http://schemas.openxmlformats.org/drawingml/2006/main" noGrp="1"/>
          </p:cNvSpPr>
          <p:nvPr/>
        </p:nvSpPr>
        <p:spPr>
          <a:xfrm xmlns:a="http://schemas.openxmlformats.org/drawingml/2006/main">
            <a:off x="9334500" y="3371850"/>
            <a:ext cx="2114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98A2B3"/>
                </a:solidFill>
                <a:latin typeface="Aptos"/>
                <a:ea typeface="Aptos"/>
                <a:cs typeface="Aptos"/>
              </a:defRPr>
            </a:pPr>
            <a:r>
              <a:rPr sz="1275" b="0">
                <a:solidFill>
                  <a:srgbClr val="98A2B3"/>
                </a:solidFill>
                <a:latin typeface="Aptos"/>
                <a:ea typeface="Aptos"/>
                <a:cs typeface="Aptos"/>
              </a:rPr>
              <a:t>Production data store</a:t>
            </a:r>
          </a:p>
        </p:txBody>
      </p:sp>
      <p:sp>
        <p:nvSpPr>
          <p:cNvPr id="28" name="">
            <a:extLst xmlns:a="http://schemas.openxmlformats.org/drawingml/2006/main">
              <a:ext uri="{FF2B5EF4-FFF2-40B4-BE49-F238E27FC236}">
                <a16:creationId xmlns:a16="http://schemas.microsoft.com/office/drawing/2014/main" id="{37AC83C0-4C4D-49BE-9395-62E11FC2AFAE}"/>
              </a:ext>
            </a:extLst>
          </p:cNvPr>
          <p:cNvSpPr>
            <a:spLocks xmlns:a="http://schemas.openxmlformats.org/drawingml/2006/main" noGrp="1"/>
          </p:cNvSpPr>
          <p:nvPr/>
        </p:nvSpPr>
        <p:spPr>
          <a:xfrm xmlns:a="http://schemas.openxmlformats.org/drawingml/2006/main">
            <a:off x="4686300" y="5048250"/>
            <a:ext cx="2819400" cy="1066800"/>
          </a:xfrm>
          <a:prstGeom xmlns:a="http://schemas.openxmlformats.org/drawingml/2006/main" prst="roundRect">
            <a:avLst>
              <a:gd name="adj" fmla="val 12500"/>
            </a:avLst>
          </a:prstGeom>
          <a:solidFill xmlns:a="http://schemas.openxmlformats.org/drawingml/2006/main">
            <a:srgbClr val="1A2235"/>
          </a:solidFill>
          <a:ln xmlns:a="http://schemas.openxmlformats.org/drawingml/2006/main" w="9525">
            <a:solidFill>
              <a:srgbClr val="27324A"/>
            </a:solidFill>
            <a:prstDash val="solid"/>
          </a:ln>
        </p:spPr>
      </p:sp>
      <p:sp>
        <p:nvSpPr>
          <p:cNvPr id="29" name="">
            <a:extLst xmlns:a="http://schemas.openxmlformats.org/drawingml/2006/main">
              <a:ext uri="{FF2B5EF4-FFF2-40B4-BE49-F238E27FC236}">
                <a16:creationId xmlns:a16="http://schemas.microsoft.com/office/drawing/2014/main" id="{0AA177AF-33DA-42D1-BBC4-399946666AA9}"/>
              </a:ext>
            </a:extLst>
          </p:cNvPr>
          <p:cNvSpPr>
            <a:spLocks xmlns:a="http://schemas.openxmlformats.org/drawingml/2006/main" noGrp="1"/>
          </p:cNvSpPr>
          <p:nvPr/>
        </p:nvSpPr>
        <p:spPr>
          <a:xfrm xmlns:a="http://schemas.openxmlformats.org/drawingml/2006/main">
            <a:off x="4686300" y="5048250"/>
            <a:ext cx="76200" cy="10668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30" name="">
            <a:extLst xmlns:a="http://schemas.openxmlformats.org/drawingml/2006/main">
              <a:ext uri="{FF2B5EF4-FFF2-40B4-BE49-F238E27FC236}">
                <a16:creationId xmlns:a16="http://schemas.microsoft.com/office/drawing/2014/main" id="{DE74EE92-E971-4328-80D5-61963BCAE7C3}"/>
              </a:ext>
            </a:extLst>
          </p:cNvPr>
          <p:cNvSpPr>
            <a:spLocks xmlns:a="http://schemas.openxmlformats.org/drawingml/2006/main" noGrp="1"/>
          </p:cNvSpPr>
          <p:nvPr/>
        </p:nvSpPr>
        <p:spPr>
          <a:xfrm xmlns:a="http://schemas.openxmlformats.org/drawingml/2006/main">
            <a:off x="4953000" y="5267325"/>
            <a:ext cx="2343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Paystack</a:t>
            </a:r>
          </a:p>
        </p:txBody>
      </p:sp>
      <p:sp>
        <p:nvSpPr>
          <p:cNvPr id="31" name="">
            <a:extLst xmlns:a="http://schemas.openxmlformats.org/drawingml/2006/main">
              <a:ext uri="{FF2B5EF4-FFF2-40B4-BE49-F238E27FC236}">
                <a16:creationId xmlns:a16="http://schemas.microsoft.com/office/drawing/2014/main" id="{84139165-3DF0-416C-A532-CD080ED9610E}"/>
              </a:ext>
            </a:extLst>
          </p:cNvPr>
          <p:cNvSpPr>
            <a:spLocks xmlns:a="http://schemas.openxmlformats.org/drawingml/2006/main" noGrp="1"/>
          </p:cNvSpPr>
          <p:nvPr/>
        </p:nvSpPr>
        <p:spPr>
          <a:xfrm xmlns:a="http://schemas.openxmlformats.org/drawingml/2006/main">
            <a:off x="4953000" y="56959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98A2B3"/>
                </a:solidFill>
                <a:latin typeface="Aptos"/>
                <a:ea typeface="Aptos"/>
                <a:cs typeface="Aptos"/>
              </a:defRPr>
            </a:pPr>
            <a:r>
              <a:rPr sz="1275" b="0">
                <a:solidFill>
                  <a:srgbClr val="98A2B3"/>
                </a:solidFill>
                <a:latin typeface="Aptos"/>
                <a:ea typeface="Aptos"/>
                <a:cs typeface="Aptos"/>
              </a:rPr>
              <a:t>Server-side payment verification</a:t>
            </a:r>
          </a:p>
        </p:txBody>
      </p:sp>
      <p:sp>
        <p:nvSpPr>
          <p:cNvPr id="32" name="">
            <a:extLst xmlns:a="http://schemas.openxmlformats.org/drawingml/2006/main">
              <a:ext uri="{FF2B5EF4-FFF2-40B4-BE49-F238E27FC236}">
                <a16:creationId xmlns:a16="http://schemas.microsoft.com/office/drawing/2014/main" id="{93CB496F-CD62-4621-9E36-CE3DDD85522C}"/>
              </a:ext>
            </a:extLst>
          </p:cNvPr>
          <p:cNvSpPr>
            <a:spLocks xmlns:a="http://schemas.openxmlformats.org/drawingml/2006/main" noGrp="1"/>
          </p:cNvSpPr>
          <p:nvPr/>
        </p:nvSpPr>
        <p:spPr>
          <a:xfrm xmlns:a="http://schemas.openxmlformats.org/drawingml/2006/main">
            <a:off x="8915400" y="5048250"/>
            <a:ext cx="2743200" cy="1066800"/>
          </a:xfrm>
          <a:prstGeom xmlns:a="http://schemas.openxmlformats.org/drawingml/2006/main" prst="roundRect">
            <a:avLst>
              <a:gd name="adj" fmla="val 12500"/>
            </a:avLst>
          </a:prstGeom>
          <a:solidFill xmlns:a="http://schemas.openxmlformats.org/drawingml/2006/main">
            <a:srgbClr val="1A2235"/>
          </a:solidFill>
          <a:ln xmlns:a="http://schemas.openxmlformats.org/drawingml/2006/main" w="9525">
            <a:solidFill>
              <a:srgbClr val="27324A"/>
            </a:solidFill>
            <a:prstDash val="solid"/>
          </a:ln>
        </p:spPr>
      </p:sp>
      <p:sp>
        <p:nvSpPr>
          <p:cNvPr id="33" name="">
            <a:extLst xmlns:a="http://schemas.openxmlformats.org/drawingml/2006/main">
              <a:ext uri="{FF2B5EF4-FFF2-40B4-BE49-F238E27FC236}">
                <a16:creationId xmlns:a16="http://schemas.microsoft.com/office/drawing/2014/main" id="{758F1C9A-A02E-4FB2-B283-EA1615CC20DC}"/>
              </a:ext>
            </a:extLst>
          </p:cNvPr>
          <p:cNvSpPr>
            <a:spLocks xmlns:a="http://schemas.openxmlformats.org/drawingml/2006/main" noGrp="1"/>
          </p:cNvSpPr>
          <p:nvPr/>
        </p:nvSpPr>
        <p:spPr>
          <a:xfrm xmlns:a="http://schemas.openxmlformats.org/drawingml/2006/main">
            <a:off x="8915400" y="5048250"/>
            <a:ext cx="76200" cy="10668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34" name="">
            <a:extLst xmlns:a="http://schemas.openxmlformats.org/drawingml/2006/main">
              <a:ext uri="{FF2B5EF4-FFF2-40B4-BE49-F238E27FC236}">
                <a16:creationId xmlns:a16="http://schemas.microsoft.com/office/drawing/2014/main" id="{5733966F-9086-44A0-A49D-05D96D59E4E1}"/>
              </a:ext>
            </a:extLst>
          </p:cNvPr>
          <p:cNvSpPr>
            <a:spLocks xmlns:a="http://schemas.openxmlformats.org/drawingml/2006/main" noGrp="1"/>
          </p:cNvSpPr>
          <p:nvPr/>
        </p:nvSpPr>
        <p:spPr>
          <a:xfrm xmlns:a="http://schemas.openxmlformats.org/drawingml/2006/main">
            <a:off x="9182100" y="5267325"/>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NFC + staff device</a:t>
            </a:r>
          </a:p>
        </p:txBody>
      </p:sp>
      <p:sp>
        <p:nvSpPr>
          <p:cNvPr id="35" name="">
            <a:extLst xmlns:a="http://schemas.openxmlformats.org/drawingml/2006/main">
              <a:ext uri="{FF2B5EF4-FFF2-40B4-BE49-F238E27FC236}">
                <a16:creationId xmlns:a16="http://schemas.microsoft.com/office/drawing/2014/main" id="{D7042BDC-DF7A-4426-8181-4B0E91E172A9}"/>
              </a:ext>
            </a:extLst>
          </p:cNvPr>
          <p:cNvSpPr>
            <a:spLocks xmlns:a="http://schemas.openxmlformats.org/drawingml/2006/main" noGrp="1"/>
          </p:cNvSpPr>
          <p:nvPr/>
        </p:nvSpPr>
        <p:spPr>
          <a:xfrm xmlns:a="http://schemas.openxmlformats.org/drawingml/2006/main">
            <a:off x="9182100" y="56959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98A2B3"/>
                </a:solidFill>
                <a:latin typeface="Aptos"/>
                <a:ea typeface="Aptos"/>
                <a:cs typeface="Aptos"/>
              </a:defRPr>
            </a:pPr>
            <a:r>
              <a:rPr sz="1275" b="0">
                <a:solidFill>
                  <a:srgbClr val="98A2B3"/>
                </a:solidFill>
                <a:latin typeface="Aptos"/>
                <a:ea typeface="Aptos"/>
                <a:cs typeface="Aptos"/>
              </a:rPr>
              <a:t>Authenticated lookup begins here</a:t>
            </a:r>
          </a:p>
        </p:txBody>
      </p:sp>
      <p:sp>
        <p:nvSpPr>
          <p:cNvPr id="36" name="">
            <a:extLst xmlns:a="http://schemas.openxmlformats.org/drawingml/2006/main">
              <a:ext uri="{FF2B5EF4-FFF2-40B4-BE49-F238E27FC236}">
                <a16:creationId xmlns:a16="http://schemas.microsoft.com/office/drawing/2014/main" id="{94B0EAF9-6C66-4680-91C2-3A4721A11870}"/>
              </a:ext>
            </a:extLst>
          </p:cNvPr>
          <p:cNvSpPr>
            <a:spLocks xmlns:a="http://schemas.openxmlformats.org/drawingml/2006/main" noGrp="1"/>
          </p:cNvSpPr>
          <p:nvPr/>
        </p:nvSpPr>
        <p:spPr>
          <a:xfrm xmlns:a="http://schemas.openxmlformats.org/drawingml/2006/main">
            <a:off x="3276600" y="4457700"/>
            <a:ext cx="529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D4DAE6"/>
                </a:solidFill>
                <a:latin typeface="Aptos"/>
                <a:ea typeface="Aptos"/>
                <a:cs typeface="Aptos"/>
              </a:defRPr>
            </a:pPr>
            <a:r>
              <a:rPr sz="1200" b="1">
                <a:solidFill>
                  <a:srgbClr val="D4DAE6"/>
                </a:solidFill>
                <a:latin typeface="Aptos"/>
                <a:ea typeface="Aptos"/>
                <a:cs typeface="Aptos"/>
              </a:rPr>
              <a:t>PERMISSIONS  /  PAYMENTS  /  PERMITS  /  VERIFICATION</a:t>
            </a:r>
          </a:p>
        </p:txBody>
      </p:sp>
    </p:spTree>
    <p:extLst>
      <p:ext uri="{BB962C8B-B14F-4D97-AF65-F5344CB8AC3E}">
        <p14:creationId xmlns:p14="http://schemas.microsoft.com/office/powerpoint/2010/main" val="908272577"/>
      </p:ext>
    </p:extLst>
  </p:cSld>
</p:sld>
</file>

<file path=ppt/slides/slide5.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53C5847-1904-4882-99FC-917DCAEF2B74}"/>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D4AFF"/>
                </a:solidFill>
                <a:latin typeface="Aptos"/>
                <a:ea typeface="Aptos"/>
                <a:cs typeface="Aptos"/>
              </a:defRPr>
            </a:pPr>
            <a:r>
              <a:rPr sz="975" b="1">
                <a:solidFill>
                  <a:srgbClr val="6D4AFF"/>
                </a:solidFill>
                <a:latin typeface="Aptos"/>
                <a:ea typeface="Aptos"/>
                <a:cs typeface="Aptos"/>
              </a:rPr>
              <a:t>05 / 13</a:t>
            </a:r>
          </a:p>
        </p:txBody>
      </p:sp>
      <p:sp>
        <p:nvSpPr>
          <p:cNvPr id="2" name="">
            <a:extLst xmlns:a="http://schemas.openxmlformats.org/drawingml/2006/main">
              <a:ext uri="{FF2B5EF4-FFF2-40B4-BE49-F238E27FC236}">
                <a16:creationId xmlns:a16="http://schemas.microsoft.com/office/drawing/2014/main" id="{4A92450F-939C-4020-BCB1-88B60732298C}"/>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CONTROLLED WORKFLOW</a:t>
            </a:r>
          </a:p>
        </p:txBody>
      </p:sp>
      <p:sp>
        <p:nvSpPr>
          <p:cNvPr id="3" name="">
            <a:extLst xmlns:a="http://schemas.openxmlformats.org/drawingml/2006/main">
              <a:ext uri="{FF2B5EF4-FFF2-40B4-BE49-F238E27FC236}">
                <a16:creationId xmlns:a16="http://schemas.microsoft.com/office/drawing/2014/main" id="{83751584-1DB9-4184-8CDF-0E3E36AB95C4}"/>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F1A118C0-D7F8-4133-B36D-BFEF398305B5}"/>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050" b="1">
                <a:solidFill>
                  <a:srgbClr val="101828"/>
                </a:solidFill>
                <a:latin typeface="Aptos Display"/>
                <a:ea typeface="Aptos Display"/>
                <a:cs typeface="Aptos Display"/>
              </a:defRPr>
            </a:pPr>
            <a:r>
              <a:rPr sz="4050" b="1">
                <a:solidFill>
                  <a:srgbClr val="101828"/>
                </a:solidFill>
                <a:latin typeface="Aptos Display"/>
                <a:ea typeface="Aptos Display"/>
                <a:cs typeface="Aptos Display"/>
              </a:rPr>
              <a:t>Verified payment is the gate before permit issuance</a:t>
            </a:r>
          </a:p>
        </p:txBody>
      </p:sp>
      <p:sp>
        <p:nvSpPr>
          <p:cNvPr id="5" name="">
            <a:extLst xmlns:a="http://schemas.openxmlformats.org/drawingml/2006/main">
              <a:ext uri="{FF2B5EF4-FFF2-40B4-BE49-F238E27FC236}">
                <a16:creationId xmlns:a16="http://schemas.microsoft.com/office/drawing/2014/main" id="{9836502B-9C73-41B7-AE4B-587321C17B11}"/>
              </a:ext>
            </a:extLst>
          </p:cNvPr>
          <p:cNvSpPr>
            <a:spLocks xmlns:a="http://schemas.openxmlformats.org/drawingml/2006/main" noGrp="1"/>
          </p:cNvSpPr>
          <p:nvPr/>
        </p:nvSpPr>
        <p:spPr>
          <a:xfrm xmlns:a="http://schemas.openxmlformats.org/drawingml/2006/main">
            <a:off x="533400" y="169545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ptos"/>
                <a:ea typeface="Aptos"/>
                <a:cs typeface="Aptos"/>
              </a:defRPr>
            </a:pPr>
            <a:r>
              <a:rPr sz="1725" b="0">
                <a:solidFill>
                  <a:srgbClr val="667085"/>
                </a:solidFill>
                <a:latin typeface="Aptos"/>
                <a:ea typeface="Aptos"/>
                <a:cs typeface="Aptos"/>
              </a:rPr>
              <a:t>A browser redirect never becomes proof of payment by itself.</a:t>
            </a:r>
          </a:p>
        </p:txBody>
      </p:sp>
      <p:sp>
        <p:nvSpPr>
          <p:cNvPr id="6" name="">
            <a:extLst xmlns:a="http://schemas.openxmlformats.org/drawingml/2006/main">
              <a:ext uri="{FF2B5EF4-FFF2-40B4-BE49-F238E27FC236}">
                <a16:creationId xmlns:a16="http://schemas.microsoft.com/office/drawing/2014/main" id="{0E07104C-560F-433F-B086-8FEB88C35D8D}"/>
              </a:ext>
            </a:extLst>
          </p:cNvPr>
          <p:cNvSpPr>
            <a:spLocks xmlns:a="http://schemas.openxmlformats.org/drawingml/2006/main" noGrp="1"/>
          </p:cNvSpPr>
          <p:nvPr/>
        </p:nvSpPr>
        <p:spPr>
          <a:xfrm xmlns:a="http://schemas.openxmlformats.org/drawingml/2006/main">
            <a:off x="533400" y="2609850"/>
            <a:ext cx="123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350" b="1">
                <a:solidFill>
                  <a:srgbClr val="6D4AFF"/>
                </a:solidFill>
                <a:latin typeface="Aptos Display"/>
                <a:ea typeface="Aptos Display"/>
                <a:cs typeface="Aptos Display"/>
              </a:defRPr>
            </a:pPr>
            <a:r>
              <a:rPr sz="4350" b="1">
                <a:solidFill>
                  <a:srgbClr val="6D4AFF"/>
                </a:solidFill>
                <a:latin typeface="Aptos Display"/>
                <a:ea typeface="Aptos Display"/>
                <a:cs typeface="Aptos Display"/>
              </a:rPr>
              <a:t>01</a:t>
            </a:r>
          </a:p>
        </p:txBody>
      </p:sp>
      <p:cxnSp>
        <p:nvCxnSpPr>
          <p:cNvPr id="31" name=""/>
          <p:cNvCxnSpPr/>
          <p:nvPr/>
        </p:nvCxnSpPr>
        <p:spPr>
          <a:xfrm xmlns:a="http://schemas.openxmlformats.org/drawingml/2006/main">
            <a:off x="533400" y="3429000"/>
            <a:ext cx="2266950" cy="0"/>
          </a:xfrm>
          <a:prstGeom xmlns:a="http://schemas.openxmlformats.org/drawingml/2006/main" prst="straightConnector1">
            <a:avLst/>
          </a:prstGeom>
          <a:ln xmlns:a="http://schemas.openxmlformats.org/drawingml/2006/main" w="47625">
            <a:solidFill>
              <a:srgbClr val="6D4AFF"/>
            </a:solidFill>
            <a:prstDash val="solid"/>
          </a:ln>
        </p:spPr>
      </p:cxnSp>
      <p:sp>
        <p:nvSpPr>
          <p:cNvPr id="8" name="">
            <a:extLst xmlns:a="http://schemas.openxmlformats.org/drawingml/2006/main">
              <a:ext uri="{FF2B5EF4-FFF2-40B4-BE49-F238E27FC236}">
                <a16:creationId xmlns:a16="http://schemas.microsoft.com/office/drawing/2014/main" id="{A13DCDCE-486B-4A78-8FF5-9265B4B7996B}"/>
              </a:ext>
            </a:extLst>
          </p:cNvPr>
          <p:cNvSpPr>
            <a:spLocks xmlns:a="http://schemas.openxmlformats.org/drawingml/2006/main" noGrp="1"/>
          </p:cNvSpPr>
          <p:nvPr/>
        </p:nvSpPr>
        <p:spPr>
          <a:xfrm xmlns:a="http://schemas.openxmlformats.org/drawingml/2006/main">
            <a:off x="533400" y="3752850"/>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1828"/>
                </a:solidFill>
                <a:latin typeface="Aptos Display"/>
                <a:ea typeface="Aptos Display"/>
                <a:cs typeface="Aptos Display"/>
              </a:defRPr>
            </a:pPr>
            <a:r>
              <a:rPr sz="2100" b="1">
                <a:solidFill>
                  <a:srgbClr val="101828"/>
                </a:solidFill>
                <a:latin typeface="Aptos Display"/>
                <a:ea typeface="Aptos Display"/>
                <a:cs typeface="Aptos Display"/>
              </a:rPr>
              <a:t>Request</a:t>
            </a:r>
          </a:p>
        </p:txBody>
      </p:sp>
      <p:sp>
        <p:nvSpPr>
          <p:cNvPr id="9" name="">
            <a:extLst xmlns:a="http://schemas.openxmlformats.org/drawingml/2006/main">
              <a:ext uri="{FF2B5EF4-FFF2-40B4-BE49-F238E27FC236}">
                <a16:creationId xmlns:a16="http://schemas.microsoft.com/office/drawing/2014/main" id="{9214BBB3-7E95-4035-9284-F8D38BE1DE9E}"/>
              </a:ext>
            </a:extLst>
          </p:cNvPr>
          <p:cNvSpPr>
            <a:spLocks xmlns:a="http://schemas.openxmlformats.org/drawingml/2006/main" noGrp="1"/>
          </p:cNvSpPr>
          <p:nvPr/>
        </p:nvSpPr>
        <p:spPr>
          <a:xfrm xmlns:a="http://schemas.openxmlformats.org/drawingml/2006/main">
            <a:off x="533400" y="4286250"/>
            <a:ext cx="2266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ptos"/>
                <a:ea typeface="Aptos"/>
                <a:cs typeface="Aptos"/>
              </a:defRPr>
            </a:pPr>
            <a:r>
              <a:rPr sz="1425" b="0">
                <a:solidFill>
                  <a:srgbClr val="667085"/>
                </a:solidFill>
                <a:latin typeface="Aptos"/>
                <a:ea typeface="Aptos"/>
                <a:cs typeface="Aptos"/>
              </a:rPr>
              <a:t>Student submits the permit request.</a:t>
            </a:r>
          </a:p>
        </p:txBody>
      </p:sp>
      <p:sp>
        <p:nvSpPr>
          <p:cNvPr id="10" name="">
            <a:extLst xmlns:a="http://schemas.openxmlformats.org/drawingml/2006/main">
              <a:ext uri="{FF2B5EF4-FFF2-40B4-BE49-F238E27FC236}">
                <a16:creationId xmlns:a16="http://schemas.microsoft.com/office/drawing/2014/main" id="{320F3D45-E7CA-4FCC-910E-96B58CEED867}"/>
              </a:ext>
            </a:extLst>
          </p:cNvPr>
          <p:cNvSpPr>
            <a:spLocks xmlns:a="http://schemas.openxmlformats.org/drawingml/2006/main" noGrp="1"/>
          </p:cNvSpPr>
          <p:nvPr/>
        </p:nvSpPr>
        <p:spPr>
          <a:xfrm xmlns:a="http://schemas.openxmlformats.org/drawingml/2006/main">
            <a:off x="3314700" y="2609850"/>
            <a:ext cx="123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350" b="1">
                <a:solidFill>
                  <a:srgbClr val="6D4AFF"/>
                </a:solidFill>
                <a:latin typeface="Aptos Display"/>
                <a:ea typeface="Aptos Display"/>
                <a:cs typeface="Aptos Display"/>
              </a:defRPr>
            </a:pPr>
            <a:r>
              <a:rPr sz="4350" b="1">
                <a:solidFill>
                  <a:srgbClr val="6D4AFF"/>
                </a:solidFill>
                <a:latin typeface="Aptos Display"/>
                <a:ea typeface="Aptos Display"/>
                <a:cs typeface="Aptos Display"/>
              </a:rPr>
              <a:t>02</a:t>
            </a:r>
          </a:p>
        </p:txBody>
      </p:sp>
      <p:cxnSp>
        <p:nvCxnSpPr>
          <p:cNvPr id="35" name=""/>
          <p:cNvCxnSpPr/>
          <p:nvPr/>
        </p:nvCxnSpPr>
        <p:spPr>
          <a:xfrm xmlns:a="http://schemas.openxmlformats.org/drawingml/2006/main">
            <a:off x="3314700" y="3429000"/>
            <a:ext cx="2266950" cy="0"/>
          </a:xfrm>
          <a:prstGeom xmlns:a="http://schemas.openxmlformats.org/drawingml/2006/main" prst="straightConnector1">
            <a:avLst/>
          </a:prstGeom>
          <a:ln xmlns:a="http://schemas.openxmlformats.org/drawingml/2006/main" w="47625">
            <a:solidFill>
              <a:srgbClr val="6D4AFF"/>
            </a:solidFill>
            <a:prstDash val="solid"/>
          </a:ln>
        </p:spPr>
      </p:cxnSp>
      <p:sp>
        <p:nvSpPr>
          <p:cNvPr id="12" name="">
            <a:extLst xmlns:a="http://schemas.openxmlformats.org/drawingml/2006/main">
              <a:ext uri="{FF2B5EF4-FFF2-40B4-BE49-F238E27FC236}">
                <a16:creationId xmlns:a16="http://schemas.microsoft.com/office/drawing/2014/main" id="{F10B114B-2F54-4FC2-8169-D6D38B4BFED6}"/>
              </a:ext>
            </a:extLst>
          </p:cNvPr>
          <p:cNvSpPr>
            <a:spLocks xmlns:a="http://schemas.openxmlformats.org/drawingml/2006/main" noGrp="1"/>
          </p:cNvSpPr>
          <p:nvPr/>
        </p:nvSpPr>
        <p:spPr>
          <a:xfrm xmlns:a="http://schemas.openxmlformats.org/drawingml/2006/main">
            <a:off x="3314700" y="3752850"/>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1828"/>
                </a:solidFill>
                <a:latin typeface="Aptos Display"/>
                <a:ea typeface="Aptos Display"/>
                <a:cs typeface="Aptos Display"/>
              </a:defRPr>
            </a:pPr>
            <a:r>
              <a:rPr sz="2100" b="1">
                <a:solidFill>
                  <a:srgbClr val="101828"/>
                </a:solidFill>
                <a:latin typeface="Aptos Display"/>
                <a:ea typeface="Aptos Display"/>
                <a:cs typeface="Aptos Display"/>
              </a:rPr>
              <a:t>Eligibility</a:t>
            </a:r>
          </a:p>
        </p:txBody>
      </p:sp>
      <p:sp>
        <p:nvSpPr>
          <p:cNvPr id="13" name="">
            <a:extLst xmlns:a="http://schemas.openxmlformats.org/drawingml/2006/main">
              <a:ext uri="{FF2B5EF4-FFF2-40B4-BE49-F238E27FC236}">
                <a16:creationId xmlns:a16="http://schemas.microsoft.com/office/drawing/2014/main" id="{0FB859F8-DEFA-4154-A5C5-EE00F375ABB6}"/>
              </a:ext>
            </a:extLst>
          </p:cNvPr>
          <p:cNvSpPr>
            <a:spLocks xmlns:a="http://schemas.openxmlformats.org/drawingml/2006/main" noGrp="1"/>
          </p:cNvSpPr>
          <p:nvPr/>
        </p:nvSpPr>
        <p:spPr>
          <a:xfrm xmlns:a="http://schemas.openxmlformats.org/drawingml/2006/main">
            <a:off x="3314700" y="4286250"/>
            <a:ext cx="2266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ptos"/>
                <a:ea typeface="Aptos"/>
                <a:cs typeface="Aptos"/>
              </a:defRPr>
            </a:pPr>
            <a:r>
              <a:rPr sz="1425" b="0">
                <a:solidFill>
                  <a:srgbClr val="667085"/>
                </a:solidFill>
                <a:latin typeface="Aptos"/>
                <a:ea typeface="Aptos"/>
                <a:cs typeface="Aptos"/>
              </a:rPr>
              <a:t>Backend applies the required checks.</a:t>
            </a:r>
          </a:p>
        </p:txBody>
      </p:sp>
      <p:sp>
        <p:nvSpPr>
          <p:cNvPr id="14" name="">
            <a:extLst xmlns:a="http://schemas.openxmlformats.org/drawingml/2006/main">
              <a:ext uri="{FF2B5EF4-FFF2-40B4-BE49-F238E27FC236}">
                <a16:creationId xmlns:a16="http://schemas.microsoft.com/office/drawing/2014/main" id="{58994219-BB54-4FD8-82EF-875984DA91C8}"/>
              </a:ext>
            </a:extLst>
          </p:cNvPr>
          <p:cNvSpPr>
            <a:spLocks xmlns:a="http://schemas.openxmlformats.org/drawingml/2006/main" noGrp="1"/>
          </p:cNvSpPr>
          <p:nvPr/>
        </p:nvSpPr>
        <p:spPr>
          <a:xfrm xmlns:a="http://schemas.openxmlformats.org/drawingml/2006/main">
            <a:off x="6096000" y="2609850"/>
            <a:ext cx="123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350" b="1">
                <a:solidFill>
                  <a:srgbClr val="6D4AFF"/>
                </a:solidFill>
                <a:latin typeface="Aptos Display"/>
                <a:ea typeface="Aptos Display"/>
                <a:cs typeface="Aptos Display"/>
              </a:defRPr>
            </a:pPr>
            <a:r>
              <a:rPr sz="4350" b="1">
                <a:solidFill>
                  <a:srgbClr val="6D4AFF"/>
                </a:solidFill>
                <a:latin typeface="Aptos Display"/>
                <a:ea typeface="Aptos Display"/>
                <a:cs typeface="Aptos Display"/>
              </a:rPr>
              <a:t>03</a:t>
            </a:r>
          </a:p>
        </p:txBody>
      </p:sp>
      <p:cxnSp>
        <p:nvCxnSpPr>
          <p:cNvPr id="39" name=""/>
          <p:cNvCxnSpPr/>
          <p:nvPr/>
        </p:nvCxnSpPr>
        <p:spPr>
          <a:xfrm xmlns:a="http://schemas.openxmlformats.org/drawingml/2006/main">
            <a:off x="6096000" y="3429000"/>
            <a:ext cx="2266950" cy="0"/>
          </a:xfrm>
          <a:prstGeom xmlns:a="http://schemas.openxmlformats.org/drawingml/2006/main" prst="straightConnector1">
            <a:avLst/>
          </a:prstGeom>
          <a:ln xmlns:a="http://schemas.openxmlformats.org/drawingml/2006/main" w="47625">
            <a:solidFill>
              <a:srgbClr val="6D4AFF"/>
            </a:solidFill>
            <a:prstDash val="solid"/>
          </a:ln>
        </p:spPr>
      </p:cxnSp>
      <p:sp>
        <p:nvSpPr>
          <p:cNvPr id="16" name="">
            <a:extLst xmlns:a="http://schemas.openxmlformats.org/drawingml/2006/main">
              <a:ext uri="{FF2B5EF4-FFF2-40B4-BE49-F238E27FC236}">
                <a16:creationId xmlns:a16="http://schemas.microsoft.com/office/drawing/2014/main" id="{EDA653B2-D50F-4DFA-A838-33D1BA83DEA2}"/>
              </a:ext>
            </a:extLst>
          </p:cNvPr>
          <p:cNvSpPr>
            <a:spLocks xmlns:a="http://schemas.openxmlformats.org/drawingml/2006/main" noGrp="1"/>
          </p:cNvSpPr>
          <p:nvPr/>
        </p:nvSpPr>
        <p:spPr>
          <a:xfrm xmlns:a="http://schemas.openxmlformats.org/drawingml/2006/main">
            <a:off x="6096000" y="3752850"/>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1828"/>
                </a:solidFill>
                <a:latin typeface="Aptos Display"/>
                <a:ea typeface="Aptos Display"/>
                <a:cs typeface="Aptos Display"/>
              </a:defRPr>
            </a:pPr>
            <a:r>
              <a:rPr sz="2100" b="1">
                <a:solidFill>
                  <a:srgbClr val="101828"/>
                </a:solidFill>
                <a:latin typeface="Aptos Display"/>
                <a:ea typeface="Aptos Display"/>
                <a:cs typeface="Aptos Display"/>
              </a:rPr>
              <a:t>Verify</a:t>
            </a:r>
          </a:p>
        </p:txBody>
      </p:sp>
      <p:sp>
        <p:nvSpPr>
          <p:cNvPr id="17" name="">
            <a:extLst xmlns:a="http://schemas.openxmlformats.org/drawingml/2006/main">
              <a:ext uri="{FF2B5EF4-FFF2-40B4-BE49-F238E27FC236}">
                <a16:creationId xmlns:a16="http://schemas.microsoft.com/office/drawing/2014/main" id="{AE830430-F5CD-4A4D-BE73-65BCB8AE5F01}"/>
              </a:ext>
            </a:extLst>
          </p:cNvPr>
          <p:cNvSpPr>
            <a:spLocks xmlns:a="http://schemas.openxmlformats.org/drawingml/2006/main" noGrp="1"/>
          </p:cNvSpPr>
          <p:nvPr/>
        </p:nvSpPr>
        <p:spPr>
          <a:xfrm xmlns:a="http://schemas.openxmlformats.org/drawingml/2006/main">
            <a:off x="6096000" y="4286250"/>
            <a:ext cx="2266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ptos"/>
                <a:ea typeface="Aptos"/>
                <a:cs typeface="Aptos"/>
              </a:defRPr>
            </a:pPr>
            <a:r>
              <a:rPr sz="1425" b="0">
                <a:solidFill>
                  <a:srgbClr val="667085"/>
                </a:solidFill>
                <a:latin typeface="Aptos"/>
                <a:ea typeface="Aptos"/>
                <a:cs typeface="Aptos"/>
              </a:rPr>
              <a:t>Paystack is confirmed server-side.</a:t>
            </a:r>
          </a:p>
        </p:txBody>
      </p:sp>
      <p:sp>
        <p:nvSpPr>
          <p:cNvPr id="18" name="">
            <a:extLst xmlns:a="http://schemas.openxmlformats.org/drawingml/2006/main">
              <a:ext uri="{FF2B5EF4-FFF2-40B4-BE49-F238E27FC236}">
                <a16:creationId xmlns:a16="http://schemas.microsoft.com/office/drawing/2014/main" id="{84B2A937-69BF-4307-BC96-2609777599F1}"/>
              </a:ext>
            </a:extLst>
          </p:cNvPr>
          <p:cNvSpPr>
            <a:spLocks xmlns:a="http://schemas.openxmlformats.org/drawingml/2006/main" noGrp="1"/>
          </p:cNvSpPr>
          <p:nvPr/>
        </p:nvSpPr>
        <p:spPr>
          <a:xfrm xmlns:a="http://schemas.openxmlformats.org/drawingml/2006/main">
            <a:off x="8877300" y="2609850"/>
            <a:ext cx="123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350" b="1">
                <a:solidFill>
                  <a:srgbClr val="10B981"/>
                </a:solidFill>
                <a:latin typeface="Aptos Display"/>
                <a:ea typeface="Aptos Display"/>
                <a:cs typeface="Aptos Display"/>
              </a:defRPr>
            </a:pPr>
            <a:r>
              <a:rPr sz="4350" b="1">
                <a:solidFill>
                  <a:srgbClr val="10B981"/>
                </a:solidFill>
                <a:latin typeface="Aptos Display"/>
                <a:ea typeface="Aptos Display"/>
                <a:cs typeface="Aptos Display"/>
              </a:rPr>
              <a:t>04</a:t>
            </a:r>
          </a:p>
        </p:txBody>
      </p:sp>
      <p:cxnSp>
        <p:nvCxnSpPr>
          <p:cNvPr id="43" name=""/>
          <p:cNvCxnSpPr/>
          <p:nvPr/>
        </p:nvCxnSpPr>
        <p:spPr>
          <a:xfrm xmlns:a="http://schemas.openxmlformats.org/drawingml/2006/main">
            <a:off x="8877300" y="3429000"/>
            <a:ext cx="2266950" cy="0"/>
          </a:xfrm>
          <a:prstGeom xmlns:a="http://schemas.openxmlformats.org/drawingml/2006/main" prst="straightConnector1">
            <a:avLst/>
          </a:prstGeom>
          <a:ln xmlns:a="http://schemas.openxmlformats.org/drawingml/2006/main" w="47625">
            <a:solidFill>
              <a:srgbClr val="10B981"/>
            </a:solidFill>
            <a:prstDash val="solid"/>
          </a:ln>
        </p:spPr>
      </p:cxnSp>
      <p:sp>
        <p:nvSpPr>
          <p:cNvPr id="20" name="">
            <a:extLst xmlns:a="http://schemas.openxmlformats.org/drawingml/2006/main">
              <a:ext uri="{FF2B5EF4-FFF2-40B4-BE49-F238E27FC236}">
                <a16:creationId xmlns:a16="http://schemas.microsoft.com/office/drawing/2014/main" id="{A72AFDC4-9F3E-4394-B3D6-2163707CFB1F}"/>
              </a:ext>
            </a:extLst>
          </p:cNvPr>
          <p:cNvSpPr>
            <a:spLocks xmlns:a="http://schemas.openxmlformats.org/drawingml/2006/main" noGrp="1"/>
          </p:cNvSpPr>
          <p:nvPr/>
        </p:nvSpPr>
        <p:spPr>
          <a:xfrm xmlns:a="http://schemas.openxmlformats.org/drawingml/2006/main">
            <a:off x="8877300" y="3752850"/>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1828"/>
                </a:solidFill>
                <a:latin typeface="Aptos Display"/>
                <a:ea typeface="Aptos Display"/>
                <a:cs typeface="Aptos Display"/>
              </a:defRPr>
            </a:pPr>
            <a:r>
              <a:rPr sz="2100" b="1">
                <a:solidFill>
                  <a:srgbClr val="101828"/>
                </a:solidFill>
                <a:latin typeface="Aptos Display"/>
                <a:ea typeface="Aptos Display"/>
                <a:cs typeface="Aptos Display"/>
              </a:rPr>
              <a:t>Issue</a:t>
            </a:r>
          </a:p>
        </p:txBody>
      </p:sp>
      <p:sp>
        <p:nvSpPr>
          <p:cNvPr id="21" name="">
            <a:extLst xmlns:a="http://schemas.openxmlformats.org/drawingml/2006/main">
              <a:ext uri="{FF2B5EF4-FFF2-40B4-BE49-F238E27FC236}">
                <a16:creationId xmlns:a16="http://schemas.microsoft.com/office/drawing/2014/main" id="{9AC134C1-2751-4420-985D-9A8850C7473C}"/>
              </a:ext>
            </a:extLst>
          </p:cNvPr>
          <p:cNvSpPr>
            <a:spLocks xmlns:a="http://schemas.openxmlformats.org/drawingml/2006/main" noGrp="1"/>
          </p:cNvSpPr>
          <p:nvPr/>
        </p:nvSpPr>
        <p:spPr>
          <a:xfrm xmlns:a="http://schemas.openxmlformats.org/drawingml/2006/main">
            <a:off x="8877300" y="4286250"/>
            <a:ext cx="2266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ptos"/>
                <a:ea typeface="Aptos"/>
                <a:cs typeface="Aptos"/>
              </a:defRPr>
            </a:pPr>
            <a:r>
              <a:rPr sz="1425" b="0">
                <a:solidFill>
                  <a:srgbClr val="667085"/>
                </a:solidFill>
                <a:latin typeface="Aptos"/>
                <a:ea typeface="Aptos"/>
                <a:cs typeface="Aptos"/>
              </a:rPr>
              <a:t>One record powers the receipt and later verification.</a:t>
            </a:r>
          </a:p>
        </p:txBody>
      </p:sp>
      <p:sp>
        <p:nvSpPr>
          <p:cNvPr id="22" name="">
            <a:extLst xmlns:a="http://schemas.openxmlformats.org/drawingml/2006/main">
              <a:ext uri="{FF2B5EF4-FFF2-40B4-BE49-F238E27FC236}">
                <a16:creationId xmlns:a16="http://schemas.microsoft.com/office/drawing/2014/main" id="{CF0C005B-681E-44F0-8722-E4C32ADA0CB8}"/>
              </a:ext>
            </a:extLst>
          </p:cNvPr>
          <p:cNvSpPr>
            <a:spLocks xmlns:a="http://schemas.openxmlformats.org/drawingml/2006/main" noGrp="1"/>
          </p:cNvSpPr>
          <p:nvPr/>
        </p:nvSpPr>
        <p:spPr>
          <a:xfrm xmlns:a="http://schemas.openxmlformats.org/drawingml/2006/main">
            <a:off x="533400" y="5619750"/>
            <a:ext cx="11125200" cy="5524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23" name="">
            <a:extLst xmlns:a="http://schemas.openxmlformats.org/drawingml/2006/main">
              <a:ext uri="{FF2B5EF4-FFF2-40B4-BE49-F238E27FC236}">
                <a16:creationId xmlns:a16="http://schemas.microsoft.com/office/drawing/2014/main" id="{3B21B2C3-F2C2-4C86-81C8-EAB898990415}"/>
              </a:ext>
            </a:extLst>
          </p:cNvPr>
          <p:cNvSpPr>
            <a:spLocks xmlns:a="http://schemas.openxmlformats.org/drawingml/2006/main" noGrp="1"/>
          </p:cNvSpPr>
          <p:nvPr/>
        </p:nvSpPr>
        <p:spPr>
          <a:xfrm xmlns:a="http://schemas.openxmlformats.org/drawingml/2006/main">
            <a:off x="762000" y="57912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ISSUE CONDITION</a:t>
            </a:r>
          </a:p>
        </p:txBody>
      </p:sp>
      <p:sp>
        <p:nvSpPr>
          <p:cNvPr id="24" name="">
            <a:extLst xmlns:a="http://schemas.openxmlformats.org/drawingml/2006/main">
              <a:ext uri="{FF2B5EF4-FFF2-40B4-BE49-F238E27FC236}">
                <a16:creationId xmlns:a16="http://schemas.microsoft.com/office/drawing/2014/main" id="{1851B143-1F49-4128-AB4F-06FC28657C33}"/>
              </a:ext>
            </a:extLst>
          </p:cNvPr>
          <p:cNvSpPr>
            <a:spLocks xmlns:a="http://schemas.openxmlformats.org/drawingml/2006/main" noGrp="1"/>
          </p:cNvSpPr>
          <p:nvPr/>
        </p:nvSpPr>
        <p:spPr>
          <a:xfrm xmlns:a="http://schemas.openxmlformats.org/drawingml/2006/main">
            <a:off x="2686050" y="574357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A verified backend state exists—and duplicate processing is controlled.</a:t>
            </a:r>
          </a:p>
        </p:txBody>
      </p:sp>
    </p:spTree>
    <p:extLst>
      <p:ext uri="{BB962C8B-B14F-4D97-AF65-F5344CB8AC3E}">
        <p14:creationId xmlns:p14="http://schemas.microsoft.com/office/powerpoint/2010/main" val="1823155068"/>
      </p:ext>
    </p:extLst>
  </p:cSld>
</p:sld>
</file>

<file path=ppt/slides/slide6.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C3E1D08-3611-49C8-81A3-AF68CA080465}"/>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D4AFF"/>
                </a:solidFill>
                <a:latin typeface="Aptos"/>
                <a:ea typeface="Aptos"/>
                <a:cs typeface="Aptos"/>
              </a:defRPr>
            </a:pPr>
            <a:r>
              <a:rPr sz="975" b="1">
                <a:solidFill>
                  <a:srgbClr val="6D4AFF"/>
                </a:solidFill>
                <a:latin typeface="Aptos"/>
                <a:ea typeface="Aptos"/>
                <a:cs typeface="Aptos"/>
              </a:rPr>
              <a:t>06 / 13</a:t>
            </a:r>
          </a:p>
        </p:txBody>
      </p:sp>
      <p:sp>
        <p:nvSpPr>
          <p:cNvPr id="2" name="">
            <a:extLst xmlns:a="http://schemas.openxmlformats.org/drawingml/2006/main">
              <a:ext uri="{FF2B5EF4-FFF2-40B4-BE49-F238E27FC236}">
                <a16:creationId xmlns:a16="http://schemas.microsoft.com/office/drawing/2014/main" id="{92320D69-DAFB-43E9-ABD2-F6481D5623DE}"/>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WEBSITE EXPERIENCE</a:t>
            </a:r>
          </a:p>
        </p:txBody>
      </p:sp>
      <p:sp>
        <p:nvSpPr>
          <p:cNvPr id="3" name="">
            <a:extLst xmlns:a="http://schemas.openxmlformats.org/drawingml/2006/main">
              <a:ext uri="{FF2B5EF4-FFF2-40B4-BE49-F238E27FC236}">
                <a16:creationId xmlns:a16="http://schemas.microsoft.com/office/drawing/2014/main" id="{6BA3885C-8712-4009-8850-352FD867C74F}"/>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02DCFC95-884D-48A5-B9BE-27764F093CDE}"/>
              </a:ext>
            </a:extLst>
          </p:cNvPr>
          <p:cNvSpPr>
            <a:spLocks xmlns:a="http://schemas.openxmlformats.org/drawingml/2006/main" noGrp="1"/>
          </p:cNvSpPr>
          <p:nvPr/>
        </p:nvSpPr>
        <p:spPr>
          <a:xfrm xmlns:a="http://schemas.openxmlformats.org/drawingml/2006/main">
            <a:off x="0" y="0"/>
            <a:ext cx="3524250" cy="6858000"/>
          </a:xfrm>
          <a:prstGeom xmlns:a="http://schemas.openxmlformats.org/drawingml/2006/main" prst="rect">
            <a:avLst/>
          </a:prstGeom>
          <a:solidFill xmlns:a="http://schemas.openxmlformats.org/drawingml/2006/main">
            <a:srgbClr val="080D1A"/>
          </a:solidFill>
          <a:ln xmlns:a="http://schemas.openxmlformats.org/drawingml/2006/main" w="0">
            <a:solidFill>
              <a:srgbClr val="080D1A"/>
            </a:solidFill>
            <a:prstDash val="solid"/>
          </a:ln>
        </p:spPr>
      </p:sp>
      <p:sp>
        <p:nvSpPr>
          <p:cNvPr id="5" name="">
            <a:extLst xmlns:a="http://schemas.openxmlformats.org/drawingml/2006/main">
              <a:ext uri="{FF2B5EF4-FFF2-40B4-BE49-F238E27FC236}">
                <a16:creationId xmlns:a16="http://schemas.microsoft.com/office/drawing/2014/main" id="{11D8D492-7A90-44EC-88A9-A6C916AB6510}"/>
              </a:ext>
            </a:extLst>
          </p:cNvPr>
          <p:cNvSpPr>
            <a:spLocks xmlns:a="http://schemas.openxmlformats.org/drawingml/2006/main" noGrp="1"/>
          </p:cNvSpPr>
          <p:nvPr/>
        </p:nvSpPr>
        <p:spPr>
          <a:xfrm xmlns:a="http://schemas.openxmlformats.org/drawingml/2006/main">
            <a:off x="533400" y="32385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5CF6"/>
                </a:solidFill>
                <a:latin typeface="Aptos"/>
                <a:ea typeface="Aptos"/>
                <a:cs typeface="Aptos"/>
              </a:defRPr>
            </a:pPr>
            <a:r>
              <a:rPr sz="975" b="1">
                <a:solidFill>
                  <a:srgbClr val="8B5CF6"/>
                </a:solidFill>
                <a:latin typeface="Aptos"/>
                <a:ea typeface="Aptos"/>
                <a:cs typeface="Aptos"/>
              </a:rPr>
              <a:t>06 / 13</a:t>
            </a:r>
          </a:p>
        </p:txBody>
      </p:sp>
      <p:sp>
        <p:nvSpPr>
          <p:cNvPr id="6" name="">
            <a:extLst xmlns:a="http://schemas.openxmlformats.org/drawingml/2006/main">
              <a:ext uri="{FF2B5EF4-FFF2-40B4-BE49-F238E27FC236}">
                <a16:creationId xmlns:a16="http://schemas.microsoft.com/office/drawing/2014/main" id="{D4B48B9E-1F80-48CD-8D90-24F82C7A5F8E}"/>
              </a:ext>
            </a:extLst>
          </p:cNvPr>
          <p:cNvSpPr>
            <a:spLocks xmlns:a="http://schemas.openxmlformats.org/drawingml/2006/main" noGrp="1"/>
          </p:cNvSpPr>
          <p:nvPr/>
        </p:nvSpPr>
        <p:spPr>
          <a:xfrm xmlns:a="http://schemas.openxmlformats.org/drawingml/2006/main">
            <a:off x="533400" y="6667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WEBSITE EXPERIENCE</a:t>
            </a:r>
          </a:p>
        </p:txBody>
      </p:sp>
      <p:sp>
        <p:nvSpPr>
          <p:cNvPr id="7" name="">
            <a:extLst xmlns:a="http://schemas.openxmlformats.org/drawingml/2006/main">
              <a:ext uri="{FF2B5EF4-FFF2-40B4-BE49-F238E27FC236}">
                <a16:creationId xmlns:a16="http://schemas.microsoft.com/office/drawing/2014/main" id="{A203ACDC-F846-4745-9853-E2D55F612266}"/>
              </a:ext>
            </a:extLst>
          </p:cNvPr>
          <p:cNvSpPr>
            <a:spLocks xmlns:a="http://schemas.openxmlformats.org/drawingml/2006/main" noGrp="1"/>
          </p:cNvSpPr>
          <p:nvPr/>
        </p:nvSpPr>
        <p:spPr>
          <a:xfrm xmlns:a="http://schemas.openxmlformats.org/drawingml/2006/main">
            <a:off x="533400" y="1200150"/>
            <a:ext cx="25146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672"/>
          </a:bodyPr>
          <a:lstStyle xmlns:a="http://schemas.openxmlformats.org/drawingml/2006/main"/>
          <a:p xmlns:a="http://schemas.openxmlformats.org/drawingml/2006/main">
            <a:pPr algn="l">
              <a:lnSpc>
                <a:spcPct val="93000"/>
              </a:lnSpc>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One workspace</a:t>
            </a:r>
          </a:p>
          <a:p xmlns:a="http://schemas.openxmlformats.org/drawingml/2006/main">
            <a:pPr algn="l">
              <a:lnSpc>
                <a:spcPct val="93000"/>
              </a:lnSpc>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for daily SRC</a:t>
            </a:r>
          </a:p>
          <a:p xmlns:a="http://schemas.openxmlformats.org/drawingml/2006/main">
            <a:pPr algn="l">
              <a:lnSpc>
                <a:spcPct val="93000"/>
              </a:lnSpc>
              <a:buNone/>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operations</a:t>
            </a:r>
          </a:p>
        </p:txBody>
      </p:sp>
      <p:sp>
        <p:nvSpPr>
          <p:cNvPr id="8" name="">
            <a:extLst xmlns:a="http://schemas.openxmlformats.org/drawingml/2006/main">
              <a:ext uri="{FF2B5EF4-FFF2-40B4-BE49-F238E27FC236}">
                <a16:creationId xmlns:a16="http://schemas.microsoft.com/office/drawing/2014/main" id="{34D3B40F-BF4D-4F20-9B05-B7E9A55E3119}"/>
              </a:ext>
            </a:extLst>
          </p:cNvPr>
          <p:cNvSpPr>
            <a:spLocks xmlns:a="http://schemas.openxmlformats.org/drawingml/2006/main" noGrp="1"/>
          </p:cNvSpPr>
          <p:nvPr/>
        </p:nvSpPr>
        <p:spPr>
          <a:xfrm xmlns:a="http://schemas.openxmlformats.org/drawingml/2006/main">
            <a:off x="533400" y="3524250"/>
            <a:ext cx="2571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575" b="0">
                <a:solidFill>
                  <a:srgbClr val="D4DAE6"/>
                </a:solidFill>
                <a:latin typeface="Aptos"/>
                <a:ea typeface="Aptos"/>
                <a:cs typeface="Aptos"/>
              </a:defRPr>
            </a:pPr>
            <a:r>
              <a:rPr sz="1575" b="0">
                <a:solidFill>
                  <a:srgbClr val="D4DAE6"/>
                </a:solidFill>
                <a:latin typeface="Aptos"/>
                <a:ea typeface="Aptos"/>
                <a:cs typeface="Aptos"/>
              </a:rPr>
              <a:t>Permit activity</a:t>
            </a:r>
          </a:p>
          <a:p xmlns:a="http://schemas.openxmlformats.org/drawingml/2006/main">
            <a:pPr algn="l">
              <a:lnSpc>
                <a:spcPct val="112000"/>
              </a:lnSpc>
              <a:buNone/>
              <a:defRPr sz="1575" b="0">
                <a:solidFill>
                  <a:srgbClr val="D4DAE6"/>
                </a:solidFill>
                <a:latin typeface="Aptos"/>
                <a:ea typeface="Aptos"/>
                <a:cs typeface="Aptos"/>
              </a:defRPr>
            </a:pPr>
            <a:r>
              <a:rPr sz="1575" b="0">
                <a:solidFill>
                  <a:srgbClr val="D4DAE6"/>
                </a:solidFill>
                <a:latin typeface="Aptos"/>
                <a:ea typeface="Aptos"/>
                <a:cs typeface="Aptos"/>
              </a:rPr>
              <a:t>Payment records</a:t>
            </a:r>
          </a:p>
          <a:p xmlns:a="http://schemas.openxmlformats.org/drawingml/2006/main">
            <a:pPr algn="l">
              <a:lnSpc>
                <a:spcPct val="112000"/>
              </a:lnSpc>
              <a:buNone/>
              <a:defRPr sz="1575" b="0">
                <a:solidFill>
                  <a:srgbClr val="D4DAE6"/>
                </a:solidFill>
                <a:latin typeface="Aptos"/>
                <a:ea typeface="Aptos"/>
                <a:cs typeface="Aptos"/>
              </a:defRPr>
            </a:pPr>
            <a:r>
              <a:rPr sz="1575" b="0">
                <a:solidFill>
                  <a:srgbClr val="D4DAE6"/>
                </a:solidFill>
                <a:latin typeface="Aptos"/>
                <a:ea typeface="Aptos"/>
                <a:cs typeface="Aptos"/>
              </a:rPr>
              <a:t>Complaints and reports</a:t>
            </a:r>
          </a:p>
          <a:p xmlns:a="http://schemas.openxmlformats.org/drawingml/2006/main">
            <a:pPr algn="l">
              <a:lnSpc>
                <a:spcPct val="112000"/>
              </a:lnSpc>
              <a:buNone/>
              <a:defRPr sz="1575" b="0">
                <a:solidFill>
                  <a:srgbClr val="D4DAE6"/>
                </a:solidFill>
                <a:latin typeface="Aptos"/>
                <a:ea typeface="Aptos"/>
                <a:cs typeface="Aptos"/>
              </a:defRPr>
            </a:pPr>
            <a:r>
              <a:rPr sz="1575" b="0">
                <a:solidFill>
                  <a:srgbClr val="D4DAE6"/>
                </a:solidFill>
                <a:latin typeface="Aptos"/>
                <a:ea typeface="Aptos"/>
                <a:cs typeface="Aptos"/>
              </a:rPr>
              <a:t>Announcements and elections</a:t>
            </a:r>
          </a:p>
        </p:txBody>
      </p:sp>
      <p:sp>
        <p:nvSpPr>
          <p:cNvPr id="9" name="">
            <a:extLst xmlns:a="http://schemas.openxmlformats.org/drawingml/2006/main">
              <a:ext uri="{FF2B5EF4-FFF2-40B4-BE49-F238E27FC236}">
                <a16:creationId xmlns:a16="http://schemas.microsoft.com/office/drawing/2014/main" id="{093F7033-4294-4CEC-AC22-C93085B6DFC2}"/>
              </a:ext>
            </a:extLst>
          </p:cNvPr>
          <p:cNvSpPr>
            <a:spLocks xmlns:a="http://schemas.openxmlformats.org/drawingml/2006/main" noGrp="1"/>
          </p:cNvSpPr>
          <p:nvPr/>
        </p:nvSpPr>
        <p:spPr>
          <a:xfrm xmlns:a="http://schemas.openxmlformats.org/drawingml/2006/main">
            <a:off x="533400" y="5600700"/>
            <a:ext cx="2190750" cy="457200"/>
          </a:xfrm>
          <a:prstGeom xmlns:a="http://schemas.openxmlformats.org/drawingml/2006/main" prst="roundRect">
            <a:avLst>
              <a:gd name="adj" fmla="val 16667"/>
            </a:avLst>
          </a:prstGeom>
          <a:solidFill xmlns:a="http://schemas.openxmlformats.org/drawingml/2006/main">
            <a:srgbClr val="6D4AFF"/>
          </a:solidFill>
          <a:ln xmlns:a="http://schemas.openxmlformats.org/drawingml/2006/main" w="0">
            <a:solidFill>
              <a:srgbClr val="6D4AFF"/>
            </a:solidFill>
            <a:prstDash val="solid"/>
          </a:ln>
        </p:spPr>
      </p:sp>
      <p:sp>
        <p:nvSpPr>
          <p:cNvPr id="10" name="">
            <a:extLst xmlns:a="http://schemas.openxmlformats.org/drawingml/2006/main">
              <a:ext uri="{FF2B5EF4-FFF2-40B4-BE49-F238E27FC236}">
                <a16:creationId xmlns:a16="http://schemas.microsoft.com/office/drawing/2014/main" id="{129C6D9F-753C-4C6F-95DB-97201355AC1C}"/>
              </a:ext>
            </a:extLst>
          </p:cNvPr>
          <p:cNvSpPr>
            <a:spLocks xmlns:a="http://schemas.openxmlformats.org/drawingml/2006/main" noGrp="1"/>
          </p:cNvSpPr>
          <p:nvPr/>
        </p:nvSpPr>
        <p:spPr>
          <a:xfrm xmlns:a="http://schemas.openxmlformats.org/drawingml/2006/main">
            <a:off x="647700" y="5734050"/>
            <a:ext cx="1962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ROLE-CONTROLLED ACCESS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1a9f84d699349ce"/>
          <a:srcRect xmlns:a="http://schemas.openxmlformats.org/drawingml/2006/main" l="10254" t="0" r="10254" b="0"/>
          <a:stretch xmlns:a="http://schemas.openxmlformats.org/drawingml/2006/main">
            <a:fillRect l="0" t="0" r="0" b="0"/>
          </a:stretch>
        </p:blipFill>
        <p:spPr>
          <a:xfrm xmlns:a="http://schemas.openxmlformats.org/drawingml/2006/main">
            <a:off x="3905250" y="685800"/>
            <a:ext cx="7753350" cy="5486400"/>
          </a:xfrm>
          <a:prstGeom xmlns:a="http://schemas.openxmlformats.org/drawingml/2006/main" prst="rect">
            <a:avLst/>
          </a:prstGeom>
        </p:spPr>
      </p:pic>
    </p:spTree>
    <p:extLst>
      <p:ext uri="{BB962C8B-B14F-4D97-AF65-F5344CB8AC3E}">
        <p14:creationId xmlns:p14="http://schemas.microsoft.com/office/powerpoint/2010/main" val="1482337028"/>
      </p:ext>
    </p:extLst>
  </p:cSld>
</p:sld>
</file>

<file path=ppt/slides/slide7.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358B97B-E6F8-49F4-99D8-3FC7882CFFDA}"/>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5CF6"/>
                </a:solidFill>
                <a:latin typeface="Aptos"/>
                <a:ea typeface="Aptos"/>
                <a:cs typeface="Aptos"/>
              </a:defRPr>
            </a:pPr>
            <a:r>
              <a:rPr sz="975" b="1">
                <a:solidFill>
                  <a:srgbClr val="8B5CF6"/>
                </a:solidFill>
                <a:latin typeface="Aptos"/>
                <a:ea typeface="Aptos"/>
                <a:cs typeface="Aptos"/>
              </a:rPr>
              <a:t>07 / 13</a:t>
            </a:r>
          </a:p>
        </p:txBody>
      </p:sp>
      <p:sp>
        <p:nvSpPr>
          <p:cNvPr id="2" name="">
            <a:extLst xmlns:a="http://schemas.openxmlformats.org/drawingml/2006/main">
              <a:ext uri="{FF2B5EF4-FFF2-40B4-BE49-F238E27FC236}">
                <a16:creationId xmlns:a16="http://schemas.microsoft.com/office/drawing/2014/main" id="{461F7FFC-F87D-4F8E-9CD7-727A388800B8}"/>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MOBILE EXPERIENCE</a:t>
            </a:r>
          </a:p>
        </p:txBody>
      </p:sp>
      <p:sp>
        <p:nvSpPr>
          <p:cNvPr id="3" name="">
            <a:extLst xmlns:a="http://schemas.openxmlformats.org/drawingml/2006/main">
              <a:ext uri="{FF2B5EF4-FFF2-40B4-BE49-F238E27FC236}">
                <a16:creationId xmlns:a16="http://schemas.microsoft.com/office/drawing/2014/main" id="{23BF712C-8668-4612-9796-E9791AD87661}"/>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D4DAE6"/>
                </a:solidFill>
                <a:latin typeface="Aptos"/>
                <a:ea typeface="Aptos"/>
                <a:cs typeface="Aptos"/>
              </a:defRPr>
            </a:pPr>
            <a:r>
              <a:rPr sz="825" b="1">
                <a:solidFill>
                  <a:srgbClr val="D4DAE6"/>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31DE85F1-09B3-4215-8E33-736D71CBE5AE}"/>
              </a:ext>
            </a:extLst>
          </p:cNvPr>
          <p:cNvSpPr>
            <a:spLocks xmlns:a="http://schemas.openxmlformats.org/drawingml/2006/main" noGrp="1"/>
          </p:cNvSpPr>
          <p:nvPr/>
        </p:nvSpPr>
        <p:spPr>
          <a:xfrm xmlns:a="http://schemas.openxmlformats.org/drawingml/2006/main">
            <a:off x="533400" y="7429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900" b="1">
                <a:solidFill>
                  <a:srgbClr val="FFFFFF"/>
                </a:solidFill>
                <a:latin typeface="Aptos Display"/>
                <a:ea typeface="Aptos Display"/>
                <a:cs typeface="Aptos Display"/>
              </a:defRPr>
            </a:pPr>
            <a:r>
              <a:rPr sz="3900" b="1">
                <a:solidFill>
                  <a:srgbClr val="FFFFFF"/>
                </a:solidFill>
                <a:latin typeface="Aptos Display"/>
                <a:ea typeface="Aptos Display"/>
                <a:cs typeface="Aptos Display"/>
              </a:rPr>
              <a:t>The same app changes with the user's role</a:t>
            </a:r>
          </a:p>
        </p:txBody>
      </p:sp>
      <p:sp>
        <p:nvSpPr>
          <p:cNvPr id="5" name="">
            <a:extLst xmlns:a="http://schemas.openxmlformats.org/drawingml/2006/main">
              <a:ext uri="{FF2B5EF4-FFF2-40B4-BE49-F238E27FC236}">
                <a16:creationId xmlns:a16="http://schemas.microsoft.com/office/drawing/2014/main" id="{239C3816-0555-485F-8211-5E4B95DC6C2B}"/>
              </a:ext>
            </a:extLst>
          </p:cNvPr>
          <p:cNvSpPr>
            <a:spLocks xmlns:a="http://schemas.openxmlformats.org/drawingml/2006/main" noGrp="1"/>
          </p:cNvSpPr>
          <p:nvPr/>
        </p:nvSpPr>
        <p:spPr>
          <a:xfrm xmlns:a="http://schemas.openxmlformats.org/drawingml/2006/main">
            <a:off x="533400" y="163830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98A2B3"/>
                </a:solidFill>
                <a:latin typeface="Aptos"/>
                <a:ea typeface="Aptos"/>
                <a:cs typeface="Aptos"/>
              </a:defRPr>
            </a:pPr>
            <a:r>
              <a:rPr sz="1725" b="0">
                <a:solidFill>
                  <a:srgbClr val="98A2B3"/>
                </a:solidFill>
                <a:latin typeface="Aptos"/>
                <a:ea typeface="Aptos"/>
                <a:cs typeface="Aptos"/>
              </a:rPr>
              <a:t>Students access services. Authorized staff access verification.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bdaa666eb304af7"/>
          <a:srcRect xmlns:a="http://schemas.openxmlformats.org/drawingml/2006/main" l="34454" t="0" r="34454" b="0"/>
          <a:stretch xmlns:a="http://schemas.openxmlformats.org/drawingml/2006/main">
            <a:fillRect l="0" t="0" r="0" b="0"/>
          </a:stretch>
        </p:blipFill>
        <p:spPr>
          <a:xfrm xmlns:a="http://schemas.openxmlformats.org/drawingml/2006/main">
            <a:off x="2247900" y="2228850"/>
            <a:ext cx="2095500" cy="3790950"/>
          </a:xfrm>
          <a:prstGeom xmlns:a="http://schemas.openxmlformats.org/drawingml/2006/main" prst="roundRect">
            <a:avLst>
              <a:gd name="adj" fmla="val 8182"/>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7113ee55964314"/>
          <a:srcRect xmlns:a="http://schemas.openxmlformats.org/drawingml/2006/main" l="34454" t="0" r="34454" b="0"/>
          <a:stretch xmlns:a="http://schemas.openxmlformats.org/drawingml/2006/main">
            <a:fillRect l="0" t="0" r="0" b="0"/>
          </a:stretch>
        </p:blipFill>
        <p:spPr>
          <a:xfrm xmlns:a="http://schemas.openxmlformats.org/drawingml/2006/main">
            <a:off x="7848600" y="2228850"/>
            <a:ext cx="2095500" cy="3790950"/>
          </a:xfrm>
          <a:prstGeom xmlns:a="http://schemas.openxmlformats.org/drawingml/2006/main" prst="roundRect">
            <a:avLst>
              <a:gd name="adj" fmla="val 8182"/>
            </a:avLst>
          </a:prstGeom>
        </p:spPr>
      </p:pic>
      <p:sp>
        <p:nvSpPr>
          <p:cNvPr id="8" name="">
            <a:extLst xmlns:a="http://schemas.openxmlformats.org/drawingml/2006/main">
              <a:ext uri="{FF2B5EF4-FFF2-40B4-BE49-F238E27FC236}">
                <a16:creationId xmlns:a16="http://schemas.microsoft.com/office/drawing/2014/main" id="{7B8FCFA3-BA43-43B6-80BF-A68ABD949CB1}"/>
              </a:ext>
            </a:extLst>
          </p:cNvPr>
          <p:cNvSpPr>
            <a:spLocks xmlns:a="http://schemas.openxmlformats.org/drawingml/2006/main" noGrp="1"/>
          </p:cNvSpPr>
          <p:nvPr/>
        </p:nvSpPr>
        <p:spPr>
          <a:xfrm xmlns:a="http://schemas.openxmlformats.org/drawingml/2006/main">
            <a:off x="533400" y="26670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8B5CF6"/>
                </a:solidFill>
                <a:latin typeface="Aptos"/>
                <a:ea typeface="Aptos"/>
                <a:cs typeface="Aptos"/>
              </a:defRPr>
            </a:pPr>
            <a:r>
              <a:rPr sz="1350" b="1">
                <a:solidFill>
                  <a:srgbClr val="8B5CF6"/>
                </a:solidFill>
                <a:latin typeface="Aptos"/>
                <a:ea typeface="Aptos"/>
                <a:cs typeface="Aptos"/>
              </a:rPr>
              <a:t>STUDENT</a:t>
            </a:r>
          </a:p>
        </p:txBody>
      </p:sp>
      <p:sp>
        <p:nvSpPr>
          <p:cNvPr id="9" name="">
            <a:extLst xmlns:a="http://schemas.openxmlformats.org/drawingml/2006/main">
              <a:ext uri="{FF2B5EF4-FFF2-40B4-BE49-F238E27FC236}">
                <a16:creationId xmlns:a16="http://schemas.microsoft.com/office/drawing/2014/main" id="{58AAB8B9-C49B-43C2-A756-66BCB4D345D8}"/>
              </a:ext>
            </a:extLst>
          </p:cNvPr>
          <p:cNvSpPr>
            <a:spLocks xmlns:a="http://schemas.openxmlformats.org/drawingml/2006/main" noGrp="1"/>
          </p:cNvSpPr>
          <p:nvPr/>
        </p:nvSpPr>
        <p:spPr>
          <a:xfrm xmlns:a="http://schemas.openxmlformats.org/drawingml/2006/main">
            <a:off x="533400" y="3143250"/>
            <a:ext cx="1428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3000"/>
              </a:lnSpc>
              <a:buNone/>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Requests</a:t>
            </a:r>
          </a:p>
          <a:p xmlns:a="http://schemas.openxmlformats.org/drawingml/2006/main">
            <a:pPr algn="l">
              <a:lnSpc>
                <a:spcPct val="113000"/>
              </a:lnSpc>
              <a:buNone/>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Payments</a:t>
            </a:r>
          </a:p>
          <a:p xmlns:a="http://schemas.openxmlformats.org/drawingml/2006/main">
            <a:pPr algn="l">
              <a:lnSpc>
                <a:spcPct val="113000"/>
              </a:lnSpc>
              <a:buNone/>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Permits</a:t>
            </a:r>
          </a:p>
          <a:p xmlns:a="http://schemas.openxmlformats.org/drawingml/2006/main">
            <a:pPr algn="l">
              <a:lnSpc>
                <a:spcPct val="113000"/>
              </a:lnSpc>
              <a:buNone/>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Receipts</a:t>
            </a:r>
          </a:p>
          <a:p xmlns:a="http://schemas.openxmlformats.org/drawingml/2006/main">
            <a:pPr algn="l">
              <a:lnSpc>
                <a:spcPct val="113000"/>
              </a:lnSpc>
              <a:buNone/>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Elections</a:t>
            </a:r>
          </a:p>
        </p:txBody>
      </p:sp>
      <p:sp>
        <p:nvSpPr>
          <p:cNvPr id="10" name="">
            <a:extLst xmlns:a="http://schemas.openxmlformats.org/drawingml/2006/main">
              <a:ext uri="{FF2B5EF4-FFF2-40B4-BE49-F238E27FC236}">
                <a16:creationId xmlns:a16="http://schemas.microsoft.com/office/drawing/2014/main" id="{5AAADDCA-4AED-4331-9B35-9939B66E104D}"/>
              </a:ext>
            </a:extLst>
          </p:cNvPr>
          <p:cNvSpPr>
            <a:spLocks xmlns:a="http://schemas.openxmlformats.org/drawingml/2006/main" noGrp="1"/>
          </p:cNvSpPr>
          <p:nvPr/>
        </p:nvSpPr>
        <p:spPr>
          <a:xfrm xmlns:a="http://schemas.openxmlformats.org/drawingml/2006/main">
            <a:off x="10210800" y="26670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350" b="1">
                <a:solidFill>
                  <a:srgbClr val="10B981"/>
                </a:solidFill>
                <a:latin typeface="Aptos"/>
                <a:ea typeface="Aptos"/>
                <a:cs typeface="Aptos"/>
              </a:defRPr>
            </a:pPr>
            <a:r>
              <a:rPr sz="1350" b="1">
                <a:solidFill>
                  <a:srgbClr val="10B981"/>
                </a:solidFill>
                <a:latin typeface="Aptos"/>
                <a:ea typeface="Aptos"/>
                <a:cs typeface="Aptos"/>
              </a:rPr>
              <a:t>AUTHORIZED STAFF</a:t>
            </a:r>
          </a:p>
        </p:txBody>
      </p:sp>
      <p:sp>
        <p:nvSpPr>
          <p:cNvPr id="11" name="">
            <a:extLst xmlns:a="http://schemas.openxmlformats.org/drawingml/2006/main">
              <a:ext uri="{FF2B5EF4-FFF2-40B4-BE49-F238E27FC236}">
                <a16:creationId xmlns:a16="http://schemas.microsoft.com/office/drawing/2014/main" id="{34906659-DA0A-498F-B3D2-675CCAA1CA9C}"/>
              </a:ext>
            </a:extLst>
          </p:cNvPr>
          <p:cNvSpPr>
            <a:spLocks xmlns:a="http://schemas.openxmlformats.org/drawingml/2006/main" noGrp="1"/>
          </p:cNvSpPr>
          <p:nvPr/>
        </p:nvSpPr>
        <p:spPr>
          <a:xfrm xmlns:a="http://schemas.openxmlformats.org/drawingml/2006/main">
            <a:off x="10210800" y="3333750"/>
            <a:ext cx="14859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13000"/>
              </a:lnSpc>
              <a:buNone/>
              <a:defRPr sz="1725" b="1">
                <a:solidFill>
                  <a:srgbClr val="FFFFFF"/>
                </a:solidFill>
                <a:latin typeface="Aptos Display"/>
                <a:ea typeface="Aptos Display"/>
                <a:cs typeface="Aptos Display"/>
              </a:defRPr>
            </a:pPr>
            <a:r>
              <a:rPr sz="1725" b="1">
                <a:solidFill>
                  <a:srgbClr val="FFFFFF"/>
                </a:solidFill>
                <a:latin typeface="Aptos Display"/>
                <a:ea typeface="Aptos Display"/>
                <a:cs typeface="Aptos Display"/>
              </a:rPr>
              <a:t>Verify</a:t>
            </a:r>
          </a:p>
          <a:p xmlns:a="http://schemas.openxmlformats.org/drawingml/2006/main">
            <a:pPr algn="r">
              <a:lnSpc>
                <a:spcPct val="113000"/>
              </a:lnSpc>
              <a:buNone/>
              <a:defRPr sz="1725" b="1">
                <a:solidFill>
                  <a:srgbClr val="FFFFFF"/>
                </a:solidFill>
                <a:latin typeface="Aptos Display"/>
                <a:ea typeface="Aptos Display"/>
                <a:cs typeface="Aptos Display"/>
              </a:defRPr>
            </a:pPr>
            <a:r>
              <a:rPr sz="1725" b="1">
                <a:solidFill>
                  <a:srgbClr val="FFFFFF"/>
                </a:solidFill>
                <a:latin typeface="Aptos Display"/>
                <a:ea typeface="Aptos Display"/>
                <a:cs typeface="Aptos Display"/>
              </a:rPr>
              <a:t>Search</a:t>
            </a:r>
          </a:p>
          <a:p xmlns:a="http://schemas.openxmlformats.org/drawingml/2006/main">
            <a:pPr algn="r">
              <a:lnSpc>
                <a:spcPct val="113000"/>
              </a:lnSpc>
              <a:buNone/>
              <a:defRPr sz="1725" b="1">
                <a:solidFill>
                  <a:srgbClr val="FFFFFF"/>
                </a:solidFill>
                <a:latin typeface="Aptos Display"/>
                <a:ea typeface="Aptos Display"/>
                <a:cs typeface="Aptos Display"/>
              </a:defRPr>
            </a:pPr>
            <a:r>
              <a:rPr sz="1725" b="1">
                <a:solidFill>
                  <a:srgbClr val="FFFFFF"/>
                </a:solidFill>
                <a:latin typeface="Aptos Display"/>
                <a:ea typeface="Aptos Display"/>
                <a:cs typeface="Aptos Display"/>
              </a:rPr>
              <a:t>Read result</a:t>
            </a:r>
          </a:p>
          <a:p xmlns:a="http://schemas.openxmlformats.org/drawingml/2006/main">
            <a:pPr algn="r">
              <a:lnSpc>
                <a:spcPct val="113000"/>
              </a:lnSpc>
              <a:buNone/>
              <a:defRPr sz="1725" b="1">
                <a:solidFill>
                  <a:srgbClr val="FFFFFF"/>
                </a:solidFill>
                <a:latin typeface="Aptos Display"/>
                <a:ea typeface="Aptos Display"/>
                <a:cs typeface="Aptos Display"/>
              </a:defRPr>
            </a:pPr>
            <a:r>
              <a:rPr sz="1725" b="1">
                <a:solidFill>
                  <a:srgbClr val="FFFFFF"/>
                </a:solidFill>
                <a:latin typeface="Aptos Display"/>
                <a:ea typeface="Aptos Display"/>
                <a:cs typeface="Aptos Display"/>
              </a:rPr>
              <a:t>Create audit trail</a:t>
            </a:r>
          </a:p>
        </p:txBody>
      </p:sp>
      <p:cxnSp>
        <p:nvCxnSpPr>
          <p:cNvPr id="26" name=""/>
          <p:cNvCxnSpPr/>
          <p:nvPr/>
        </p:nvCxnSpPr>
        <p:spPr>
          <a:xfrm xmlns:a="http://schemas.openxmlformats.org/drawingml/2006/main">
            <a:off x="4629150" y="4114800"/>
            <a:ext cx="2800350" cy="0"/>
          </a:xfrm>
          <a:prstGeom xmlns:a="http://schemas.openxmlformats.org/drawingml/2006/main" prst="straightConnector1">
            <a:avLst/>
          </a:prstGeom>
          <a:ln xmlns:a="http://schemas.openxmlformats.org/drawingml/2006/main" w="19050">
            <a:solidFill>
              <a:srgbClr val="27324A"/>
            </a:solidFill>
            <a:prstDash val="solid"/>
          </a:ln>
        </p:spPr>
      </p:cxnSp>
      <p:sp>
        <p:nvSpPr>
          <p:cNvPr id="13" name="">
            <a:extLst xmlns:a="http://schemas.openxmlformats.org/drawingml/2006/main">
              <a:ext uri="{FF2B5EF4-FFF2-40B4-BE49-F238E27FC236}">
                <a16:creationId xmlns:a16="http://schemas.microsoft.com/office/drawing/2014/main" id="{840D55A4-7DC9-4B30-B5BD-8DB5AA0E86D2}"/>
              </a:ext>
            </a:extLst>
          </p:cNvPr>
          <p:cNvSpPr>
            <a:spLocks xmlns:a="http://schemas.openxmlformats.org/drawingml/2006/main" noGrp="1"/>
          </p:cNvSpPr>
          <p:nvPr/>
        </p:nvSpPr>
        <p:spPr>
          <a:xfrm xmlns:a="http://schemas.openxmlformats.org/drawingml/2006/main">
            <a:off x="4762500" y="3829050"/>
            <a:ext cx="2533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38BDF8"/>
                </a:solidFill>
                <a:latin typeface="Aptos"/>
                <a:ea typeface="Aptos"/>
                <a:cs typeface="Aptos"/>
              </a:defRPr>
            </a:pPr>
            <a:r>
              <a:rPr sz="1050" b="1">
                <a:solidFill>
                  <a:srgbClr val="38BDF8"/>
                </a:solidFill>
                <a:latin typeface="Aptos"/>
                <a:ea typeface="Aptos"/>
                <a:cs typeface="Aptos"/>
              </a:rPr>
              <a:t>BACKEND DECISION</a:t>
            </a:r>
          </a:p>
        </p:txBody>
      </p:sp>
      <p:sp>
        <p:nvSpPr>
          <p:cNvPr id="14" name="">
            <a:extLst xmlns:a="http://schemas.openxmlformats.org/drawingml/2006/main">
              <a:ext uri="{FF2B5EF4-FFF2-40B4-BE49-F238E27FC236}">
                <a16:creationId xmlns:a16="http://schemas.microsoft.com/office/drawing/2014/main" id="{BB2FBBD7-2C8B-426A-A1D5-1780B97C5CB4}"/>
              </a:ext>
            </a:extLst>
          </p:cNvPr>
          <p:cNvSpPr>
            <a:spLocks xmlns:a="http://schemas.openxmlformats.org/drawingml/2006/main" noGrp="1"/>
          </p:cNvSpPr>
          <p:nvPr/>
        </p:nvSpPr>
        <p:spPr>
          <a:xfrm xmlns:a="http://schemas.openxmlformats.org/drawingml/2006/main">
            <a:off x="4724400" y="4286250"/>
            <a:ext cx="2609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D4DAE6"/>
                </a:solidFill>
                <a:latin typeface="Aptos"/>
                <a:ea typeface="Aptos"/>
                <a:cs typeface="Aptos"/>
              </a:defRPr>
            </a:pPr>
            <a:r>
              <a:rPr sz="1500" b="0">
                <a:solidFill>
                  <a:srgbClr val="D4DAE6"/>
                </a:solidFill>
                <a:latin typeface="Aptos"/>
                <a:ea typeface="Aptos"/>
                <a:cs typeface="Aptos"/>
              </a:rPr>
              <a:t>The phone displays the result. It does not invent it.</a:t>
            </a:r>
          </a:p>
        </p:txBody>
      </p:sp>
    </p:spTree>
    <p:extLst>
      <p:ext uri="{BB962C8B-B14F-4D97-AF65-F5344CB8AC3E}">
        <p14:creationId xmlns:p14="http://schemas.microsoft.com/office/powerpoint/2010/main" val="1100717546"/>
      </p:ext>
    </p:extLst>
  </p:cSld>
</p:sld>
</file>

<file path=ppt/slides/slide8.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46027F-F087-422D-A27C-2F90D3D75398}"/>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D4AFF"/>
                </a:solidFill>
                <a:latin typeface="Aptos"/>
                <a:ea typeface="Aptos"/>
                <a:cs typeface="Aptos"/>
              </a:defRPr>
            </a:pPr>
            <a:r>
              <a:rPr sz="975" b="1">
                <a:solidFill>
                  <a:srgbClr val="6D4AFF"/>
                </a:solidFill>
                <a:latin typeface="Aptos"/>
                <a:ea typeface="Aptos"/>
                <a:cs typeface="Aptos"/>
              </a:rPr>
              <a:t>08 / 13</a:t>
            </a:r>
          </a:p>
        </p:txBody>
      </p:sp>
      <p:sp>
        <p:nvSpPr>
          <p:cNvPr id="2" name="">
            <a:extLst xmlns:a="http://schemas.openxmlformats.org/drawingml/2006/main">
              <a:ext uri="{FF2B5EF4-FFF2-40B4-BE49-F238E27FC236}">
                <a16:creationId xmlns:a16="http://schemas.microsoft.com/office/drawing/2014/main" id="{2AE606DC-D222-4EA1-8922-ED6276F49407}"/>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VERIFICATION AND SECURITY</a:t>
            </a:r>
          </a:p>
        </p:txBody>
      </p:sp>
      <p:sp>
        <p:nvSpPr>
          <p:cNvPr id="3" name="">
            <a:extLst xmlns:a="http://schemas.openxmlformats.org/drawingml/2006/main">
              <a:ext uri="{FF2B5EF4-FFF2-40B4-BE49-F238E27FC236}">
                <a16:creationId xmlns:a16="http://schemas.microsoft.com/office/drawing/2014/main" id="{2A2BB952-6249-400B-92C2-22D4FA4A217A}"/>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F45FBF45-7072-4760-B53C-2C2D430A40A2}"/>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200" b="1">
                <a:solidFill>
                  <a:srgbClr val="101828"/>
                </a:solidFill>
                <a:latin typeface="Aptos Display"/>
                <a:ea typeface="Aptos Display"/>
                <a:cs typeface="Aptos Display"/>
              </a:defRPr>
            </a:pPr>
            <a:r>
              <a:rPr sz="4200" b="1">
                <a:solidFill>
                  <a:srgbClr val="101828"/>
                </a:solidFill>
                <a:latin typeface="Aptos Display"/>
                <a:ea typeface="Aptos Display"/>
                <a:cs typeface="Aptos Display"/>
              </a:rPr>
              <a:t>NFC starts the lookup. The backend decides.</a:t>
            </a:r>
          </a:p>
        </p:txBody>
      </p:sp>
      <p:sp>
        <p:nvSpPr>
          <p:cNvPr id="5" name="">
            <a:extLst xmlns:a="http://schemas.openxmlformats.org/drawingml/2006/main">
              <a:ext uri="{FF2B5EF4-FFF2-40B4-BE49-F238E27FC236}">
                <a16:creationId xmlns:a16="http://schemas.microsoft.com/office/drawing/2014/main" id="{0814388B-6460-456F-94F9-C4086579F8E3}"/>
              </a:ext>
            </a:extLst>
          </p:cNvPr>
          <p:cNvSpPr>
            <a:spLocks xmlns:a="http://schemas.openxmlformats.org/drawingml/2006/main" noGrp="1"/>
          </p:cNvSpPr>
          <p:nvPr/>
        </p:nvSpPr>
        <p:spPr>
          <a:xfrm xmlns:a="http://schemas.openxmlformats.org/drawingml/2006/main">
            <a:off x="533400" y="173355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ptos"/>
                <a:ea typeface="Aptos"/>
                <a:cs typeface="Aptos"/>
              </a:defRPr>
            </a:pPr>
            <a:r>
              <a:rPr sz="1725" b="0">
                <a:solidFill>
                  <a:srgbClr val="667085"/>
                </a:solidFill>
                <a:latin typeface="Aptos"/>
                <a:ea typeface="Aptos"/>
                <a:cs typeface="Aptos"/>
              </a:rPr>
              <a:t>The card stores an identifier—not a complete student profile or permit decision.</a:t>
            </a:r>
          </a:p>
        </p:txBody>
      </p:sp>
      <p:sp>
        <p:nvSpPr>
          <p:cNvPr id="6" name="">
            <a:extLst xmlns:a="http://schemas.openxmlformats.org/drawingml/2006/main">
              <a:ext uri="{FF2B5EF4-FFF2-40B4-BE49-F238E27FC236}">
                <a16:creationId xmlns:a16="http://schemas.microsoft.com/office/drawing/2014/main" id="{A5DA2957-C3C9-42A8-A3ED-99F4DF218144}"/>
              </a:ext>
            </a:extLst>
          </p:cNvPr>
          <p:cNvSpPr>
            <a:spLocks xmlns:a="http://schemas.openxmlformats.org/drawingml/2006/main" noGrp="1"/>
          </p:cNvSpPr>
          <p:nvPr/>
        </p:nvSpPr>
        <p:spPr>
          <a:xfrm xmlns:a="http://schemas.openxmlformats.org/drawingml/2006/main">
            <a:off x="533400" y="2647950"/>
            <a:ext cx="876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667"/>
          </a:bodyPr>
          <a:lstStyle xmlns:a="http://schemas.openxmlformats.org/drawingml/2006/main"/>
          <a:p xmlns:a="http://schemas.openxmlformats.org/drawingml/2006/main">
            <a:pPr algn="l">
              <a:defRPr sz="7500" b="1">
                <a:solidFill>
                  <a:srgbClr val="6D4AFF"/>
                </a:solidFill>
                <a:latin typeface="Aptos Display"/>
                <a:ea typeface="Aptos Display"/>
                <a:cs typeface="Aptos Display"/>
              </a:defRPr>
            </a:pPr>
            <a:r>
              <a:rPr sz="7500" b="1">
                <a:solidFill>
                  <a:srgbClr val="6D4AFF"/>
                </a:solidFill>
                <a:latin typeface="Aptos Display"/>
                <a:ea typeface="Aptos Display"/>
                <a:cs typeface="Aptos Display"/>
              </a:rPr>
              <a:t>1</a:t>
            </a:r>
          </a:p>
        </p:txBody>
      </p:sp>
      <p:sp>
        <p:nvSpPr>
          <p:cNvPr id="7" name="">
            <a:extLst xmlns:a="http://schemas.openxmlformats.org/drawingml/2006/main">
              <a:ext uri="{FF2B5EF4-FFF2-40B4-BE49-F238E27FC236}">
                <a16:creationId xmlns:a16="http://schemas.microsoft.com/office/drawing/2014/main" id="{36D8FD70-6022-48A0-B24A-EFF1FAE77C92}"/>
              </a:ext>
            </a:extLst>
          </p:cNvPr>
          <p:cNvSpPr>
            <a:spLocks xmlns:a="http://schemas.openxmlformats.org/drawingml/2006/main" noGrp="1"/>
          </p:cNvSpPr>
          <p:nvPr/>
        </p:nvSpPr>
        <p:spPr>
          <a:xfrm xmlns:a="http://schemas.openxmlformats.org/drawingml/2006/main">
            <a:off x="1504950" y="2838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1828"/>
                </a:solidFill>
                <a:latin typeface="Aptos Display"/>
                <a:ea typeface="Aptos Display"/>
                <a:cs typeface="Aptos Display"/>
              </a:defRPr>
            </a:pPr>
            <a:r>
              <a:rPr sz="2100" b="1">
                <a:solidFill>
                  <a:srgbClr val="101828"/>
                </a:solidFill>
                <a:latin typeface="Aptos Display"/>
                <a:ea typeface="Aptos Display"/>
                <a:cs typeface="Aptos Display"/>
              </a:rPr>
              <a:t>TAP</a:t>
            </a:r>
          </a:p>
        </p:txBody>
      </p:sp>
      <p:sp>
        <p:nvSpPr>
          <p:cNvPr id="8" name="">
            <a:extLst xmlns:a="http://schemas.openxmlformats.org/drawingml/2006/main">
              <a:ext uri="{FF2B5EF4-FFF2-40B4-BE49-F238E27FC236}">
                <a16:creationId xmlns:a16="http://schemas.microsoft.com/office/drawing/2014/main" id="{6C1B2DA9-0C1A-4179-A697-15E91A18FF2A}"/>
              </a:ext>
            </a:extLst>
          </p:cNvPr>
          <p:cNvSpPr>
            <a:spLocks xmlns:a="http://schemas.openxmlformats.org/drawingml/2006/main" noGrp="1"/>
          </p:cNvSpPr>
          <p:nvPr/>
        </p:nvSpPr>
        <p:spPr>
          <a:xfrm xmlns:a="http://schemas.openxmlformats.org/drawingml/2006/main">
            <a:off x="1504950" y="3314700"/>
            <a:ext cx="2228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ptos"/>
                <a:ea typeface="Aptos"/>
                <a:cs typeface="Aptos"/>
              </a:defRPr>
            </a:pPr>
            <a:r>
              <a:rPr sz="1425" b="0">
                <a:solidFill>
                  <a:srgbClr val="667085"/>
                </a:solidFill>
                <a:latin typeface="Aptos"/>
                <a:ea typeface="Aptos"/>
                <a:cs typeface="Aptos"/>
              </a:rPr>
              <a:t>Phone reads the registered identifier.</a:t>
            </a:r>
          </a:p>
        </p:txBody>
      </p:sp>
      <p:sp>
        <p:nvSpPr>
          <p:cNvPr id="9" name="">
            <a:extLst xmlns:a="http://schemas.openxmlformats.org/drawingml/2006/main">
              <a:ext uri="{FF2B5EF4-FFF2-40B4-BE49-F238E27FC236}">
                <a16:creationId xmlns:a16="http://schemas.microsoft.com/office/drawing/2014/main" id="{C1596CE0-99D9-407D-B18D-BE0A1A1024C0}"/>
              </a:ext>
            </a:extLst>
          </p:cNvPr>
          <p:cNvSpPr>
            <a:spLocks xmlns:a="http://schemas.openxmlformats.org/drawingml/2006/main" noGrp="1"/>
          </p:cNvSpPr>
          <p:nvPr/>
        </p:nvSpPr>
        <p:spPr>
          <a:xfrm xmlns:a="http://schemas.openxmlformats.org/drawingml/2006/main">
            <a:off x="3676650" y="3009900"/>
            <a:ext cx="457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a:solidFill>
                  <a:srgbClr val="CBD5E1"/>
                </a:solidFill>
                <a:latin typeface="Aptos"/>
                <a:ea typeface="Aptos"/>
                <a:cs typeface="Aptos"/>
              </a:defRPr>
            </a:pPr>
            <a:r>
              <a:rPr sz="2550" b="1">
                <a:solidFill>
                  <a:srgbClr val="CBD5E1"/>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49AE16F6-AEB6-4CF5-9823-25DFFE7705BB}"/>
              </a:ext>
            </a:extLst>
          </p:cNvPr>
          <p:cNvSpPr>
            <a:spLocks xmlns:a="http://schemas.openxmlformats.org/drawingml/2006/main" noGrp="1"/>
          </p:cNvSpPr>
          <p:nvPr/>
        </p:nvSpPr>
        <p:spPr>
          <a:xfrm xmlns:a="http://schemas.openxmlformats.org/drawingml/2006/main">
            <a:off x="4248150" y="2647950"/>
            <a:ext cx="876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667"/>
          </a:bodyPr>
          <a:lstStyle xmlns:a="http://schemas.openxmlformats.org/drawingml/2006/main"/>
          <a:p xmlns:a="http://schemas.openxmlformats.org/drawingml/2006/main">
            <a:pPr algn="l">
              <a:defRPr sz="7500" b="1">
                <a:solidFill>
                  <a:srgbClr val="6D4AFF"/>
                </a:solidFill>
                <a:latin typeface="Aptos Display"/>
                <a:ea typeface="Aptos Display"/>
                <a:cs typeface="Aptos Display"/>
              </a:defRPr>
            </a:pPr>
            <a:r>
              <a:rPr sz="7500" b="1">
                <a:solidFill>
                  <a:srgbClr val="6D4AFF"/>
                </a:solidFill>
                <a:latin typeface="Aptos Display"/>
                <a:ea typeface="Aptos Display"/>
                <a:cs typeface="Aptos Display"/>
              </a:rPr>
              <a:t>2</a:t>
            </a:r>
          </a:p>
        </p:txBody>
      </p:sp>
      <p:sp>
        <p:nvSpPr>
          <p:cNvPr id="11" name="">
            <a:extLst xmlns:a="http://schemas.openxmlformats.org/drawingml/2006/main">
              <a:ext uri="{FF2B5EF4-FFF2-40B4-BE49-F238E27FC236}">
                <a16:creationId xmlns:a16="http://schemas.microsoft.com/office/drawing/2014/main" id="{6C5DD18E-8708-4D80-8D4A-77D37606A749}"/>
              </a:ext>
            </a:extLst>
          </p:cNvPr>
          <p:cNvSpPr>
            <a:spLocks xmlns:a="http://schemas.openxmlformats.org/drawingml/2006/main" noGrp="1"/>
          </p:cNvSpPr>
          <p:nvPr/>
        </p:nvSpPr>
        <p:spPr>
          <a:xfrm xmlns:a="http://schemas.openxmlformats.org/drawingml/2006/main">
            <a:off x="5219700" y="2838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1828"/>
                </a:solidFill>
                <a:latin typeface="Aptos Display"/>
                <a:ea typeface="Aptos Display"/>
                <a:cs typeface="Aptos Display"/>
              </a:defRPr>
            </a:pPr>
            <a:r>
              <a:rPr sz="2100" b="1">
                <a:solidFill>
                  <a:srgbClr val="101828"/>
                </a:solidFill>
                <a:latin typeface="Aptos Display"/>
                <a:ea typeface="Aptos Display"/>
                <a:cs typeface="Aptos Display"/>
              </a:rPr>
              <a:t>CHECK</a:t>
            </a:r>
          </a:p>
        </p:txBody>
      </p:sp>
      <p:sp>
        <p:nvSpPr>
          <p:cNvPr id="12" name="">
            <a:extLst xmlns:a="http://schemas.openxmlformats.org/drawingml/2006/main">
              <a:ext uri="{FF2B5EF4-FFF2-40B4-BE49-F238E27FC236}">
                <a16:creationId xmlns:a16="http://schemas.microsoft.com/office/drawing/2014/main" id="{1EDED4EC-F2A1-4EEB-903D-4D50ABDEDFEC}"/>
              </a:ext>
            </a:extLst>
          </p:cNvPr>
          <p:cNvSpPr>
            <a:spLocks xmlns:a="http://schemas.openxmlformats.org/drawingml/2006/main" noGrp="1"/>
          </p:cNvSpPr>
          <p:nvPr/>
        </p:nvSpPr>
        <p:spPr>
          <a:xfrm xmlns:a="http://schemas.openxmlformats.org/drawingml/2006/main">
            <a:off x="5219700" y="3314700"/>
            <a:ext cx="2228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ptos"/>
                <a:ea typeface="Aptos"/>
                <a:cs typeface="Aptos"/>
              </a:defRPr>
            </a:pPr>
            <a:r>
              <a:rPr sz="1425" b="0">
                <a:solidFill>
                  <a:srgbClr val="667085"/>
                </a:solidFill>
                <a:latin typeface="Aptos"/>
                <a:ea typeface="Aptos"/>
                <a:cs typeface="Aptos"/>
              </a:rPr>
              <a:t>Backend confirms the verifier, linked record, and current status.</a:t>
            </a:r>
          </a:p>
        </p:txBody>
      </p:sp>
      <p:sp>
        <p:nvSpPr>
          <p:cNvPr id="13" name="">
            <a:extLst xmlns:a="http://schemas.openxmlformats.org/drawingml/2006/main">
              <a:ext uri="{FF2B5EF4-FFF2-40B4-BE49-F238E27FC236}">
                <a16:creationId xmlns:a16="http://schemas.microsoft.com/office/drawing/2014/main" id="{82512E29-226F-4545-82A2-8BC1A9612EBC}"/>
              </a:ext>
            </a:extLst>
          </p:cNvPr>
          <p:cNvSpPr>
            <a:spLocks xmlns:a="http://schemas.openxmlformats.org/drawingml/2006/main" noGrp="1"/>
          </p:cNvSpPr>
          <p:nvPr/>
        </p:nvSpPr>
        <p:spPr>
          <a:xfrm xmlns:a="http://schemas.openxmlformats.org/drawingml/2006/main">
            <a:off x="7391400" y="3009900"/>
            <a:ext cx="457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550" b="1">
                <a:solidFill>
                  <a:srgbClr val="CBD5E1"/>
                </a:solidFill>
                <a:latin typeface="Aptos"/>
                <a:ea typeface="Aptos"/>
                <a:cs typeface="Aptos"/>
              </a:defRPr>
            </a:pPr>
            <a:r>
              <a:rPr sz="2550" b="1">
                <a:solidFill>
                  <a:srgbClr val="CBD5E1"/>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3D333D66-E330-4EF4-8F14-116D5664884B}"/>
              </a:ext>
            </a:extLst>
          </p:cNvPr>
          <p:cNvSpPr>
            <a:spLocks xmlns:a="http://schemas.openxmlformats.org/drawingml/2006/main" noGrp="1"/>
          </p:cNvSpPr>
          <p:nvPr/>
        </p:nvSpPr>
        <p:spPr>
          <a:xfrm xmlns:a="http://schemas.openxmlformats.org/drawingml/2006/main">
            <a:off x="7962900" y="2647950"/>
            <a:ext cx="876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667"/>
          </a:bodyPr>
          <a:lstStyle xmlns:a="http://schemas.openxmlformats.org/drawingml/2006/main"/>
          <a:p xmlns:a="http://schemas.openxmlformats.org/drawingml/2006/main">
            <a:pPr algn="l">
              <a:defRPr sz="7500" b="1">
                <a:solidFill>
                  <a:srgbClr val="10B981"/>
                </a:solidFill>
                <a:latin typeface="Aptos Display"/>
                <a:ea typeface="Aptos Display"/>
                <a:cs typeface="Aptos Display"/>
              </a:defRPr>
            </a:pPr>
            <a:r>
              <a:rPr sz="7500" b="1">
                <a:solidFill>
                  <a:srgbClr val="10B981"/>
                </a:solidFill>
                <a:latin typeface="Aptos Display"/>
                <a:ea typeface="Aptos Display"/>
                <a:cs typeface="Aptos Display"/>
              </a:rPr>
              <a:t>3</a:t>
            </a:r>
          </a:p>
        </p:txBody>
      </p:sp>
      <p:sp>
        <p:nvSpPr>
          <p:cNvPr id="15" name="">
            <a:extLst xmlns:a="http://schemas.openxmlformats.org/drawingml/2006/main">
              <a:ext uri="{FF2B5EF4-FFF2-40B4-BE49-F238E27FC236}">
                <a16:creationId xmlns:a16="http://schemas.microsoft.com/office/drawing/2014/main" id="{1A6D16F1-F5BC-47F0-A21B-976767CAE2A5}"/>
              </a:ext>
            </a:extLst>
          </p:cNvPr>
          <p:cNvSpPr>
            <a:spLocks xmlns:a="http://schemas.openxmlformats.org/drawingml/2006/main" noGrp="1"/>
          </p:cNvSpPr>
          <p:nvPr/>
        </p:nvSpPr>
        <p:spPr>
          <a:xfrm xmlns:a="http://schemas.openxmlformats.org/drawingml/2006/main">
            <a:off x="8934450" y="2838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01828"/>
                </a:solidFill>
                <a:latin typeface="Aptos Display"/>
                <a:ea typeface="Aptos Display"/>
                <a:cs typeface="Aptos Display"/>
              </a:defRPr>
            </a:pPr>
            <a:r>
              <a:rPr sz="2100" b="1">
                <a:solidFill>
                  <a:srgbClr val="101828"/>
                </a:solidFill>
                <a:latin typeface="Aptos Display"/>
                <a:ea typeface="Aptos Display"/>
                <a:cs typeface="Aptos Display"/>
              </a:rPr>
              <a:t>RETURN</a:t>
            </a:r>
          </a:p>
        </p:txBody>
      </p:sp>
      <p:sp>
        <p:nvSpPr>
          <p:cNvPr id="16" name="">
            <a:extLst xmlns:a="http://schemas.openxmlformats.org/drawingml/2006/main">
              <a:ext uri="{FF2B5EF4-FFF2-40B4-BE49-F238E27FC236}">
                <a16:creationId xmlns:a16="http://schemas.microsoft.com/office/drawing/2014/main" id="{C4027C5A-5D68-4BCB-B3B9-5144607038FC}"/>
              </a:ext>
            </a:extLst>
          </p:cNvPr>
          <p:cNvSpPr>
            <a:spLocks xmlns:a="http://schemas.openxmlformats.org/drawingml/2006/main" noGrp="1"/>
          </p:cNvSpPr>
          <p:nvPr/>
        </p:nvSpPr>
        <p:spPr>
          <a:xfrm xmlns:a="http://schemas.openxmlformats.org/drawingml/2006/main">
            <a:off x="8934450" y="3314700"/>
            <a:ext cx="2228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ptos"/>
                <a:ea typeface="Aptos"/>
                <a:cs typeface="Aptos"/>
              </a:defRPr>
            </a:pPr>
            <a:r>
              <a:rPr sz="1425" b="0">
                <a:solidFill>
                  <a:srgbClr val="667085"/>
                </a:solidFill>
                <a:latin typeface="Aptos"/>
                <a:ea typeface="Aptos"/>
                <a:cs typeface="Aptos"/>
              </a:rPr>
              <a:t>Authorized result is displayed and logged.</a:t>
            </a:r>
          </a:p>
        </p:txBody>
      </p:sp>
      <p:cxnSp>
        <p:nvCxnSpPr>
          <p:cNvPr id="37" name=""/>
          <p:cNvCxnSpPr/>
          <p:nvPr/>
        </p:nvCxnSpPr>
        <p:spPr>
          <a:xfrm xmlns:a="http://schemas.openxmlformats.org/drawingml/2006/main">
            <a:off x="533400" y="4610100"/>
            <a:ext cx="11125200" cy="0"/>
          </a:xfrm>
          <a:prstGeom xmlns:a="http://schemas.openxmlformats.org/drawingml/2006/main" prst="straightConnector1">
            <a:avLst/>
          </a:prstGeom>
          <a:ln xmlns:a="http://schemas.openxmlformats.org/drawingml/2006/main" w="19050">
            <a:solidFill>
              <a:srgbClr val="CBD5E1"/>
            </a:solidFill>
            <a:prstDash val="solid"/>
          </a:ln>
        </p:spPr>
      </p:cxnSp>
      <p:sp>
        <p:nvSpPr>
          <p:cNvPr id="18" name="">
            <a:extLst xmlns:a="http://schemas.openxmlformats.org/drawingml/2006/main">
              <a:ext uri="{FF2B5EF4-FFF2-40B4-BE49-F238E27FC236}">
                <a16:creationId xmlns:a16="http://schemas.microsoft.com/office/drawing/2014/main" id="{66E99223-DE76-4B1D-9E6A-F48EB8547745}"/>
              </a:ext>
            </a:extLst>
          </p:cNvPr>
          <p:cNvSpPr>
            <a:spLocks xmlns:a="http://schemas.openxmlformats.org/drawingml/2006/main" noGrp="1"/>
          </p:cNvSpPr>
          <p:nvPr/>
        </p:nvSpPr>
        <p:spPr>
          <a:xfrm xmlns:a="http://schemas.openxmlformats.org/drawingml/2006/main">
            <a:off x="533400" y="4991100"/>
            <a:ext cx="11125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6D4AFF"/>
                </a:solidFill>
                <a:latin typeface="Aptos"/>
                <a:ea typeface="Aptos"/>
                <a:cs typeface="Aptos"/>
              </a:defRPr>
            </a:pPr>
            <a:r>
              <a:rPr sz="1350" b="1">
                <a:solidFill>
                  <a:srgbClr val="6D4AFF"/>
                </a:solidFill>
                <a:latin typeface="Aptos"/>
                <a:ea typeface="Aptos"/>
                <a:cs typeface="Aptos"/>
              </a:rPr>
              <a:t>ROLE ACCESS  •  SERVER VALIDATION  •  AUDIT LOGS  •  RATE LIMITS  •  VERIFIED PAYMENTS</a:t>
            </a:r>
          </a:p>
        </p:txBody>
      </p:sp>
      <p:sp>
        <p:nvSpPr>
          <p:cNvPr id="19" name="">
            <a:extLst xmlns:a="http://schemas.openxmlformats.org/drawingml/2006/main">
              <a:ext uri="{FF2B5EF4-FFF2-40B4-BE49-F238E27FC236}">
                <a16:creationId xmlns:a16="http://schemas.microsoft.com/office/drawing/2014/main" id="{F4BF6712-59A7-489D-86EA-7D899A3E3868}"/>
              </a:ext>
            </a:extLst>
          </p:cNvPr>
          <p:cNvSpPr>
            <a:spLocks xmlns:a="http://schemas.openxmlformats.org/drawingml/2006/main" noGrp="1"/>
          </p:cNvSpPr>
          <p:nvPr/>
        </p:nvSpPr>
        <p:spPr>
          <a:xfrm xmlns:a="http://schemas.openxmlformats.org/drawingml/2006/main">
            <a:off x="533400" y="5657850"/>
            <a:ext cx="76200" cy="4953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20" name="">
            <a:extLst xmlns:a="http://schemas.openxmlformats.org/drawingml/2006/main">
              <a:ext uri="{FF2B5EF4-FFF2-40B4-BE49-F238E27FC236}">
                <a16:creationId xmlns:a16="http://schemas.microsoft.com/office/drawing/2014/main" id="{8BD82DA0-62A1-4A2E-BCDB-1096BFCA561E}"/>
              </a:ext>
            </a:extLst>
          </p:cNvPr>
          <p:cNvSpPr>
            <a:spLocks xmlns:a="http://schemas.openxmlformats.org/drawingml/2006/main" noGrp="1"/>
          </p:cNvSpPr>
          <p:nvPr/>
        </p:nvSpPr>
        <p:spPr>
          <a:xfrm xmlns:a="http://schemas.openxmlformats.org/drawingml/2006/main">
            <a:off x="800100" y="570547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ptos"/>
                <a:ea typeface="Aptos"/>
                <a:cs typeface="Aptos"/>
              </a:defRPr>
            </a:pPr>
            <a:r>
              <a:rPr sz="1350" b="0">
                <a:solidFill>
                  <a:srgbClr val="667085"/>
                </a:solidFill>
                <a:latin typeface="Aptos"/>
                <a:ea typeface="Aptos"/>
                <a:cs typeface="Aptos"/>
              </a:rPr>
              <a:t>Copied identifiers remain a risk. Stronger deployments can add cryptographic tags or controlled devices.</a:t>
            </a:r>
          </a:p>
        </p:txBody>
      </p:sp>
    </p:spTree>
    <p:extLst>
      <p:ext uri="{BB962C8B-B14F-4D97-AF65-F5344CB8AC3E}">
        <p14:creationId xmlns:p14="http://schemas.microsoft.com/office/powerpoint/2010/main" val="896304984"/>
      </p:ext>
    </p:extLst>
  </p:cSld>
</p:sld>
</file>

<file path=ppt/slides/slide9.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29A3619-8F27-4B7A-B4C3-7FC7BC777319}"/>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5CF6"/>
                </a:solidFill>
                <a:latin typeface="Aptos"/>
                <a:ea typeface="Aptos"/>
                <a:cs typeface="Aptos"/>
              </a:defRPr>
            </a:pPr>
            <a:r>
              <a:rPr sz="975" b="1">
                <a:solidFill>
                  <a:srgbClr val="8B5CF6"/>
                </a:solidFill>
                <a:latin typeface="Aptos"/>
                <a:ea typeface="Aptos"/>
                <a:cs typeface="Aptos"/>
              </a:rPr>
              <a:t>09 / 13</a:t>
            </a:r>
          </a:p>
        </p:txBody>
      </p:sp>
      <p:sp>
        <p:nvSpPr>
          <p:cNvPr id="2" name="">
            <a:extLst xmlns:a="http://schemas.openxmlformats.org/drawingml/2006/main">
              <a:ext uri="{FF2B5EF4-FFF2-40B4-BE49-F238E27FC236}">
                <a16:creationId xmlns:a16="http://schemas.microsoft.com/office/drawing/2014/main" id="{DA0359B1-C7DD-4D79-9EA3-C61065BBF870}"/>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PILOT EVIDENCE</a:t>
            </a:r>
          </a:p>
        </p:txBody>
      </p:sp>
      <p:sp>
        <p:nvSpPr>
          <p:cNvPr id="3" name="">
            <a:extLst xmlns:a="http://schemas.openxmlformats.org/drawingml/2006/main">
              <a:ext uri="{FF2B5EF4-FFF2-40B4-BE49-F238E27FC236}">
                <a16:creationId xmlns:a16="http://schemas.microsoft.com/office/drawing/2014/main" id="{F3D3F5E7-968D-4F92-AE7D-84D60BEC88D6}"/>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D4DAE6"/>
                </a:solidFill>
                <a:latin typeface="Aptos"/>
                <a:ea typeface="Aptos"/>
                <a:cs typeface="Aptos"/>
              </a:defRPr>
            </a:pPr>
            <a:r>
              <a:rPr sz="825" b="1">
                <a:solidFill>
                  <a:srgbClr val="D4DAE6"/>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5178DF7F-594D-4651-A2C9-9BED4322C54D}"/>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The pilot proved the permit and payment workflow</a:t>
            </a:r>
          </a:p>
        </p:txBody>
      </p:sp>
      <p:sp>
        <p:nvSpPr>
          <p:cNvPr id="5" name="">
            <a:extLst xmlns:a="http://schemas.openxmlformats.org/drawingml/2006/main">
              <a:ext uri="{FF2B5EF4-FFF2-40B4-BE49-F238E27FC236}">
                <a16:creationId xmlns:a16="http://schemas.microsoft.com/office/drawing/2014/main" id="{9F16A74B-FE73-4C6B-90C4-C7E5D0950F80}"/>
              </a:ext>
            </a:extLst>
          </p:cNvPr>
          <p:cNvSpPr>
            <a:spLocks xmlns:a="http://schemas.openxmlformats.org/drawingml/2006/main" noGrp="1"/>
          </p:cNvSpPr>
          <p:nvPr/>
        </p:nvSpPr>
        <p:spPr>
          <a:xfrm xmlns:a="http://schemas.openxmlformats.org/drawingml/2006/main">
            <a:off x="533400" y="16954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FF6B6B"/>
                </a:solidFill>
                <a:latin typeface="Aptos"/>
                <a:ea typeface="Aptos"/>
                <a:cs typeface="Aptos"/>
              </a:defRPr>
            </a:pPr>
            <a:r>
              <a:rPr sz="1725" b="0">
                <a:solidFill>
                  <a:srgbClr val="FF6B6B"/>
                </a:solidFill>
                <a:latin typeface="Aptos"/>
                <a:ea typeface="Aptos"/>
                <a:cs typeface="Aptos"/>
              </a:rPr>
              <a:t>It did not prove a completed campus-wide NFC rollout.</a:t>
            </a:r>
          </a:p>
        </p:txBody>
      </p:sp>
      <p:sp>
        <p:nvSpPr>
          <p:cNvPr id="6" name="">
            <a:extLst xmlns:a="http://schemas.openxmlformats.org/drawingml/2006/main">
              <a:ext uri="{FF2B5EF4-FFF2-40B4-BE49-F238E27FC236}">
                <a16:creationId xmlns:a16="http://schemas.microsoft.com/office/drawing/2014/main" id="{309321C0-175F-49CB-990E-36ACD41D459D}"/>
              </a:ext>
            </a:extLst>
          </p:cNvPr>
          <p:cNvSpPr>
            <a:spLocks xmlns:a="http://schemas.openxmlformats.org/drawingml/2006/main" noGrp="1"/>
          </p:cNvSpPr>
          <p:nvPr/>
        </p:nvSpPr>
        <p:spPr>
          <a:xfrm xmlns:a="http://schemas.openxmlformats.org/drawingml/2006/main">
            <a:off x="533400" y="268605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700" b="1">
                <a:solidFill>
                  <a:srgbClr val="8B5CF6"/>
                </a:solidFill>
                <a:latin typeface="Aptos Display"/>
                <a:ea typeface="Aptos Display"/>
                <a:cs typeface="Aptos Display"/>
              </a:defRPr>
            </a:pPr>
            <a:r>
              <a:rPr sz="5700" b="1">
                <a:solidFill>
                  <a:srgbClr val="8B5CF6"/>
                </a:solidFill>
                <a:latin typeface="Aptos Display"/>
                <a:ea typeface="Aptos Display"/>
                <a:cs typeface="Aptos Display"/>
              </a:rPr>
              <a:t>2,021</a:t>
            </a:r>
          </a:p>
        </p:txBody>
      </p:sp>
      <p:cxnSp>
        <p:nvCxnSpPr>
          <p:cNvPr id="23" name=""/>
          <p:cNvCxnSpPr/>
          <p:nvPr/>
        </p:nvCxnSpPr>
        <p:spPr>
          <a:xfrm xmlns:a="http://schemas.openxmlformats.org/drawingml/2006/main">
            <a:off x="533400" y="3733800"/>
            <a:ext cx="3028950" cy="0"/>
          </a:xfrm>
          <a:prstGeom xmlns:a="http://schemas.openxmlformats.org/drawingml/2006/main" prst="straightConnector1">
            <a:avLst/>
          </a:prstGeom>
          <a:ln xmlns:a="http://schemas.openxmlformats.org/drawingml/2006/main" w="47625">
            <a:solidFill>
              <a:srgbClr val="8B5CF6"/>
            </a:solidFill>
            <a:prstDash val="solid"/>
          </a:ln>
        </p:spPr>
      </p:cxnSp>
      <p:sp>
        <p:nvSpPr>
          <p:cNvPr id="8" name="">
            <a:extLst xmlns:a="http://schemas.openxmlformats.org/drawingml/2006/main">
              <a:ext uri="{FF2B5EF4-FFF2-40B4-BE49-F238E27FC236}">
                <a16:creationId xmlns:a16="http://schemas.microsoft.com/office/drawing/2014/main" id="{2CEB092A-35C6-4036-BF2B-A96134FD6436}"/>
              </a:ext>
            </a:extLst>
          </p:cNvPr>
          <p:cNvSpPr>
            <a:spLocks xmlns:a="http://schemas.openxmlformats.org/drawingml/2006/main" noGrp="1"/>
          </p:cNvSpPr>
          <p:nvPr/>
        </p:nvSpPr>
        <p:spPr>
          <a:xfrm xmlns:a="http://schemas.openxmlformats.org/drawingml/2006/main">
            <a:off x="533400" y="40195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D4DAE6"/>
                </a:solidFill>
                <a:latin typeface="Aptos"/>
                <a:ea typeface="Aptos"/>
                <a:cs typeface="Aptos"/>
              </a:defRPr>
            </a:pPr>
            <a:r>
              <a:rPr sz="1500" b="0">
                <a:solidFill>
                  <a:srgbClr val="D4DAE6"/>
                </a:solidFill>
                <a:latin typeface="Aptos"/>
                <a:ea typeface="Aptos"/>
                <a:cs typeface="Aptos"/>
              </a:rPr>
              <a:t>registered student records</a:t>
            </a:r>
          </a:p>
        </p:txBody>
      </p:sp>
      <p:sp>
        <p:nvSpPr>
          <p:cNvPr id="9" name="">
            <a:extLst xmlns:a="http://schemas.openxmlformats.org/drawingml/2006/main">
              <a:ext uri="{FF2B5EF4-FFF2-40B4-BE49-F238E27FC236}">
                <a16:creationId xmlns:a16="http://schemas.microsoft.com/office/drawing/2014/main" id="{6BB44B7C-D82C-4534-9B17-62C4F890D4AA}"/>
              </a:ext>
            </a:extLst>
          </p:cNvPr>
          <p:cNvSpPr>
            <a:spLocks xmlns:a="http://schemas.openxmlformats.org/drawingml/2006/main" noGrp="1"/>
          </p:cNvSpPr>
          <p:nvPr/>
        </p:nvSpPr>
        <p:spPr>
          <a:xfrm xmlns:a="http://schemas.openxmlformats.org/drawingml/2006/main">
            <a:off x="4057650" y="268605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700" b="1">
                <a:solidFill>
                  <a:srgbClr val="38BDF8"/>
                </a:solidFill>
                <a:latin typeface="Aptos Display"/>
                <a:ea typeface="Aptos Display"/>
                <a:cs typeface="Aptos Display"/>
              </a:defRPr>
            </a:pPr>
            <a:r>
              <a:rPr sz="5700" b="1">
                <a:solidFill>
                  <a:srgbClr val="38BDF8"/>
                </a:solidFill>
                <a:latin typeface="Aptos Display"/>
                <a:ea typeface="Aptos Display"/>
                <a:cs typeface="Aptos Display"/>
              </a:rPr>
              <a:t>2,769</a:t>
            </a:r>
          </a:p>
        </p:txBody>
      </p:sp>
      <p:cxnSp>
        <p:nvCxnSpPr>
          <p:cNvPr id="26" name=""/>
          <p:cNvCxnSpPr/>
          <p:nvPr/>
        </p:nvCxnSpPr>
        <p:spPr>
          <a:xfrm xmlns:a="http://schemas.openxmlformats.org/drawingml/2006/main">
            <a:off x="4057650" y="3733800"/>
            <a:ext cx="3028950" cy="0"/>
          </a:xfrm>
          <a:prstGeom xmlns:a="http://schemas.openxmlformats.org/drawingml/2006/main" prst="straightConnector1">
            <a:avLst/>
          </a:prstGeom>
          <a:ln xmlns:a="http://schemas.openxmlformats.org/drawingml/2006/main" w="47625">
            <a:solidFill>
              <a:srgbClr val="38BDF8"/>
            </a:solidFill>
            <a:prstDash val="solid"/>
          </a:ln>
        </p:spPr>
      </p:cxnSp>
      <p:sp>
        <p:nvSpPr>
          <p:cNvPr id="11" name="">
            <a:extLst xmlns:a="http://schemas.openxmlformats.org/drawingml/2006/main">
              <a:ext uri="{FF2B5EF4-FFF2-40B4-BE49-F238E27FC236}">
                <a16:creationId xmlns:a16="http://schemas.microsoft.com/office/drawing/2014/main" id="{9F645368-A3C3-49A8-A9B0-A3BD81D5DAA8}"/>
              </a:ext>
            </a:extLst>
          </p:cNvPr>
          <p:cNvSpPr>
            <a:spLocks xmlns:a="http://schemas.openxmlformats.org/drawingml/2006/main" noGrp="1"/>
          </p:cNvSpPr>
          <p:nvPr/>
        </p:nvSpPr>
        <p:spPr>
          <a:xfrm xmlns:a="http://schemas.openxmlformats.org/drawingml/2006/main">
            <a:off x="4057650" y="40195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D4DAE6"/>
                </a:solidFill>
                <a:latin typeface="Aptos"/>
                <a:ea typeface="Aptos"/>
                <a:cs typeface="Aptos"/>
              </a:defRPr>
            </a:pPr>
            <a:r>
              <a:rPr sz="1500" b="0">
                <a:solidFill>
                  <a:srgbClr val="D4DAE6"/>
                </a:solidFill>
                <a:latin typeface="Aptos"/>
                <a:ea typeface="Aptos"/>
                <a:cs typeface="Aptos"/>
              </a:rPr>
              <a:t>processed permit/payment records</a:t>
            </a:r>
          </a:p>
        </p:txBody>
      </p:sp>
      <p:sp>
        <p:nvSpPr>
          <p:cNvPr id="12" name="">
            <a:extLst xmlns:a="http://schemas.openxmlformats.org/drawingml/2006/main">
              <a:ext uri="{FF2B5EF4-FFF2-40B4-BE49-F238E27FC236}">
                <a16:creationId xmlns:a16="http://schemas.microsoft.com/office/drawing/2014/main" id="{9D0940F7-2241-46F1-85E2-77FCE3798642}"/>
              </a:ext>
            </a:extLst>
          </p:cNvPr>
          <p:cNvSpPr>
            <a:spLocks xmlns:a="http://schemas.openxmlformats.org/drawingml/2006/main" noGrp="1"/>
          </p:cNvSpPr>
          <p:nvPr/>
        </p:nvSpPr>
        <p:spPr>
          <a:xfrm xmlns:a="http://schemas.openxmlformats.org/drawingml/2006/main">
            <a:off x="7581900" y="26860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350" b="1">
                <a:solidFill>
                  <a:srgbClr val="10B981"/>
                </a:solidFill>
                <a:latin typeface="Aptos Display"/>
                <a:ea typeface="Aptos Display"/>
                <a:cs typeface="Aptos Display"/>
              </a:defRPr>
            </a:pPr>
            <a:r>
              <a:rPr sz="4350" b="1">
                <a:solidFill>
                  <a:srgbClr val="10B981"/>
                </a:solidFill>
                <a:latin typeface="Aptos Display"/>
                <a:ea typeface="Aptos Display"/>
                <a:cs typeface="Aptos Display"/>
              </a:rPr>
              <a:t>GHS 276,900</a:t>
            </a:r>
          </a:p>
        </p:txBody>
      </p:sp>
      <p:cxnSp>
        <p:nvCxnSpPr>
          <p:cNvPr id="29" name=""/>
          <p:cNvCxnSpPr/>
          <p:nvPr/>
        </p:nvCxnSpPr>
        <p:spPr>
          <a:xfrm xmlns:a="http://schemas.openxmlformats.org/drawingml/2006/main">
            <a:off x="7581900" y="3733800"/>
            <a:ext cx="4076700" cy="0"/>
          </a:xfrm>
          <a:prstGeom xmlns:a="http://schemas.openxmlformats.org/drawingml/2006/main" prst="straightConnector1">
            <a:avLst/>
          </a:prstGeom>
          <a:ln xmlns:a="http://schemas.openxmlformats.org/drawingml/2006/main" w="47625">
            <a:solidFill>
              <a:srgbClr val="10B981"/>
            </a:solidFill>
            <a:prstDash val="solid"/>
          </a:ln>
        </p:spPr>
      </p:cxnSp>
      <p:sp>
        <p:nvSpPr>
          <p:cNvPr id="14" name="">
            <a:extLst xmlns:a="http://schemas.openxmlformats.org/drawingml/2006/main">
              <a:ext uri="{FF2B5EF4-FFF2-40B4-BE49-F238E27FC236}">
                <a16:creationId xmlns:a16="http://schemas.microsoft.com/office/drawing/2014/main" id="{9D4138CE-E338-4BB9-89F5-48BD10B6E524}"/>
              </a:ext>
            </a:extLst>
          </p:cNvPr>
          <p:cNvSpPr>
            <a:spLocks xmlns:a="http://schemas.openxmlformats.org/drawingml/2006/main" noGrp="1"/>
          </p:cNvSpPr>
          <p:nvPr/>
        </p:nvSpPr>
        <p:spPr>
          <a:xfrm xmlns:a="http://schemas.openxmlformats.org/drawingml/2006/main">
            <a:off x="7581900" y="401955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D4DAE6"/>
                </a:solidFill>
                <a:latin typeface="Aptos"/>
                <a:ea typeface="Aptos"/>
                <a:cs typeface="Aptos"/>
              </a:defRPr>
            </a:pPr>
            <a:r>
              <a:rPr sz="1500" b="0">
                <a:solidFill>
                  <a:srgbClr val="D4DAE6"/>
                </a:solidFill>
                <a:latin typeface="Aptos"/>
                <a:ea typeface="Aptos"/>
                <a:cs typeface="Aptos"/>
              </a:rPr>
              <a:t>successful pilot transaction value</a:t>
            </a:r>
          </a:p>
        </p:txBody>
      </p:sp>
      <p:sp>
        <p:nvSpPr>
          <p:cNvPr id="15" name="">
            <a:extLst xmlns:a="http://schemas.openxmlformats.org/drawingml/2006/main">
              <a:ext uri="{FF2B5EF4-FFF2-40B4-BE49-F238E27FC236}">
                <a16:creationId xmlns:a16="http://schemas.microsoft.com/office/drawing/2014/main" id="{751D4DBC-12D1-4DB9-BD90-FC6A504C6739}"/>
              </a:ext>
            </a:extLst>
          </p:cNvPr>
          <p:cNvSpPr>
            <a:spLocks xmlns:a="http://schemas.openxmlformats.org/drawingml/2006/main" noGrp="1"/>
          </p:cNvSpPr>
          <p:nvPr/>
        </p:nvSpPr>
        <p:spPr>
          <a:xfrm xmlns:a="http://schemas.openxmlformats.org/drawingml/2006/main">
            <a:off x="533400" y="52387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59E0B"/>
                </a:solidFill>
                <a:latin typeface="Aptos"/>
                <a:ea typeface="Aptos"/>
                <a:cs typeface="Aptos"/>
              </a:defRPr>
            </a:pPr>
            <a:r>
              <a:rPr sz="1200" b="1">
                <a:solidFill>
                  <a:srgbClr val="F59E0B"/>
                </a:solidFill>
                <a:latin typeface="Aptos"/>
                <a:ea typeface="Aptos"/>
                <a:cs typeface="Aptos"/>
              </a:rPr>
              <a:t>WHY PERMITS EXCEED STUDENTS</a:t>
            </a:r>
          </a:p>
        </p:txBody>
      </p:sp>
      <p:sp>
        <p:nvSpPr>
          <p:cNvPr id="16" name="">
            <a:extLst xmlns:a="http://schemas.openxmlformats.org/drawingml/2006/main">
              <a:ext uri="{FF2B5EF4-FFF2-40B4-BE49-F238E27FC236}">
                <a16:creationId xmlns:a16="http://schemas.microsoft.com/office/drawing/2014/main" id="{0FF54303-C9EC-4E3A-98D8-A7D388C91F9F}"/>
              </a:ext>
            </a:extLst>
          </p:cNvPr>
          <p:cNvSpPr>
            <a:spLocks xmlns:a="http://schemas.openxmlformats.org/drawingml/2006/main" noGrp="1"/>
          </p:cNvSpPr>
          <p:nvPr/>
        </p:nvSpPr>
        <p:spPr>
          <a:xfrm xmlns:a="http://schemas.openxmlformats.org/drawingml/2006/main">
            <a:off x="533400" y="560070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The figures count different things. Some students have repeated permit records across recorded periods.</a:t>
            </a:r>
          </a:p>
        </p:txBody>
      </p:sp>
    </p:spTree>
    <p:extLst>
      <p:ext uri="{BB962C8B-B14F-4D97-AF65-F5344CB8AC3E}">
        <p14:creationId xmlns:p14="http://schemas.microsoft.com/office/powerpoint/2010/main" val="371160005"/>
      </p:ext>
    </p:extLst>
  </p:cSld>
</p:sld>
</file>

<file path=ppt/slides/slide10.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E2074BA-B7E2-4CCF-A305-F17F11A17FF9}"/>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D4AFF"/>
                </a:solidFill>
                <a:latin typeface="Aptos"/>
                <a:ea typeface="Aptos"/>
                <a:cs typeface="Aptos"/>
              </a:defRPr>
            </a:pPr>
            <a:r>
              <a:rPr sz="975" b="1">
                <a:solidFill>
                  <a:srgbClr val="6D4AFF"/>
                </a:solidFill>
                <a:latin typeface="Aptos"/>
                <a:ea typeface="Aptos"/>
                <a:cs typeface="Aptos"/>
              </a:rPr>
              <a:t>10 / 13</a:t>
            </a:r>
          </a:p>
        </p:txBody>
      </p:sp>
      <p:sp>
        <p:nvSpPr>
          <p:cNvPr id="2" name="">
            <a:extLst xmlns:a="http://schemas.openxmlformats.org/drawingml/2006/main">
              <a:ext uri="{FF2B5EF4-FFF2-40B4-BE49-F238E27FC236}">
                <a16:creationId xmlns:a16="http://schemas.microsoft.com/office/drawing/2014/main" id="{C489212B-F3FB-4444-8288-6BFDEC948197}"/>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67085"/>
                </a:solidFill>
                <a:latin typeface="Aptos"/>
                <a:ea typeface="Aptos"/>
                <a:cs typeface="Aptos"/>
              </a:defRPr>
            </a:pPr>
            <a:r>
              <a:rPr sz="975" b="1">
                <a:solidFill>
                  <a:srgbClr val="667085"/>
                </a:solidFill>
                <a:latin typeface="Aptos"/>
                <a:ea typeface="Aptos"/>
                <a:cs typeface="Aptos"/>
              </a:rPr>
              <a:t>POST-SUBMISSION VALIDATION</a:t>
            </a:r>
          </a:p>
        </p:txBody>
      </p:sp>
      <p:sp>
        <p:nvSpPr>
          <p:cNvPr id="3" name="">
            <a:extLst xmlns:a="http://schemas.openxmlformats.org/drawingml/2006/main">
              <a:ext uri="{FF2B5EF4-FFF2-40B4-BE49-F238E27FC236}">
                <a16:creationId xmlns:a16="http://schemas.microsoft.com/office/drawing/2014/main" id="{72F07BFD-DCC9-45DC-8F79-8401C3A6DE12}"/>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67085"/>
                </a:solidFill>
                <a:latin typeface="Aptos"/>
                <a:ea typeface="Aptos"/>
                <a:cs typeface="Aptos"/>
              </a:defRPr>
            </a:pPr>
            <a:r>
              <a:rPr sz="825" b="1">
                <a:solidFill>
                  <a:srgbClr val="667085"/>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B7AE80C5-1DBA-4C89-93FF-F0BAAD56CF17}"/>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050" b="1">
                <a:solidFill>
                  <a:srgbClr val="101828"/>
                </a:solidFill>
                <a:latin typeface="Aptos Display"/>
                <a:ea typeface="Aptos Display"/>
                <a:cs typeface="Aptos Display"/>
              </a:defRPr>
            </a:pPr>
            <a:r>
              <a:rPr sz="4050" b="1">
                <a:solidFill>
                  <a:srgbClr val="101828"/>
                </a:solidFill>
                <a:latin typeface="Aptos Display"/>
                <a:ea typeface="Aptos Display"/>
                <a:cs typeface="Aptos Display"/>
              </a:rPr>
              <a:t>The current build has newer automated evidence</a:t>
            </a:r>
          </a:p>
        </p:txBody>
      </p:sp>
      <p:sp>
        <p:nvSpPr>
          <p:cNvPr id="5" name="">
            <a:extLst xmlns:a="http://schemas.openxmlformats.org/drawingml/2006/main">
              <a:ext uri="{FF2B5EF4-FFF2-40B4-BE49-F238E27FC236}">
                <a16:creationId xmlns:a16="http://schemas.microsoft.com/office/drawing/2014/main" id="{0B4307CD-8061-4AB0-B849-70FB247F7C0F}"/>
              </a:ext>
            </a:extLst>
          </p:cNvPr>
          <p:cNvSpPr>
            <a:spLocks xmlns:a="http://schemas.openxmlformats.org/drawingml/2006/main" noGrp="1"/>
          </p:cNvSpPr>
          <p:nvPr/>
        </p:nvSpPr>
        <p:spPr>
          <a:xfrm xmlns:a="http://schemas.openxmlformats.org/drawingml/2006/main">
            <a:off x="533400" y="16954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ptos"/>
                <a:ea typeface="Aptos"/>
                <a:cs typeface="Aptos"/>
              </a:defRPr>
            </a:pPr>
            <a:r>
              <a:rPr sz="1725" b="0">
                <a:solidFill>
                  <a:srgbClr val="667085"/>
                </a:solidFill>
                <a:latin typeface="Aptos"/>
                <a:ea typeface="Aptos"/>
                <a:cs typeface="Aptos"/>
              </a:rPr>
              <a:t>The report remains the submission-time record.</a:t>
            </a:r>
          </a:p>
        </p:txBody>
      </p:sp>
      <p:sp>
        <p:nvSpPr>
          <p:cNvPr id="6" name="">
            <a:extLst xmlns:a="http://schemas.openxmlformats.org/drawingml/2006/main">
              <a:ext uri="{FF2B5EF4-FFF2-40B4-BE49-F238E27FC236}">
                <a16:creationId xmlns:a16="http://schemas.microsoft.com/office/drawing/2014/main" id="{56DD3D0D-2594-4869-A0ED-578E4D2289DD}"/>
              </a:ext>
            </a:extLst>
          </p:cNvPr>
          <p:cNvSpPr>
            <a:spLocks xmlns:a="http://schemas.openxmlformats.org/drawingml/2006/main" noGrp="1"/>
          </p:cNvSpPr>
          <p:nvPr/>
        </p:nvSpPr>
        <p:spPr>
          <a:xfrm xmlns:a="http://schemas.openxmlformats.org/drawingml/2006/main">
            <a:off x="533400" y="251460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defRPr sz="9900" b="1">
                <a:solidFill>
                  <a:srgbClr val="6D4AFF"/>
                </a:solidFill>
                <a:latin typeface="Aptos Display"/>
                <a:ea typeface="Aptos Display"/>
                <a:cs typeface="Aptos Display"/>
              </a:defRPr>
            </a:pPr>
            <a:r>
              <a:rPr sz="9900" b="1">
                <a:solidFill>
                  <a:srgbClr val="6D4AFF"/>
                </a:solidFill>
                <a:latin typeface="Aptos Display"/>
                <a:ea typeface="Aptos Display"/>
                <a:cs typeface="Aptos Display"/>
              </a:rPr>
              <a:t>337</a:t>
            </a:r>
          </a:p>
        </p:txBody>
      </p:sp>
      <p:sp>
        <p:nvSpPr>
          <p:cNvPr id="7" name="">
            <a:extLst xmlns:a="http://schemas.openxmlformats.org/drawingml/2006/main">
              <a:ext uri="{FF2B5EF4-FFF2-40B4-BE49-F238E27FC236}">
                <a16:creationId xmlns:a16="http://schemas.microsoft.com/office/drawing/2014/main" id="{AE56D209-1DF3-4151-9C2B-1218DD91267D}"/>
              </a:ext>
            </a:extLst>
          </p:cNvPr>
          <p:cNvSpPr>
            <a:spLocks xmlns:a="http://schemas.openxmlformats.org/drawingml/2006/main" noGrp="1"/>
          </p:cNvSpPr>
          <p:nvPr/>
        </p:nvSpPr>
        <p:spPr>
          <a:xfrm xmlns:a="http://schemas.openxmlformats.org/drawingml/2006/main">
            <a:off x="609600" y="40005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01828"/>
                </a:solidFill>
                <a:latin typeface="Aptos Display"/>
                <a:ea typeface="Aptos Display"/>
                <a:cs typeface="Aptos Display"/>
              </a:defRPr>
            </a:pPr>
            <a:r>
              <a:rPr sz="2025" b="1">
                <a:solidFill>
                  <a:srgbClr val="101828"/>
                </a:solidFill>
                <a:latin typeface="Aptos Display"/>
                <a:ea typeface="Aptos Display"/>
                <a:cs typeface="Aptos Display"/>
              </a:rPr>
              <a:t>automated tests passed</a:t>
            </a:r>
          </a:p>
        </p:txBody>
      </p:sp>
      <p:cxnSp>
        <p:nvCxnSpPr>
          <p:cNvPr id="25" name=""/>
          <p:cNvCxnSpPr/>
          <p:nvPr/>
        </p:nvCxnSpPr>
        <p:spPr>
          <a:xfrm xmlns:a="http://schemas.openxmlformats.org/drawingml/2006/main">
            <a:off x="5543550" y="2552700"/>
            <a:ext cx="0" cy="2247900"/>
          </a:xfrm>
          <a:prstGeom xmlns:a="http://schemas.openxmlformats.org/drawingml/2006/main" prst="straightConnector1">
            <a:avLst/>
          </a:prstGeom>
          <a:ln xmlns:a="http://schemas.openxmlformats.org/drawingml/2006/main" w="19050">
            <a:solidFill>
              <a:srgbClr val="CBD5E1"/>
            </a:solidFill>
            <a:prstDash val="solid"/>
          </a:ln>
        </p:spPr>
      </p:cxnSp>
      <p:sp>
        <p:nvSpPr>
          <p:cNvPr id="9" name="">
            <a:extLst xmlns:a="http://schemas.openxmlformats.org/drawingml/2006/main">
              <a:ext uri="{FF2B5EF4-FFF2-40B4-BE49-F238E27FC236}">
                <a16:creationId xmlns:a16="http://schemas.microsoft.com/office/drawing/2014/main" id="{C021AC19-CC16-4081-9D26-C15E5169EE31}"/>
              </a:ext>
            </a:extLst>
          </p:cNvPr>
          <p:cNvSpPr>
            <a:spLocks xmlns:a="http://schemas.openxmlformats.org/drawingml/2006/main" noGrp="1"/>
          </p:cNvSpPr>
          <p:nvPr/>
        </p:nvSpPr>
        <p:spPr>
          <a:xfrm xmlns:a="http://schemas.openxmlformats.org/drawingml/2006/main">
            <a:off x="6191250" y="2762250"/>
            <a:ext cx="4476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6900" b="1">
                <a:solidFill>
                  <a:srgbClr val="047857"/>
                </a:solidFill>
                <a:latin typeface="Aptos Display"/>
                <a:ea typeface="Aptos Display"/>
                <a:cs typeface="Aptos Display"/>
              </a:defRPr>
            </a:pPr>
            <a:r>
              <a:rPr sz="6900" b="1">
                <a:solidFill>
                  <a:srgbClr val="047857"/>
                </a:solidFill>
                <a:latin typeface="Aptos Display"/>
                <a:ea typeface="Aptos Display"/>
                <a:cs typeface="Aptos Display"/>
              </a:rPr>
              <a:t>1,657</a:t>
            </a:r>
          </a:p>
        </p:txBody>
      </p:sp>
      <p:sp>
        <p:nvSpPr>
          <p:cNvPr id="10" name="">
            <a:extLst xmlns:a="http://schemas.openxmlformats.org/drawingml/2006/main">
              <a:ext uri="{FF2B5EF4-FFF2-40B4-BE49-F238E27FC236}">
                <a16:creationId xmlns:a16="http://schemas.microsoft.com/office/drawing/2014/main" id="{882D58FB-8EA5-48F6-88C1-C83FACB4CA2C}"/>
              </a:ext>
            </a:extLst>
          </p:cNvPr>
          <p:cNvSpPr>
            <a:spLocks xmlns:a="http://schemas.openxmlformats.org/drawingml/2006/main" noGrp="1"/>
          </p:cNvSpPr>
          <p:nvPr/>
        </p:nvSpPr>
        <p:spPr>
          <a:xfrm xmlns:a="http://schemas.openxmlformats.org/drawingml/2006/main">
            <a:off x="6286500" y="39433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01828"/>
                </a:solidFill>
                <a:latin typeface="Aptos Display"/>
                <a:ea typeface="Aptos Display"/>
                <a:cs typeface="Aptos Display"/>
              </a:defRPr>
            </a:pPr>
            <a:r>
              <a:rPr sz="2025" b="1">
                <a:solidFill>
                  <a:srgbClr val="101828"/>
                </a:solidFill>
                <a:latin typeface="Aptos Display"/>
                <a:ea typeface="Aptos Display"/>
                <a:cs typeface="Aptos Display"/>
              </a:rPr>
              <a:t>assertions</a:t>
            </a:r>
          </a:p>
        </p:txBody>
      </p:sp>
      <p:cxnSp>
        <p:nvCxnSpPr>
          <p:cNvPr id="28" name=""/>
          <p:cNvCxnSpPr/>
          <p:nvPr/>
        </p:nvCxnSpPr>
        <p:spPr>
          <a:xfrm xmlns:a="http://schemas.openxmlformats.org/drawingml/2006/main">
            <a:off x="533400" y="5257800"/>
            <a:ext cx="3143250" cy="0"/>
          </a:xfrm>
          <a:prstGeom xmlns:a="http://schemas.openxmlformats.org/drawingml/2006/main" prst="straightConnector1">
            <a:avLst/>
          </a:prstGeom>
          <a:ln xmlns:a="http://schemas.openxmlformats.org/drawingml/2006/main" w="38100">
            <a:solidFill>
              <a:srgbClr val="6D4AFF"/>
            </a:solidFill>
            <a:prstDash val="solid"/>
          </a:ln>
        </p:spPr>
      </p:cxnSp>
      <p:sp>
        <p:nvSpPr>
          <p:cNvPr id="12" name="">
            <a:extLst xmlns:a="http://schemas.openxmlformats.org/drawingml/2006/main">
              <a:ext uri="{FF2B5EF4-FFF2-40B4-BE49-F238E27FC236}">
                <a16:creationId xmlns:a16="http://schemas.microsoft.com/office/drawing/2014/main" id="{303C95CD-B168-460B-A8D0-36066BC6CBA0}"/>
              </a:ext>
            </a:extLst>
          </p:cNvPr>
          <p:cNvSpPr>
            <a:spLocks xmlns:a="http://schemas.openxmlformats.org/drawingml/2006/main" noGrp="1"/>
          </p:cNvSpPr>
          <p:nvPr/>
        </p:nvSpPr>
        <p:spPr>
          <a:xfrm xmlns:a="http://schemas.openxmlformats.org/drawingml/2006/main">
            <a:off x="533400" y="55054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01828"/>
                </a:solidFill>
                <a:latin typeface="Aptos"/>
                <a:ea typeface="Aptos"/>
                <a:cs typeface="Aptos"/>
              </a:defRPr>
            </a:pPr>
            <a:r>
              <a:rPr sz="1500" b="1">
                <a:solidFill>
                  <a:srgbClr val="101828"/>
                </a:solidFill>
                <a:latin typeface="Aptos"/>
                <a:ea typeface="Aptos"/>
                <a:cs typeface="Aptos"/>
              </a:rPr>
              <a:t>Laravel feature + API tests</a:t>
            </a:r>
          </a:p>
        </p:txBody>
      </p:sp>
      <p:cxnSp>
        <p:nvCxnSpPr>
          <p:cNvPr id="30" name=""/>
          <p:cNvCxnSpPr/>
          <p:nvPr/>
        </p:nvCxnSpPr>
        <p:spPr>
          <a:xfrm xmlns:a="http://schemas.openxmlformats.org/drawingml/2006/main">
            <a:off x="4191000" y="5257800"/>
            <a:ext cx="3143250" cy="0"/>
          </a:xfrm>
          <a:prstGeom xmlns:a="http://schemas.openxmlformats.org/drawingml/2006/main" prst="straightConnector1">
            <a:avLst/>
          </a:prstGeom>
          <a:ln xmlns:a="http://schemas.openxmlformats.org/drawingml/2006/main" w="38100">
            <a:solidFill>
              <a:srgbClr val="6D4AFF"/>
            </a:solidFill>
            <a:prstDash val="solid"/>
          </a:ln>
        </p:spPr>
      </p:cxnSp>
      <p:sp>
        <p:nvSpPr>
          <p:cNvPr id="14" name="">
            <a:extLst xmlns:a="http://schemas.openxmlformats.org/drawingml/2006/main">
              <a:ext uri="{FF2B5EF4-FFF2-40B4-BE49-F238E27FC236}">
                <a16:creationId xmlns:a16="http://schemas.microsoft.com/office/drawing/2014/main" id="{B5887D47-5636-40FE-86E1-11A10FB01DD4}"/>
              </a:ext>
            </a:extLst>
          </p:cNvPr>
          <p:cNvSpPr>
            <a:spLocks xmlns:a="http://schemas.openxmlformats.org/drawingml/2006/main" noGrp="1"/>
          </p:cNvSpPr>
          <p:nvPr/>
        </p:nvSpPr>
        <p:spPr>
          <a:xfrm xmlns:a="http://schemas.openxmlformats.org/drawingml/2006/main">
            <a:off x="4191000" y="55054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01828"/>
                </a:solidFill>
                <a:latin typeface="Aptos"/>
                <a:ea typeface="Aptos"/>
                <a:cs typeface="Aptos"/>
              </a:defRPr>
            </a:pPr>
            <a:r>
              <a:rPr sz="1500" b="1">
                <a:solidFill>
                  <a:srgbClr val="101828"/>
                </a:solidFill>
                <a:latin typeface="Aptos"/>
                <a:ea typeface="Aptos"/>
                <a:cs typeface="Aptos"/>
              </a:rPr>
              <a:t>TypeScript checks</a:t>
            </a:r>
          </a:p>
        </p:txBody>
      </p:sp>
      <p:cxnSp>
        <p:nvCxnSpPr>
          <p:cNvPr id="32" name=""/>
          <p:cNvCxnSpPr/>
          <p:nvPr/>
        </p:nvCxnSpPr>
        <p:spPr>
          <a:xfrm xmlns:a="http://schemas.openxmlformats.org/drawingml/2006/main">
            <a:off x="7848600" y="5257800"/>
            <a:ext cx="3143250" cy="0"/>
          </a:xfrm>
          <a:prstGeom xmlns:a="http://schemas.openxmlformats.org/drawingml/2006/main" prst="straightConnector1">
            <a:avLst/>
          </a:prstGeom>
          <a:ln xmlns:a="http://schemas.openxmlformats.org/drawingml/2006/main" w="38100">
            <a:solidFill>
              <a:srgbClr val="10B981"/>
            </a:solidFill>
            <a:prstDash val="solid"/>
          </a:ln>
        </p:spPr>
      </p:cxnSp>
      <p:sp>
        <p:nvSpPr>
          <p:cNvPr id="16" name="">
            <a:extLst xmlns:a="http://schemas.openxmlformats.org/drawingml/2006/main">
              <a:ext uri="{FF2B5EF4-FFF2-40B4-BE49-F238E27FC236}">
                <a16:creationId xmlns:a16="http://schemas.microsoft.com/office/drawing/2014/main" id="{3979188F-0F14-4344-B8F6-47B9ADA3E240}"/>
              </a:ext>
            </a:extLst>
          </p:cNvPr>
          <p:cNvSpPr>
            <a:spLocks xmlns:a="http://schemas.openxmlformats.org/drawingml/2006/main" noGrp="1"/>
          </p:cNvSpPr>
          <p:nvPr/>
        </p:nvSpPr>
        <p:spPr>
          <a:xfrm xmlns:a="http://schemas.openxmlformats.org/drawingml/2006/main">
            <a:off x="7848600" y="55054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01828"/>
                </a:solidFill>
                <a:latin typeface="Aptos"/>
                <a:ea typeface="Aptos"/>
                <a:cs typeface="Aptos"/>
              </a:defRPr>
            </a:pPr>
            <a:r>
              <a:rPr sz="1500" b="1">
                <a:solidFill>
                  <a:srgbClr val="101828"/>
                </a:solidFill>
                <a:latin typeface="Aptos"/>
                <a:ea typeface="Aptos"/>
                <a:cs typeface="Aptos"/>
              </a:rPr>
              <a:t>Mobile lint</a:t>
            </a:r>
          </a:p>
        </p:txBody>
      </p:sp>
      <p:sp>
        <p:nvSpPr>
          <p:cNvPr id="17" name="">
            <a:extLst xmlns:a="http://schemas.openxmlformats.org/drawingml/2006/main">
              <a:ext uri="{FF2B5EF4-FFF2-40B4-BE49-F238E27FC236}">
                <a16:creationId xmlns:a16="http://schemas.microsoft.com/office/drawing/2014/main" id="{DBC86429-F6F8-43DE-A94C-8C498158DE66}"/>
              </a:ext>
            </a:extLst>
          </p:cNvPr>
          <p:cNvSpPr>
            <a:spLocks xmlns:a="http://schemas.openxmlformats.org/drawingml/2006/main" noGrp="1"/>
          </p:cNvSpPr>
          <p:nvPr/>
        </p:nvSpPr>
        <p:spPr>
          <a:xfrm xmlns:a="http://schemas.openxmlformats.org/drawingml/2006/main">
            <a:off x="533400" y="6172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6D4AFF"/>
                </a:solidFill>
                <a:latin typeface="Aptos"/>
                <a:ea typeface="Aptos"/>
                <a:cs typeface="Aptos"/>
              </a:defRPr>
            </a:pPr>
            <a:r>
              <a:rPr sz="1200" b="1">
                <a:solidFill>
                  <a:srgbClr val="6D4AFF"/>
                </a:solidFill>
                <a:latin typeface="Aptos"/>
                <a:ea typeface="Aptos"/>
                <a:cs typeface="Aptos"/>
              </a:rPr>
              <a:t>NO FAILED CHECKS IN THE VERIFIED RUN</a:t>
            </a:r>
          </a:p>
        </p:txBody>
      </p:sp>
    </p:spTree>
    <p:extLst>
      <p:ext uri="{BB962C8B-B14F-4D97-AF65-F5344CB8AC3E}">
        <p14:creationId xmlns:p14="http://schemas.microsoft.com/office/powerpoint/2010/main" val="866200865"/>
      </p:ext>
    </p:extLst>
  </p:cSld>
</p:sld>
</file>

<file path=ppt/slides/slide11.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82479F8-2DC1-48C2-908F-982C2F02421B}"/>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5CF6"/>
                </a:solidFill>
                <a:latin typeface="Aptos"/>
                <a:ea typeface="Aptos"/>
                <a:cs typeface="Aptos"/>
              </a:defRPr>
            </a:pPr>
            <a:r>
              <a:rPr sz="975" b="1">
                <a:solidFill>
                  <a:srgbClr val="8B5CF6"/>
                </a:solidFill>
                <a:latin typeface="Aptos"/>
                <a:ea typeface="Aptos"/>
                <a:cs typeface="Aptos"/>
              </a:rPr>
              <a:t>11 / 13</a:t>
            </a:r>
          </a:p>
        </p:txBody>
      </p:sp>
      <p:sp>
        <p:nvSpPr>
          <p:cNvPr id="2" name="">
            <a:extLst xmlns:a="http://schemas.openxmlformats.org/drawingml/2006/main">
              <a:ext uri="{FF2B5EF4-FFF2-40B4-BE49-F238E27FC236}">
                <a16:creationId xmlns:a16="http://schemas.microsoft.com/office/drawing/2014/main" id="{761792B4-1626-4FC7-8554-69F0A6308C72}"/>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IMPLEMENTATION PATH</a:t>
            </a:r>
          </a:p>
        </p:txBody>
      </p:sp>
      <p:sp>
        <p:nvSpPr>
          <p:cNvPr id="3" name="">
            <a:extLst xmlns:a="http://schemas.openxmlformats.org/drawingml/2006/main">
              <a:ext uri="{FF2B5EF4-FFF2-40B4-BE49-F238E27FC236}">
                <a16:creationId xmlns:a16="http://schemas.microsoft.com/office/drawing/2014/main" id="{6AB7BF87-4FFC-43EE-BA19-93E001FEC09E}"/>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D4DAE6"/>
                </a:solidFill>
                <a:latin typeface="Aptos"/>
                <a:ea typeface="Aptos"/>
                <a:cs typeface="Aptos"/>
              </a:defRPr>
            </a:pPr>
            <a:r>
              <a:rPr sz="825" b="1">
                <a:solidFill>
                  <a:srgbClr val="D4DAE6"/>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05EA0B38-75B3-4E72-97D0-5BE00F02227C}"/>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A phased rollout keeps adoption realistic</a:t>
            </a:r>
          </a:p>
        </p:txBody>
      </p:sp>
      <p:sp>
        <p:nvSpPr>
          <p:cNvPr id="5" name="">
            <a:extLst xmlns:a="http://schemas.openxmlformats.org/drawingml/2006/main">
              <a:ext uri="{FF2B5EF4-FFF2-40B4-BE49-F238E27FC236}">
                <a16:creationId xmlns:a16="http://schemas.microsoft.com/office/drawing/2014/main" id="{5E8A7A4B-F6D4-494B-B8EA-CFB5D9364352}"/>
              </a:ext>
            </a:extLst>
          </p:cNvPr>
          <p:cNvSpPr>
            <a:spLocks xmlns:a="http://schemas.openxmlformats.org/drawingml/2006/main" noGrp="1"/>
          </p:cNvSpPr>
          <p:nvPr/>
        </p:nvSpPr>
        <p:spPr>
          <a:xfrm xmlns:a="http://schemas.openxmlformats.org/drawingml/2006/main">
            <a:off x="533400" y="19621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8B5CF6"/>
                </a:solidFill>
                <a:latin typeface="Aptos"/>
                <a:ea typeface="Aptos"/>
                <a:cs typeface="Aptos"/>
              </a:defRPr>
            </a:pPr>
            <a:r>
              <a:rPr sz="1125" b="1">
                <a:solidFill>
                  <a:srgbClr val="8B5CF6"/>
                </a:solidFill>
                <a:latin typeface="Aptos"/>
                <a:ea typeface="Aptos"/>
                <a:cs typeface="Aptos"/>
              </a:rPr>
              <a:t>SUBMITTED IMPLEMENTATION BUDGET</a:t>
            </a:r>
          </a:p>
        </p:txBody>
      </p:sp>
      <p:sp>
        <p:nvSpPr>
          <p:cNvPr id="6" name="">
            <a:extLst xmlns:a="http://schemas.openxmlformats.org/drawingml/2006/main">
              <a:ext uri="{FF2B5EF4-FFF2-40B4-BE49-F238E27FC236}">
                <a16:creationId xmlns:a16="http://schemas.microsoft.com/office/drawing/2014/main" id="{D38C859A-4276-4A8F-9F7A-5EA6E039D1E8}"/>
              </a:ext>
            </a:extLst>
          </p:cNvPr>
          <p:cNvSpPr>
            <a:spLocks xmlns:a="http://schemas.openxmlformats.org/drawingml/2006/main" noGrp="1"/>
          </p:cNvSpPr>
          <p:nvPr/>
        </p:nvSpPr>
        <p:spPr>
          <a:xfrm xmlns:a="http://schemas.openxmlformats.org/drawingml/2006/main">
            <a:off x="533400" y="236220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850" b="1">
                <a:solidFill>
                  <a:srgbClr val="FFFFFF"/>
                </a:solidFill>
                <a:latin typeface="Aptos Display"/>
                <a:ea typeface="Aptos Display"/>
                <a:cs typeface="Aptos Display"/>
              </a:defRPr>
            </a:pPr>
            <a:r>
              <a:rPr sz="5850" b="1">
                <a:solidFill>
                  <a:srgbClr val="FFFFFF"/>
                </a:solidFill>
                <a:latin typeface="Aptos Display"/>
                <a:ea typeface="Aptos Display"/>
                <a:cs typeface="Aptos Display"/>
              </a:rPr>
              <a:t>GHS 32,450</a:t>
            </a:r>
          </a:p>
        </p:txBody>
      </p:sp>
      <p:sp>
        <p:nvSpPr>
          <p:cNvPr id="7" name="">
            <a:extLst xmlns:a="http://schemas.openxmlformats.org/drawingml/2006/main">
              <a:ext uri="{FF2B5EF4-FFF2-40B4-BE49-F238E27FC236}">
                <a16:creationId xmlns:a16="http://schemas.microsoft.com/office/drawing/2014/main" id="{58486070-7501-4E54-8E05-0A32D6D3E3B4}"/>
              </a:ext>
            </a:extLst>
          </p:cNvPr>
          <p:cNvSpPr>
            <a:spLocks xmlns:a="http://schemas.openxmlformats.org/drawingml/2006/main" noGrp="1"/>
          </p:cNvSpPr>
          <p:nvPr/>
        </p:nvSpPr>
        <p:spPr>
          <a:xfrm xmlns:a="http://schemas.openxmlformats.org/drawingml/2006/main">
            <a:off x="533400" y="348615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98A2B3"/>
                </a:solidFill>
                <a:latin typeface="Aptos"/>
                <a:ea typeface="Aptos"/>
                <a:cs typeface="Aptos"/>
              </a:defRPr>
            </a:pPr>
            <a:r>
              <a:rPr sz="1725" b="0">
                <a:solidFill>
                  <a:srgbClr val="98A2B3"/>
                </a:solidFill>
                <a:latin typeface="Aptos"/>
                <a:ea typeface="Aptos"/>
                <a:cs typeface="Aptos"/>
              </a:rPr>
              <a:t>One implementation envelope—introduced in controlled stages.</a:t>
            </a:r>
          </a:p>
        </p:txBody>
      </p:sp>
      <p:cxnSp>
        <p:nvCxnSpPr>
          <p:cNvPr id="30" name=""/>
          <p:cNvCxnSpPr/>
          <p:nvPr/>
        </p:nvCxnSpPr>
        <p:spPr>
          <a:xfrm xmlns:a="http://schemas.openxmlformats.org/drawingml/2006/main">
            <a:off x="5676900" y="3352800"/>
            <a:ext cx="5410200" cy="0"/>
          </a:xfrm>
          <a:prstGeom xmlns:a="http://schemas.openxmlformats.org/drawingml/2006/main" prst="straightConnector1">
            <a:avLst/>
          </a:prstGeom>
          <a:ln xmlns:a="http://schemas.openxmlformats.org/drawingml/2006/main" w="38100">
            <a:solidFill>
              <a:srgbClr val="27324A"/>
            </a:solidFill>
            <a:prstDash val="solid"/>
          </a:ln>
        </p:spPr>
      </p:cxnSp>
      <p:sp>
        <p:nvSpPr>
          <p:cNvPr id="9" name="">
            <a:extLst xmlns:a="http://schemas.openxmlformats.org/drawingml/2006/main">
              <a:ext uri="{FF2B5EF4-FFF2-40B4-BE49-F238E27FC236}">
                <a16:creationId xmlns:a16="http://schemas.microsoft.com/office/drawing/2014/main" id="{80530C88-D761-41B9-B669-DC5EDDB2E67A}"/>
              </a:ext>
            </a:extLst>
          </p:cNvPr>
          <p:cNvSpPr>
            <a:spLocks xmlns:a="http://schemas.openxmlformats.org/drawingml/2006/main" noGrp="1"/>
          </p:cNvSpPr>
          <p:nvPr/>
        </p:nvSpPr>
        <p:spPr>
          <a:xfrm xmlns:a="http://schemas.openxmlformats.org/drawingml/2006/main">
            <a:off x="5638800" y="3200400"/>
            <a:ext cx="285750" cy="285750"/>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10" name="">
            <a:extLst xmlns:a="http://schemas.openxmlformats.org/drawingml/2006/main">
              <a:ext uri="{FF2B5EF4-FFF2-40B4-BE49-F238E27FC236}">
                <a16:creationId xmlns:a16="http://schemas.microsoft.com/office/drawing/2014/main" id="{A2204CCB-B4D8-4216-B694-CA5BB493A06E}"/>
              </a:ext>
            </a:extLst>
          </p:cNvPr>
          <p:cNvSpPr>
            <a:spLocks xmlns:a="http://schemas.openxmlformats.org/drawingml/2006/main" noGrp="1"/>
          </p:cNvSpPr>
          <p:nvPr/>
        </p:nvSpPr>
        <p:spPr>
          <a:xfrm xmlns:a="http://schemas.openxmlformats.org/drawingml/2006/main">
            <a:off x="5638800" y="23241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8B5CF6"/>
                </a:solidFill>
                <a:latin typeface="Aptos"/>
                <a:ea typeface="Aptos"/>
                <a:cs typeface="Aptos"/>
              </a:defRPr>
            </a:pPr>
            <a:r>
              <a:rPr sz="1125" b="1">
                <a:solidFill>
                  <a:srgbClr val="8B5CF6"/>
                </a:solidFill>
                <a:latin typeface="Aptos"/>
                <a:ea typeface="Aptos"/>
                <a:cs typeface="Aptos"/>
              </a:rPr>
              <a:t>01</a:t>
            </a:r>
          </a:p>
        </p:txBody>
      </p:sp>
      <p:sp>
        <p:nvSpPr>
          <p:cNvPr id="11" name="">
            <a:extLst xmlns:a="http://schemas.openxmlformats.org/drawingml/2006/main">
              <a:ext uri="{FF2B5EF4-FFF2-40B4-BE49-F238E27FC236}">
                <a16:creationId xmlns:a16="http://schemas.microsoft.com/office/drawing/2014/main" id="{DCBE0150-4C7E-49A9-906C-AD407A9C95D9}"/>
              </a:ext>
            </a:extLst>
          </p:cNvPr>
          <p:cNvSpPr>
            <a:spLocks xmlns:a="http://schemas.openxmlformats.org/drawingml/2006/main" noGrp="1"/>
          </p:cNvSpPr>
          <p:nvPr/>
        </p:nvSpPr>
        <p:spPr>
          <a:xfrm xmlns:a="http://schemas.openxmlformats.org/drawingml/2006/main">
            <a:off x="5638800" y="26479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PREPARE</a:t>
            </a:r>
          </a:p>
        </p:txBody>
      </p:sp>
      <p:sp>
        <p:nvSpPr>
          <p:cNvPr id="12" name="">
            <a:extLst xmlns:a="http://schemas.openxmlformats.org/drawingml/2006/main">
              <a:ext uri="{FF2B5EF4-FFF2-40B4-BE49-F238E27FC236}">
                <a16:creationId xmlns:a16="http://schemas.microsoft.com/office/drawing/2014/main" id="{186192DA-356F-4D2A-98B0-DBB748444264}"/>
              </a:ext>
            </a:extLst>
          </p:cNvPr>
          <p:cNvSpPr>
            <a:spLocks xmlns:a="http://schemas.openxmlformats.org/drawingml/2006/main" noGrp="1"/>
          </p:cNvSpPr>
          <p:nvPr/>
        </p:nvSpPr>
        <p:spPr>
          <a:xfrm xmlns:a="http://schemas.openxmlformats.org/drawingml/2006/main">
            <a:off x="5638800" y="3848100"/>
            <a:ext cx="1657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D4DAE6"/>
                </a:solidFill>
                <a:latin typeface="Aptos"/>
                <a:ea typeface="Aptos"/>
                <a:cs typeface="Aptos"/>
              </a:defRPr>
            </a:pPr>
            <a:r>
              <a:rPr sz="1350" b="0">
                <a:solidFill>
                  <a:srgbClr val="D4DAE6"/>
                </a:solidFill>
                <a:latin typeface="Aptos"/>
                <a:ea typeface="Aptos"/>
                <a:cs typeface="Aptos"/>
              </a:rPr>
              <a:t>Accounts, training, controlled verification points</a:t>
            </a:r>
          </a:p>
        </p:txBody>
      </p:sp>
      <p:sp>
        <p:nvSpPr>
          <p:cNvPr id="13" name="">
            <a:extLst xmlns:a="http://schemas.openxmlformats.org/drawingml/2006/main">
              <a:ext uri="{FF2B5EF4-FFF2-40B4-BE49-F238E27FC236}">
                <a16:creationId xmlns:a16="http://schemas.microsoft.com/office/drawing/2014/main" id="{B5062B20-1BAB-464C-8BB7-AFBFE8537F61}"/>
              </a:ext>
            </a:extLst>
          </p:cNvPr>
          <p:cNvSpPr>
            <a:spLocks xmlns:a="http://schemas.openxmlformats.org/drawingml/2006/main" noGrp="1"/>
          </p:cNvSpPr>
          <p:nvPr/>
        </p:nvSpPr>
        <p:spPr>
          <a:xfrm xmlns:a="http://schemas.openxmlformats.org/drawingml/2006/main">
            <a:off x="7524750" y="3200400"/>
            <a:ext cx="285750" cy="285750"/>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14" name="">
            <a:extLst xmlns:a="http://schemas.openxmlformats.org/drawingml/2006/main">
              <a:ext uri="{FF2B5EF4-FFF2-40B4-BE49-F238E27FC236}">
                <a16:creationId xmlns:a16="http://schemas.microsoft.com/office/drawing/2014/main" id="{1956A0B5-C6A3-4788-9BCD-C2C306A3D1E9}"/>
              </a:ext>
            </a:extLst>
          </p:cNvPr>
          <p:cNvSpPr>
            <a:spLocks xmlns:a="http://schemas.openxmlformats.org/drawingml/2006/main" noGrp="1"/>
          </p:cNvSpPr>
          <p:nvPr/>
        </p:nvSpPr>
        <p:spPr>
          <a:xfrm xmlns:a="http://schemas.openxmlformats.org/drawingml/2006/main">
            <a:off x="7524750" y="23241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8B5CF6"/>
                </a:solidFill>
                <a:latin typeface="Aptos"/>
                <a:ea typeface="Aptos"/>
                <a:cs typeface="Aptos"/>
              </a:defRPr>
            </a:pPr>
            <a:r>
              <a:rPr sz="1125" b="1">
                <a:solidFill>
                  <a:srgbClr val="8B5CF6"/>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768DDD44-38CD-44FD-84CD-49EEE0D3F0D7}"/>
              </a:ext>
            </a:extLst>
          </p:cNvPr>
          <p:cNvSpPr>
            <a:spLocks xmlns:a="http://schemas.openxmlformats.org/drawingml/2006/main" noGrp="1"/>
          </p:cNvSpPr>
          <p:nvPr/>
        </p:nvSpPr>
        <p:spPr>
          <a:xfrm xmlns:a="http://schemas.openxmlformats.org/drawingml/2006/main">
            <a:off x="7524750" y="26479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EXPAND</a:t>
            </a:r>
          </a:p>
        </p:txBody>
      </p:sp>
      <p:sp>
        <p:nvSpPr>
          <p:cNvPr id="16" name="">
            <a:extLst xmlns:a="http://schemas.openxmlformats.org/drawingml/2006/main">
              <a:ext uri="{FF2B5EF4-FFF2-40B4-BE49-F238E27FC236}">
                <a16:creationId xmlns:a16="http://schemas.microsoft.com/office/drawing/2014/main" id="{4E2972D0-3259-4FA6-818C-8AD0540223E7}"/>
              </a:ext>
            </a:extLst>
          </p:cNvPr>
          <p:cNvSpPr>
            <a:spLocks xmlns:a="http://schemas.openxmlformats.org/drawingml/2006/main" noGrp="1"/>
          </p:cNvSpPr>
          <p:nvPr/>
        </p:nvSpPr>
        <p:spPr>
          <a:xfrm xmlns:a="http://schemas.openxmlformats.org/drawingml/2006/main">
            <a:off x="7524750" y="3848100"/>
            <a:ext cx="1657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D4DAE6"/>
                </a:solidFill>
                <a:latin typeface="Aptos"/>
                <a:ea typeface="Aptos"/>
                <a:cs typeface="Aptos"/>
              </a:defRPr>
            </a:pPr>
            <a:r>
              <a:rPr sz="1350" b="0">
                <a:solidFill>
                  <a:srgbClr val="D4DAE6"/>
                </a:solidFill>
                <a:latin typeface="Aptos"/>
                <a:ea typeface="Aptos"/>
                <a:cs typeface="Aptos"/>
              </a:rPr>
              <a:t>Wider permit use and authorized staff coverage</a:t>
            </a:r>
          </a:p>
        </p:txBody>
      </p:sp>
      <p:sp>
        <p:nvSpPr>
          <p:cNvPr id="17" name="">
            <a:extLst xmlns:a="http://schemas.openxmlformats.org/drawingml/2006/main">
              <a:ext uri="{FF2B5EF4-FFF2-40B4-BE49-F238E27FC236}">
                <a16:creationId xmlns:a16="http://schemas.microsoft.com/office/drawing/2014/main" id="{DBA29A9B-6068-418F-8C24-F2F774D7E6B2}"/>
              </a:ext>
            </a:extLst>
          </p:cNvPr>
          <p:cNvSpPr>
            <a:spLocks xmlns:a="http://schemas.openxmlformats.org/drawingml/2006/main" noGrp="1"/>
          </p:cNvSpPr>
          <p:nvPr/>
        </p:nvSpPr>
        <p:spPr>
          <a:xfrm xmlns:a="http://schemas.openxmlformats.org/drawingml/2006/main">
            <a:off x="9410700" y="3200400"/>
            <a:ext cx="285750" cy="28575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8" name="">
            <a:extLst xmlns:a="http://schemas.openxmlformats.org/drawingml/2006/main">
              <a:ext uri="{FF2B5EF4-FFF2-40B4-BE49-F238E27FC236}">
                <a16:creationId xmlns:a16="http://schemas.microsoft.com/office/drawing/2014/main" id="{7F294E4D-53E5-4FA7-B2FE-0A6C8620E0F9}"/>
              </a:ext>
            </a:extLst>
          </p:cNvPr>
          <p:cNvSpPr>
            <a:spLocks xmlns:a="http://schemas.openxmlformats.org/drawingml/2006/main" noGrp="1"/>
          </p:cNvSpPr>
          <p:nvPr/>
        </p:nvSpPr>
        <p:spPr>
          <a:xfrm xmlns:a="http://schemas.openxmlformats.org/drawingml/2006/main">
            <a:off x="9410700" y="23241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0B981"/>
                </a:solidFill>
                <a:latin typeface="Aptos"/>
                <a:ea typeface="Aptos"/>
                <a:cs typeface="Aptos"/>
              </a:defRPr>
            </a:pPr>
            <a:r>
              <a:rPr sz="1125" b="1">
                <a:solidFill>
                  <a:srgbClr val="10B981"/>
                </a:solidFill>
                <a:latin typeface="Aptos"/>
                <a:ea typeface="Aptos"/>
                <a:cs typeface="Aptos"/>
              </a:rPr>
              <a:t>03</a:t>
            </a:r>
          </a:p>
        </p:txBody>
      </p:sp>
      <p:sp>
        <p:nvSpPr>
          <p:cNvPr id="19" name="">
            <a:extLst xmlns:a="http://schemas.openxmlformats.org/drawingml/2006/main">
              <a:ext uri="{FF2B5EF4-FFF2-40B4-BE49-F238E27FC236}">
                <a16:creationId xmlns:a16="http://schemas.microsoft.com/office/drawing/2014/main" id="{DA48603E-D2E2-4338-A954-CB0A014B91E0}"/>
              </a:ext>
            </a:extLst>
          </p:cNvPr>
          <p:cNvSpPr>
            <a:spLocks xmlns:a="http://schemas.openxmlformats.org/drawingml/2006/main" noGrp="1"/>
          </p:cNvSpPr>
          <p:nvPr/>
        </p:nvSpPr>
        <p:spPr>
          <a:xfrm xmlns:a="http://schemas.openxmlformats.org/drawingml/2006/main">
            <a:off x="9410700" y="2647950"/>
            <a:ext cx="1676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IMPROVE</a:t>
            </a:r>
          </a:p>
        </p:txBody>
      </p:sp>
      <p:sp>
        <p:nvSpPr>
          <p:cNvPr id="20" name="">
            <a:extLst xmlns:a="http://schemas.openxmlformats.org/drawingml/2006/main">
              <a:ext uri="{FF2B5EF4-FFF2-40B4-BE49-F238E27FC236}">
                <a16:creationId xmlns:a16="http://schemas.microsoft.com/office/drawing/2014/main" id="{E4811A38-A86B-46F9-876E-BEF0BD9366FC}"/>
              </a:ext>
            </a:extLst>
          </p:cNvPr>
          <p:cNvSpPr>
            <a:spLocks xmlns:a="http://schemas.openxmlformats.org/drawingml/2006/main" noGrp="1"/>
          </p:cNvSpPr>
          <p:nvPr/>
        </p:nvSpPr>
        <p:spPr>
          <a:xfrm xmlns:a="http://schemas.openxmlformats.org/drawingml/2006/main">
            <a:off x="9410700" y="3848100"/>
            <a:ext cx="1657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D4DAE6"/>
                </a:solidFill>
                <a:latin typeface="Aptos"/>
                <a:ea typeface="Aptos"/>
                <a:cs typeface="Aptos"/>
              </a:defRPr>
            </a:pPr>
            <a:r>
              <a:rPr sz="1350" b="0">
                <a:solidFill>
                  <a:srgbClr val="D4DAE6"/>
                </a:solidFill>
                <a:latin typeface="Aptos"/>
                <a:ea typeface="Aptos"/>
                <a:cs typeface="Aptos"/>
              </a:rPr>
              <a:t>Monitoring, support, and refinement</a:t>
            </a:r>
          </a:p>
        </p:txBody>
      </p:sp>
      <p:sp>
        <p:nvSpPr>
          <p:cNvPr id="21" name="">
            <a:extLst xmlns:a="http://schemas.openxmlformats.org/drawingml/2006/main">
              <a:ext uri="{FF2B5EF4-FFF2-40B4-BE49-F238E27FC236}">
                <a16:creationId xmlns:a16="http://schemas.microsoft.com/office/drawing/2014/main" id="{EADFDF84-71B2-47CB-AC4F-4D65A6230B6C}"/>
              </a:ext>
            </a:extLst>
          </p:cNvPr>
          <p:cNvSpPr>
            <a:spLocks xmlns:a="http://schemas.openxmlformats.org/drawingml/2006/main" noGrp="1"/>
          </p:cNvSpPr>
          <p:nvPr/>
        </p:nvSpPr>
        <p:spPr>
          <a:xfrm xmlns:a="http://schemas.openxmlformats.org/drawingml/2006/main">
            <a:off x="533400" y="5467350"/>
            <a:ext cx="10572750" cy="38100"/>
          </a:xfrm>
          <a:prstGeom xmlns:a="http://schemas.openxmlformats.org/drawingml/2006/main" prst="rect">
            <a:avLst/>
          </a:prstGeom>
          <a:solidFill xmlns:a="http://schemas.openxmlformats.org/drawingml/2006/main">
            <a:srgbClr val="8B5CF6"/>
          </a:solidFill>
          <a:ln xmlns:a="http://schemas.openxmlformats.org/drawingml/2006/main" w="0">
            <a:solidFill>
              <a:srgbClr val="8B5CF6"/>
            </a:solidFill>
            <a:prstDash val="solid"/>
          </a:ln>
        </p:spPr>
      </p:sp>
      <p:sp>
        <p:nvSpPr>
          <p:cNvPr id="22" name="">
            <a:extLst xmlns:a="http://schemas.openxmlformats.org/drawingml/2006/main">
              <a:ext uri="{FF2B5EF4-FFF2-40B4-BE49-F238E27FC236}">
                <a16:creationId xmlns:a16="http://schemas.microsoft.com/office/drawing/2014/main" id="{9640778F-7045-4429-9BE6-6D8449EC9D88}"/>
              </a:ext>
            </a:extLst>
          </p:cNvPr>
          <p:cNvSpPr>
            <a:spLocks xmlns:a="http://schemas.openxmlformats.org/drawingml/2006/main" noGrp="1"/>
          </p:cNvSpPr>
          <p:nvPr/>
        </p:nvSpPr>
        <p:spPr>
          <a:xfrm xmlns:a="http://schemas.openxmlformats.org/drawingml/2006/main">
            <a:off x="533400" y="57721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38BDF8"/>
                </a:solidFill>
                <a:latin typeface="Aptos Display"/>
                <a:ea typeface="Aptos Display"/>
                <a:cs typeface="Aptos Display"/>
              </a:defRPr>
            </a:pPr>
            <a:r>
              <a:rPr sz="1650" b="1">
                <a:solidFill>
                  <a:srgbClr val="38BDF8"/>
                </a:solidFill>
                <a:latin typeface="Aptos Display"/>
                <a:ea typeface="Aptos Display"/>
                <a:cs typeface="Aptos Display"/>
              </a:rPr>
              <a:t>TRAIN  →  DEPLOY  →  MONITOR  →  IMPROVE</a:t>
            </a:r>
          </a:p>
        </p:txBody>
      </p:sp>
    </p:spTree>
    <p:extLst>
      <p:ext uri="{BB962C8B-B14F-4D97-AF65-F5344CB8AC3E}">
        <p14:creationId xmlns:p14="http://schemas.microsoft.com/office/powerpoint/2010/main" val="468893564"/>
      </p:ext>
    </p:extLst>
  </p:cSld>
</p:sld>
</file>

<file path=ppt/slides/slide12.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8567C34-5694-4FD5-8EBA-65AB7E0996A7}"/>
              </a:ext>
            </a:extLst>
          </p:cNvPr>
          <p:cNvSpPr>
            <a:spLocks xmlns:a="http://schemas.openxmlformats.org/drawingml/2006/main" noGrp="1"/>
          </p:cNvSpPr>
          <p:nvPr/>
        </p:nvSpPr>
        <p:spPr>
          <a:xfrm xmlns:a="http://schemas.openxmlformats.org/drawingml/2006/main">
            <a:off x="533400" y="323850"/>
            <a:ext cx="1066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8B5CF6"/>
                </a:solidFill>
                <a:latin typeface="Aptos"/>
                <a:ea typeface="Aptos"/>
                <a:cs typeface="Aptos"/>
              </a:defRPr>
            </a:pPr>
            <a:r>
              <a:rPr sz="975" b="1">
                <a:solidFill>
                  <a:srgbClr val="8B5CF6"/>
                </a:solidFill>
                <a:latin typeface="Aptos"/>
                <a:ea typeface="Aptos"/>
                <a:cs typeface="Aptos"/>
              </a:rPr>
              <a:t>12 / 13</a:t>
            </a:r>
          </a:p>
        </p:txBody>
      </p:sp>
      <p:sp>
        <p:nvSpPr>
          <p:cNvPr id="2" name="">
            <a:extLst xmlns:a="http://schemas.openxmlformats.org/drawingml/2006/main">
              <a:ext uri="{FF2B5EF4-FFF2-40B4-BE49-F238E27FC236}">
                <a16:creationId xmlns:a16="http://schemas.microsoft.com/office/drawing/2014/main" id="{960D5CFF-27BE-44F1-874E-32429B9EDAB9}"/>
              </a:ext>
            </a:extLst>
          </p:cNvPr>
          <p:cNvSpPr>
            <a:spLocks xmlns:a="http://schemas.openxmlformats.org/drawingml/2006/main" noGrp="1"/>
          </p:cNvSpPr>
          <p:nvPr/>
        </p:nvSpPr>
        <p:spPr>
          <a:xfrm xmlns:a="http://schemas.openxmlformats.org/drawingml/2006/main">
            <a:off x="1676400" y="3238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DEMONSTRATION</a:t>
            </a:r>
          </a:p>
        </p:txBody>
      </p:sp>
      <p:sp>
        <p:nvSpPr>
          <p:cNvPr id="3" name="">
            <a:extLst xmlns:a="http://schemas.openxmlformats.org/drawingml/2006/main">
              <a:ext uri="{FF2B5EF4-FFF2-40B4-BE49-F238E27FC236}">
                <a16:creationId xmlns:a16="http://schemas.microsoft.com/office/drawing/2014/main" id="{0D22281E-348B-42CB-932F-F021F20F8DB0}"/>
              </a:ext>
            </a:extLst>
          </p:cNvPr>
          <p:cNvSpPr>
            <a:spLocks xmlns:a="http://schemas.openxmlformats.org/drawingml/2006/main" noGrp="1"/>
          </p:cNvSpPr>
          <p:nvPr/>
        </p:nvSpPr>
        <p:spPr>
          <a:xfrm xmlns:a="http://schemas.openxmlformats.org/drawingml/2006/main">
            <a:off x="8877300" y="6477000"/>
            <a:ext cx="2781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D4DAE6"/>
                </a:solidFill>
                <a:latin typeface="Aptos"/>
                <a:ea typeface="Aptos"/>
                <a:cs typeface="Aptos"/>
              </a:defRPr>
            </a:pPr>
            <a:r>
              <a:rPr sz="825" b="1">
                <a:solidFill>
                  <a:srgbClr val="D4DAE6"/>
                </a:solidFill>
                <a:latin typeface="Aptos"/>
                <a:ea typeface="Aptos"/>
                <a:cs typeface="Aptos"/>
              </a:rPr>
              <a:t>KNTSF  •  FINAL YEAR PROJECT</a:t>
            </a:r>
          </a:p>
        </p:txBody>
      </p:sp>
      <p:sp>
        <p:nvSpPr>
          <p:cNvPr id="4" name="">
            <a:extLst xmlns:a="http://schemas.openxmlformats.org/drawingml/2006/main">
              <a:ext uri="{FF2B5EF4-FFF2-40B4-BE49-F238E27FC236}">
                <a16:creationId xmlns:a16="http://schemas.microsoft.com/office/drawing/2014/main" id="{65A9560F-E4AC-40FD-90DA-D88B0083A3F9}"/>
              </a:ext>
            </a:extLst>
          </p:cNvPr>
          <p:cNvSpPr>
            <a:spLocks xmlns:a="http://schemas.openxmlformats.org/drawingml/2006/main" noGrp="1"/>
          </p:cNvSpPr>
          <p:nvPr/>
        </p:nvSpPr>
        <p:spPr>
          <a:xfrm xmlns:a="http://schemas.openxmlformats.org/drawingml/2006/main">
            <a:off x="533400" y="781050"/>
            <a:ext cx="111252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One record. Three views. Thirty-two seconds.</a:t>
            </a:r>
          </a:p>
        </p:txBody>
      </p:sp>
      <p:sp>
        <p:nvSpPr>
          <p:cNvPr id="5" name="">
            <a:extLst xmlns:a="http://schemas.openxmlformats.org/drawingml/2006/main">
              <a:ext uri="{FF2B5EF4-FFF2-40B4-BE49-F238E27FC236}">
                <a16:creationId xmlns:a16="http://schemas.microsoft.com/office/drawing/2014/main" id="{ACFD2B31-E51D-426C-997B-75A64A063030}"/>
              </a:ext>
            </a:extLst>
          </p:cNvPr>
          <p:cNvSpPr>
            <a:spLocks xmlns:a="http://schemas.openxmlformats.org/drawingml/2006/main" noGrp="1"/>
          </p:cNvSpPr>
          <p:nvPr/>
        </p:nvSpPr>
        <p:spPr>
          <a:xfrm xmlns:a="http://schemas.openxmlformats.org/drawingml/2006/main">
            <a:off x="533400" y="16954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98A2B3"/>
                </a:solidFill>
                <a:latin typeface="Aptos"/>
                <a:ea typeface="Aptos"/>
                <a:cs typeface="Aptos"/>
              </a:defRPr>
            </a:pPr>
            <a:r>
              <a:rPr sz="1725" b="0">
                <a:solidFill>
                  <a:srgbClr val="98A2B3"/>
                </a:solidFill>
                <a:latin typeface="Aptos"/>
                <a:ea typeface="Aptos"/>
                <a:cs typeface="Aptos"/>
              </a:rPr>
              <a:t>Student 26100001  •  permit 0259  •  active</a:t>
            </a:r>
          </a:p>
        </p:txBody>
      </p:sp>
      <p:sp>
        <p:nvSpPr>
          <p:cNvPr id="6" name="">
            <a:extLst xmlns:a="http://schemas.openxmlformats.org/drawingml/2006/main">
              <a:ext uri="{FF2B5EF4-FFF2-40B4-BE49-F238E27FC236}">
                <a16:creationId xmlns:a16="http://schemas.microsoft.com/office/drawing/2014/main" id="{8D739D61-0656-4134-9F29-7571F0038626}"/>
              </a:ext>
            </a:extLst>
          </p:cNvPr>
          <p:cNvSpPr>
            <a:spLocks xmlns:a="http://schemas.openxmlformats.org/drawingml/2006/main" noGrp="1"/>
          </p:cNvSpPr>
          <p:nvPr/>
        </p:nvSpPr>
        <p:spPr>
          <a:xfrm xmlns:a="http://schemas.openxmlformats.org/drawingml/2006/main">
            <a:off x="533400" y="2457450"/>
            <a:ext cx="1790700" cy="1790700"/>
          </a:xfrm>
          <a:prstGeom xmlns:a="http://schemas.openxmlformats.org/drawingml/2006/main" prst="ellipse">
            <a:avLst/>
          </a:prstGeom>
          <a:solidFill xmlns:a="http://schemas.openxmlformats.org/drawingml/2006/main">
            <a:srgbClr val="6D4AFF"/>
          </a:solidFill>
          <a:ln xmlns:a="http://schemas.openxmlformats.org/drawingml/2006/main" w="0">
            <a:solidFill>
              <a:srgbClr val="6D4AFF"/>
            </a:solidFill>
            <a:prstDash val="solid"/>
          </a:ln>
        </p:spPr>
      </p:sp>
      <p:sp>
        <p:nvSpPr>
          <p:cNvPr id="7" name="">
            <a:extLst xmlns:a="http://schemas.openxmlformats.org/drawingml/2006/main">
              <a:ext uri="{FF2B5EF4-FFF2-40B4-BE49-F238E27FC236}">
                <a16:creationId xmlns:a16="http://schemas.microsoft.com/office/drawing/2014/main" id="{A12F377E-7766-4E0C-AF67-74BAD753E7B7}"/>
              </a:ext>
            </a:extLst>
          </p:cNvPr>
          <p:cNvSpPr>
            <a:spLocks xmlns:a="http://schemas.openxmlformats.org/drawingml/2006/main" noGrp="1"/>
          </p:cNvSpPr>
          <p:nvPr/>
        </p:nvSpPr>
        <p:spPr>
          <a:xfrm xmlns:a="http://schemas.openxmlformats.org/drawingml/2006/main">
            <a:off x="952500" y="2838450"/>
            <a:ext cx="95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5250" b="1">
                <a:solidFill>
                  <a:srgbClr val="FFFFFF"/>
                </a:solidFill>
                <a:latin typeface="Aptos"/>
                <a:ea typeface="Aptos"/>
                <a:cs typeface="Aptos"/>
              </a:defRPr>
            </a:pPr>
            <a:r>
              <a:rPr sz="5250" b="1">
                <a:solidFill>
                  <a:srgbClr val="FFFFF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18986966-2027-4E07-B472-2B3056D75CF4}"/>
              </a:ext>
            </a:extLst>
          </p:cNvPr>
          <p:cNvSpPr>
            <a:spLocks xmlns:a="http://schemas.openxmlformats.org/drawingml/2006/main" noGrp="1"/>
          </p:cNvSpPr>
          <p:nvPr/>
        </p:nvSpPr>
        <p:spPr>
          <a:xfrm xmlns:a="http://schemas.openxmlformats.org/drawingml/2006/main">
            <a:off x="533400" y="4514850"/>
            <a:ext cx="1790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32 SEC</a:t>
            </a:r>
          </a:p>
        </p:txBody>
      </p:sp>
      <p:cxnSp>
        <p:nvCxnSpPr>
          <p:cNvPr id="33" name=""/>
          <p:cNvCxnSpPr/>
          <p:nvPr/>
        </p:nvCxnSpPr>
        <p:spPr>
          <a:xfrm xmlns:a="http://schemas.openxmlformats.org/drawingml/2006/main">
            <a:off x="2762250" y="3352800"/>
            <a:ext cx="8191500" cy="0"/>
          </a:xfrm>
          <a:prstGeom xmlns:a="http://schemas.openxmlformats.org/drawingml/2006/main" prst="straightConnector1">
            <a:avLst/>
          </a:prstGeom>
          <a:ln xmlns:a="http://schemas.openxmlformats.org/drawingml/2006/main" w="38100">
            <a:solidFill>
              <a:srgbClr val="27324A"/>
            </a:solidFill>
            <a:prstDash val="solid"/>
          </a:ln>
        </p:spPr>
      </p:cxnSp>
      <p:sp>
        <p:nvSpPr>
          <p:cNvPr id="10" name="">
            <a:extLst xmlns:a="http://schemas.openxmlformats.org/drawingml/2006/main">
              <a:ext uri="{FF2B5EF4-FFF2-40B4-BE49-F238E27FC236}">
                <a16:creationId xmlns:a16="http://schemas.microsoft.com/office/drawing/2014/main" id="{9BEDA99C-9448-46A6-A2B2-8ED31CD00C3D}"/>
              </a:ext>
            </a:extLst>
          </p:cNvPr>
          <p:cNvSpPr>
            <a:spLocks xmlns:a="http://schemas.openxmlformats.org/drawingml/2006/main" noGrp="1"/>
          </p:cNvSpPr>
          <p:nvPr/>
        </p:nvSpPr>
        <p:spPr>
          <a:xfrm xmlns:a="http://schemas.openxmlformats.org/drawingml/2006/main">
            <a:off x="3162300" y="3181350"/>
            <a:ext cx="342900" cy="342900"/>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11" name="">
            <a:extLst xmlns:a="http://schemas.openxmlformats.org/drawingml/2006/main">
              <a:ext uri="{FF2B5EF4-FFF2-40B4-BE49-F238E27FC236}">
                <a16:creationId xmlns:a16="http://schemas.microsoft.com/office/drawing/2014/main" id="{2EA1DAD1-E36F-4DC4-9F8C-E242DE2C47E7}"/>
              </a:ext>
            </a:extLst>
          </p:cNvPr>
          <p:cNvSpPr>
            <a:spLocks xmlns:a="http://schemas.openxmlformats.org/drawingml/2006/main" noGrp="1"/>
          </p:cNvSpPr>
          <p:nvPr/>
        </p:nvSpPr>
        <p:spPr>
          <a:xfrm xmlns:a="http://schemas.openxmlformats.org/drawingml/2006/main">
            <a:off x="3162300" y="24574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8B5CF6"/>
                </a:solidFill>
                <a:latin typeface="Aptos"/>
                <a:ea typeface="Aptos"/>
                <a:cs typeface="Aptos"/>
              </a:defRPr>
            </a:pPr>
            <a:r>
              <a:rPr sz="1125" b="1">
                <a:solidFill>
                  <a:srgbClr val="8B5CF6"/>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1E05A16D-4C12-4D4A-B26F-13923BB10013}"/>
              </a:ext>
            </a:extLst>
          </p:cNvPr>
          <p:cNvSpPr>
            <a:spLocks xmlns:a="http://schemas.openxmlformats.org/drawingml/2006/main" noGrp="1"/>
          </p:cNvSpPr>
          <p:nvPr/>
        </p:nvSpPr>
        <p:spPr>
          <a:xfrm xmlns:a="http://schemas.openxmlformats.org/drawingml/2006/main">
            <a:off x="3162300" y="28003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ADMINISTRATOR</a:t>
            </a:r>
          </a:p>
        </p:txBody>
      </p:sp>
      <p:sp>
        <p:nvSpPr>
          <p:cNvPr id="13" name="">
            <a:extLst xmlns:a="http://schemas.openxmlformats.org/drawingml/2006/main">
              <a:ext uri="{FF2B5EF4-FFF2-40B4-BE49-F238E27FC236}">
                <a16:creationId xmlns:a16="http://schemas.microsoft.com/office/drawing/2014/main" id="{D22C76BB-C57E-42A3-A719-6F7AAA339D05}"/>
              </a:ext>
            </a:extLst>
          </p:cNvPr>
          <p:cNvSpPr>
            <a:spLocks xmlns:a="http://schemas.openxmlformats.org/drawingml/2006/main" noGrp="1"/>
          </p:cNvSpPr>
          <p:nvPr/>
        </p:nvSpPr>
        <p:spPr>
          <a:xfrm xmlns:a="http://schemas.openxmlformats.org/drawingml/2006/main">
            <a:off x="3162300" y="3829050"/>
            <a:ext cx="2190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4DAE6"/>
                </a:solidFill>
                <a:latin typeface="Aptos"/>
                <a:ea typeface="Aptos"/>
                <a:cs typeface="Aptos"/>
              </a:defRPr>
            </a:pPr>
            <a:r>
              <a:rPr sz="1425" b="0">
                <a:solidFill>
                  <a:srgbClr val="D4DAE6"/>
                </a:solidFill>
                <a:latin typeface="Aptos"/>
                <a:ea typeface="Aptos"/>
                <a:cs typeface="Aptos"/>
              </a:rPr>
              <a:t>Confirms the prepared permit record</a:t>
            </a:r>
          </a:p>
        </p:txBody>
      </p:sp>
      <p:sp>
        <p:nvSpPr>
          <p:cNvPr id="14" name="">
            <a:extLst xmlns:a="http://schemas.openxmlformats.org/drawingml/2006/main">
              <a:ext uri="{FF2B5EF4-FFF2-40B4-BE49-F238E27FC236}">
                <a16:creationId xmlns:a16="http://schemas.microsoft.com/office/drawing/2014/main" id="{A90A44D7-2C5E-49F9-89BC-498B6B9F5429}"/>
              </a:ext>
            </a:extLst>
          </p:cNvPr>
          <p:cNvSpPr>
            <a:spLocks xmlns:a="http://schemas.openxmlformats.org/drawingml/2006/main" noGrp="1"/>
          </p:cNvSpPr>
          <p:nvPr/>
        </p:nvSpPr>
        <p:spPr>
          <a:xfrm xmlns:a="http://schemas.openxmlformats.org/drawingml/2006/main">
            <a:off x="5886450" y="3181350"/>
            <a:ext cx="342900" cy="342900"/>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15" name="">
            <a:extLst xmlns:a="http://schemas.openxmlformats.org/drawingml/2006/main">
              <a:ext uri="{FF2B5EF4-FFF2-40B4-BE49-F238E27FC236}">
                <a16:creationId xmlns:a16="http://schemas.microsoft.com/office/drawing/2014/main" id="{B4C7FD01-F240-479A-8CD8-1B38E2E9AB40}"/>
              </a:ext>
            </a:extLst>
          </p:cNvPr>
          <p:cNvSpPr>
            <a:spLocks xmlns:a="http://schemas.openxmlformats.org/drawingml/2006/main" noGrp="1"/>
          </p:cNvSpPr>
          <p:nvPr/>
        </p:nvSpPr>
        <p:spPr>
          <a:xfrm xmlns:a="http://schemas.openxmlformats.org/drawingml/2006/main">
            <a:off x="5886450" y="24574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8B5CF6"/>
                </a:solidFill>
                <a:latin typeface="Aptos"/>
                <a:ea typeface="Aptos"/>
                <a:cs typeface="Aptos"/>
              </a:defRPr>
            </a:pPr>
            <a:r>
              <a:rPr sz="1125" b="1">
                <a:solidFill>
                  <a:srgbClr val="8B5CF6"/>
                </a:solidFill>
                <a:latin typeface="Aptos"/>
                <a:ea typeface="Aptos"/>
                <a:cs typeface="Aptos"/>
              </a:rPr>
              <a:t>02</a:t>
            </a:r>
          </a:p>
        </p:txBody>
      </p:sp>
      <p:sp>
        <p:nvSpPr>
          <p:cNvPr id="16" name="">
            <a:extLst xmlns:a="http://schemas.openxmlformats.org/drawingml/2006/main">
              <a:ext uri="{FF2B5EF4-FFF2-40B4-BE49-F238E27FC236}">
                <a16:creationId xmlns:a16="http://schemas.microsoft.com/office/drawing/2014/main" id="{0E79A65A-A248-4593-9D48-B763A9C358F7}"/>
              </a:ext>
            </a:extLst>
          </p:cNvPr>
          <p:cNvSpPr>
            <a:spLocks xmlns:a="http://schemas.openxmlformats.org/drawingml/2006/main" noGrp="1"/>
          </p:cNvSpPr>
          <p:nvPr/>
        </p:nvSpPr>
        <p:spPr>
          <a:xfrm xmlns:a="http://schemas.openxmlformats.org/drawingml/2006/main">
            <a:off x="5886450" y="28003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STUDENT</a:t>
            </a:r>
          </a:p>
        </p:txBody>
      </p:sp>
      <p:sp>
        <p:nvSpPr>
          <p:cNvPr id="17" name="">
            <a:extLst xmlns:a="http://schemas.openxmlformats.org/drawingml/2006/main">
              <a:ext uri="{FF2B5EF4-FFF2-40B4-BE49-F238E27FC236}">
                <a16:creationId xmlns:a16="http://schemas.microsoft.com/office/drawing/2014/main" id="{C89734A3-B19D-4D90-B8BB-58722CC39052}"/>
              </a:ext>
            </a:extLst>
          </p:cNvPr>
          <p:cNvSpPr>
            <a:spLocks xmlns:a="http://schemas.openxmlformats.org/drawingml/2006/main" noGrp="1"/>
          </p:cNvSpPr>
          <p:nvPr/>
        </p:nvSpPr>
        <p:spPr>
          <a:xfrm xmlns:a="http://schemas.openxmlformats.org/drawingml/2006/main">
            <a:off x="5886450" y="3829050"/>
            <a:ext cx="2190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4DAE6"/>
                </a:solidFill>
                <a:latin typeface="Aptos"/>
                <a:ea typeface="Aptos"/>
                <a:cs typeface="Aptos"/>
              </a:defRPr>
            </a:pPr>
            <a:r>
              <a:rPr sz="1425" b="0">
                <a:solidFill>
                  <a:srgbClr val="D4DAE6"/>
                </a:solidFill>
                <a:latin typeface="Aptos"/>
                <a:ea typeface="Aptos"/>
                <a:cs typeface="Aptos"/>
              </a:rPr>
              <a:t>Views the same permit in the app</a:t>
            </a:r>
          </a:p>
        </p:txBody>
      </p:sp>
      <p:sp>
        <p:nvSpPr>
          <p:cNvPr id="18" name="">
            <a:extLst xmlns:a="http://schemas.openxmlformats.org/drawingml/2006/main">
              <a:ext uri="{FF2B5EF4-FFF2-40B4-BE49-F238E27FC236}">
                <a16:creationId xmlns:a16="http://schemas.microsoft.com/office/drawing/2014/main" id="{FD494BB8-7046-495B-A158-5BF3A2AF7D8B}"/>
              </a:ext>
            </a:extLst>
          </p:cNvPr>
          <p:cNvSpPr>
            <a:spLocks xmlns:a="http://schemas.openxmlformats.org/drawingml/2006/main" noGrp="1"/>
          </p:cNvSpPr>
          <p:nvPr/>
        </p:nvSpPr>
        <p:spPr>
          <a:xfrm xmlns:a="http://schemas.openxmlformats.org/drawingml/2006/main">
            <a:off x="8610600" y="3181350"/>
            <a:ext cx="342900" cy="34290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9" name="">
            <a:extLst xmlns:a="http://schemas.openxmlformats.org/drawingml/2006/main">
              <a:ext uri="{FF2B5EF4-FFF2-40B4-BE49-F238E27FC236}">
                <a16:creationId xmlns:a16="http://schemas.microsoft.com/office/drawing/2014/main" id="{97D2B7F9-0C51-4F96-B5DF-CCD29DA1845B}"/>
              </a:ext>
            </a:extLst>
          </p:cNvPr>
          <p:cNvSpPr>
            <a:spLocks xmlns:a="http://schemas.openxmlformats.org/drawingml/2006/main" noGrp="1"/>
          </p:cNvSpPr>
          <p:nvPr/>
        </p:nvSpPr>
        <p:spPr>
          <a:xfrm xmlns:a="http://schemas.openxmlformats.org/drawingml/2006/main">
            <a:off x="8610600" y="2457450"/>
            <a:ext cx="609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0B981"/>
                </a:solidFill>
                <a:latin typeface="Aptos"/>
                <a:ea typeface="Aptos"/>
                <a:cs typeface="Aptos"/>
              </a:defRPr>
            </a:pPr>
            <a:r>
              <a:rPr sz="1125" b="1">
                <a:solidFill>
                  <a:srgbClr val="10B981"/>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6ABE9B22-B7CB-43FE-9045-18C1010BEF26}"/>
              </a:ext>
            </a:extLst>
          </p:cNvPr>
          <p:cNvSpPr>
            <a:spLocks xmlns:a="http://schemas.openxmlformats.org/drawingml/2006/main" noGrp="1"/>
          </p:cNvSpPr>
          <p:nvPr/>
        </p:nvSpPr>
        <p:spPr>
          <a:xfrm xmlns:a="http://schemas.openxmlformats.org/drawingml/2006/main">
            <a:off x="8610600" y="28003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STAFF</a:t>
            </a:r>
          </a:p>
        </p:txBody>
      </p:sp>
      <p:sp>
        <p:nvSpPr>
          <p:cNvPr id="21" name="">
            <a:extLst xmlns:a="http://schemas.openxmlformats.org/drawingml/2006/main">
              <a:ext uri="{FF2B5EF4-FFF2-40B4-BE49-F238E27FC236}">
                <a16:creationId xmlns:a16="http://schemas.microsoft.com/office/drawing/2014/main" id="{2D68ACEF-C9C7-48EE-BDF2-83E6AD461323}"/>
              </a:ext>
            </a:extLst>
          </p:cNvPr>
          <p:cNvSpPr>
            <a:spLocks xmlns:a="http://schemas.openxmlformats.org/drawingml/2006/main" noGrp="1"/>
          </p:cNvSpPr>
          <p:nvPr/>
        </p:nvSpPr>
        <p:spPr>
          <a:xfrm xmlns:a="http://schemas.openxmlformats.org/drawingml/2006/main">
            <a:off x="8610600" y="3829050"/>
            <a:ext cx="2190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4DAE6"/>
                </a:solidFill>
                <a:latin typeface="Aptos"/>
                <a:ea typeface="Aptos"/>
                <a:cs typeface="Aptos"/>
              </a:defRPr>
            </a:pPr>
            <a:r>
              <a:rPr sz="1425" b="0">
                <a:solidFill>
                  <a:srgbClr val="D4DAE6"/>
                </a:solidFill>
                <a:latin typeface="Aptos"/>
                <a:ea typeface="Aptos"/>
                <a:cs typeface="Aptos"/>
              </a:rPr>
              <a:t>Retrieves the current backend result</a:t>
            </a:r>
          </a:p>
        </p:txBody>
      </p:sp>
      <p:sp>
        <p:nvSpPr>
          <p:cNvPr id="22" name="">
            <a:extLst xmlns:a="http://schemas.openxmlformats.org/drawingml/2006/main">
              <a:ext uri="{FF2B5EF4-FFF2-40B4-BE49-F238E27FC236}">
                <a16:creationId xmlns:a16="http://schemas.microsoft.com/office/drawing/2014/main" id="{5AA56858-10F0-4D65-985B-F428A0254C69}"/>
              </a:ext>
            </a:extLst>
          </p:cNvPr>
          <p:cNvSpPr>
            <a:spLocks xmlns:a="http://schemas.openxmlformats.org/drawingml/2006/main" noGrp="1"/>
          </p:cNvSpPr>
          <p:nvPr/>
        </p:nvSpPr>
        <p:spPr>
          <a:xfrm xmlns:a="http://schemas.openxmlformats.org/drawingml/2006/main">
            <a:off x="2762250" y="5276850"/>
            <a:ext cx="8191500" cy="609600"/>
          </a:xfrm>
          <a:prstGeom xmlns:a="http://schemas.openxmlformats.org/drawingml/2006/main" prst="rect">
            <a:avLst/>
          </a:prstGeom>
          <a:solidFill xmlns:a="http://schemas.openxmlformats.org/drawingml/2006/main">
            <a:srgbClr val="1A2235"/>
          </a:solidFill>
          <a:ln xmlns:a="http://schemas.openxmlformats.org/drawingml/2006/main" w="0">
            <a:solidFill>
              <a:srgbClr val="1A2235"/>
            </a:solidFill>
            <a:prstDash val="solid"/>
          </a:ln>
        </p:spPr>
      </p:sp>
      <p:sp>
        <p:nvSpPr>
          <p:cNvPr id="23" name="">
            <a:extLst xmlns:a="http://schemas.openxmlformats.org/drawingml/2006/main">
              <a:ext uri="{FF2B5EF4-FFF2-40B4-BE49-F238E27FC236}">
                <a16:creationId xmlns:a16="http://schemas.microsoft.com/office/drawing/2014/main" id="{B0C6CB9B-2DB5-4C5A-89B8-33FD5FE42478}"/>
              </a:ext>
            </a:extLst>
          </p:cNvPr>
          <p:cNvSpPr>
            <a:spLocks xmlns:a="http://schemas.openxmlformats.org/drawingml/2006/main" noGrp="1"/>
          </p:cNvSpPr>
          <p:nvPr/>
        </p:nvSpPr>
        <p:spPr>
          <a:xfrm xmlns:a="http://schemas.openxmlformats.org/drawingml/2006/main">
            <a:off x="3028950" y="5476875"/>
            <a:ext cx="1695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8BDF8"/>
                </a:solidFill>
                <a:latin typeface="Aptos"/>
                <a:ea typeface="Aptos"/>
                <a:cs typeface="Aptos"/>
              </a:defRPr>
            </a:pPr>
            <a:r>
              <a:rPr sz="1125" b="1">
                <a:solidFill>
                  <a:srgbClr val="38BDF8"/>
                </a:solidFill>
                <a:latin typeface="Aptos"/>
                <a:ea typeface="Aptos"/>
                <a:cs typeface="Aptos"/>
              </a:rPr>
              <a:t>WHAT IT PROVES</a:t>
            </a:r>
          </a:p>
        </p:txBody>
      </p:sp>
      <p:sp>
        <p:nvSpPr>
          <p:cNvPr id="24" name="">
            <a:extLst xmlns:a="http://schemas.openxmlformats.org/drawingml/2006/main">
              <a:ext uri="{FF2B5EF4-FFF2-40B4-BE49-F238E27FC236}">
                <a16:creationId xmlns:a16="http://schemas.microsoft.com/office/drawing/2014/main" id="{BFDD7519-10E0-4D54-B7AF-B62FB2FC97A9}"/>
              </a:ext>
            </a:extLst>
          </p:cNvPr>
          <p:cNvSpPr>
            <a:spLocks xmlns:a="http://schemas.openxmlformats.org/drawingml/2006/main" noGrp="1"/>
          </p:cNvSpPr>
          <p:nvPr/>
        </p:nvSpPr>
        <p:spPr>
          <a:xfrm xmlns:a="http://schemas.openxmlformats.org/drawingml/2006/main">
            <a:off x="4857750" y="54102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Every channel returns the same backend-controlled record.</a:t>
            </a:r>
          </a:p>
        </p:txBody>
      </p:sp>
    </p:spTree>
    <p:extLst>
      <p:ext uri="{BB962C8B-B14F-4D97-AF65-F5344CB8AC3E}">
        <p14:creationId xmlns:p14="http://schemas.microsoft.com/office/powerpoint/2010/main" val="64697943"/>
      </p:ext>
    </p:extLst>
  </p:cSld>
</p:sld>
</file>

<file path=ppt/slides/slide13.xml><?xml version="1.0" encoding="utf-8"?>
<p:sld xmlns:p="http://schemas.openxmlformats.org/presentationml/2006/main">
  <p:cSld>
    <p:bg>
      <p:bgPr>
        <a:solidFill xmlns:a="http://schemas.openxmlformats.org/drawingml/2006/main">
          <a:srgbClr val="080D1A"/>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f621a95e79040fb"/>
          <a:srcRect xmlns:a="http://schemas.openxmlformats.org/drawingml/2006/main" l="29645" t="0" r="29645"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F1065A6-8D5B-40F0-9846-09A2DBA5A998}"/>
              </a:ext>
            </a:extLst>
          </p:cNvPr>
          <p:cNvSpPr>
            <a:spLocks xmlns:a="http://schemas.openxmlformats.org/drawingml/2006/main" noGrp="1"/>
          </p:cNvSpPr>
          <p:nvPr/>
        </p:nvSpPr>
        <p:spPr>
          <a:xfrm xmlns:a="http://schemas.openxmlformats.org/drawingml/2006/main">
            <a:off x="0" y="0"/>
            <a:ext cx="8058150" cy="6858000"/>
          </a:xfrm>
          <a:prstGeom xmlns:a="http://schemas.openxmlformats.org/drawingml/2006/main" prst="rect">
            <a:avLst/>
          </a:prstGeom>
          <a:solidFill xmlns:a="http://schemas.openxmlformats.org/drawingml/2006/main">
            <a:srgbClr val="080D1A"/>
          </a:solidFill>
          <a:ln xmlns:a="http://schemas.openxmlformats.org/drawingml/2006/main" w="0">
            <a:solidFill>
              <a:srgbClr val="080D1A"/>
            </a:solidFill>
            <a:prstDash val="solid"/>
          </a:ln>
        </p:spPr>
      </p:sp>
      <p:sp>
        <p:nvSpPr>
          <p:cNvPr id="3" name="">
            <a:extLst xmlns:a="http://schemas.openxmlformats.org/drawingml/2006/main">
              <a:ext uri="{FF2B5EF4-FFF2-40B4-BE49-F238E27FC236}">
                <a16:creationId xmlns:a16="http://schemas.microsoft.com/office/drawing/2014/main" id="{2C59E265-A976-42FA-88B7-80C941D95898}"/>
              </a:ext>
            </a:extLst>
          </p:cNvPr>
          <p:cNvSpPr>
            <a:spLocks xmlns:a="http://schemas.openxmlformats.org/drawingml/2006/main" noGrp="1"/>
          </p:cNvSpPr>
          <p:nvPr/>
        </p:nvSpPr>
        <p:spPr>
          <a:xfrm xmlns:a="http://schemas.openxmlformats.org/drawingml/2006/main">
            <a:off x="533400" y="0"/>
            <a:ext cx="76200" cy="68580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4" name="">
            <a:extLst xmlns:a="http://schemas.openxmlformats.org/drawingml/2006/main">
              <a:ext uri="{FF2B5EF4-FFF2-40B4-BE49-F238E27FC236}">
                <a16:creationId xmlns:a16="http://schemas.microsoft.com/office/drawing/2014/main" id="{D7971EBD-0EC7-43AC-B4C7-D7A886E96215}"/>
              </a:ext>
            </a:extLst>
          </p:cNvPr>
          <p:cNvSpPr>
            <a:spLocks xmlns:a="http://schemas.openxmlformats.org/drawingml/2006/main" noGrp="1"/>
          </p:cNvSpPr>
          <p:nvPr/>
        </p:nvSpPr>
        <p:spPr>
          <a:xfrm xmlns:a="http://schemas.openxmlformats.org/drawingml/2006/main">
            <a:off x="838200" y="457200"/>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0B981"/>
                </a:solidFill>
                <a:latin typeface="Aptos"/>
                <a:ea typeface="Aptos"/>
                <a:cs typeface="Aptos"/>
              </a:defRPr>
            </a:pPr>
            <a:r>
              <a:rPr sz="975" b="1">
                <a:solidFill>
                  <a:srgbClr val="10B981"/>
                </a:solidFill>
                <a:latin typeface="Aptos"/>
                <a:ea typeface="Aptos"/>
                <a:cs typeface="Aptos"/>
              </a:rPr>
              <a:t>13 / 13</a:t>
            </a:r>
          </a:p>
        </p:txBody>
      </p:sp>
      <p:sp>
        <p:nvSpPr>
          <p:cNvPr id="5" name="">
            <a:extLst xmlns:a="http://schemas.openxmlformats.org/drawingml/2006/main">
              <a:ext uri="{FF2B5EF4-FFF2-40B4-BE49-F238E27FC236}">
                <a16:creationId xmlns:a16="http://schemas.microsoft.com/office/drawing/2014/main" id="{CF204118-E668-488D-AE39-BC6F3AF8E24E}"/>
              </a:ext>
            </a:extLst>
          </p:cNvPr>
          <p:cNvSpPr>
            <a:spLocks xmlns:a="http://schemas.openxmlformats.org/drawingml/2006/main" noGrp="1"/>
          </p:cNvSpPr>
          <p:nvPr/>
        </p:nvSpPr>
        <p:spPr>
          <a:xfrm xmlns:a="http://schemas.openxmlformats.org/drawingml/2006/main">
            <a:off x="1981200" y="4572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4DAE6"/>
                </a:solidFill>
                <a:latin typeface="Aptos"/>
                <a:ea typeface="Aptos"/>
                <a:cs typeface="Aptos"/>
              </a:defRPr>
            </a:pPr>
            <a:r>
              <a:rPr sz="975" b="1">
                <a:solidFill>
                  <a:srgbClr val="D4DAE6"/>
                </a:solidFill>
                <a:latin typeface="Aptos"/>
                <a:ea typeface="Aptos"/>
                <a:cs typeface="Aptos"/>
              </a:rPr>
              <a:t>CONCLUSION</a:t>
            </a:r>
          </a:p>
        </p:txBody>
      </p:sp>
      <p:sp>
        <p:nvSpPr>
          <p:cNvPr id="6" name="">
            <a:extLst xmlns:a="http://schemas.openxmlformats.org/drawingml/2006/main">
              <a:ext uri="{FF2B5EF4-FFF2-40B4-BE49-F238E27FC236}">
                <a16:creationId xmlns:a16="http://schemas.microsoft.com/office/drawing/2014/main" id="{2DCF730E-68B3-450B-B1BC-E1318F7143E3}"/>
              </a:ext>
            </a:extLst>
          </p:cNvPr>
          <p:cNvSpPr>
            <a:spLocks xmlns:a="http://schemas.openxmlformats.org/drawingml/2006/main" noGrp="1"/>
          </p:cNvSpPr>
          <p:nvPr/>
        </p:nvSpPr>
        <p:spPr>
          <a:xfrm xmlns:a="http://schemas.openxmlformats.org/drawingml/2006/main">
            <a:off x="838200" y="1181100"/>
            <a:ext cx="6191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2000"/>
              </a:lnSpc>
              <a:buNone/>
              <a:defRPr sz="4650" b="1">
                <a:solidFill>
                  <a:srgbClr val="FFFFFF"/>
                </a:solidFill>
                <a:latin typeface="Aptos Display"/>
                <a:ea typeface="Aptos Display"/>
                <a:cs typeface="Aptos Display"/>
              </a:defRPr>
            </a:pPr>
            <a:r>
              <a:rPr sz="4650" b="1">
                <a:solidFill>
                  <a:srgbClr val="FFFFFF"/>
                </a:solidFill>
                <a:latin typeface="Aptos Display"/>
                <a:ea typeface="Aptos Display"/>
                <a:cs typeface="Aptos Display"/>
              </a:rPr>
              <a:t>One accountable</a:t>
            </a:r>
          </a:p>
          <a:p xmlns:a="http://schemas.openxmlformats.org/drawingml/2006/main">
            <a:pPr algn="l">
              <a:lnSpc>
                <a:spcPct val="92000"/>
              </a:lnSpc>
              <a:buNone/>
              <a:defRPr sz="4650" b="1">
                <a:solidFill>
                  <a:srgbClr val="FFFFFF"/>
                </a:solidFill>
                <a:latin typeface="Aptos Display"/>
                <a:ea typeface="Aptos Display"/>
                <a:cs typeface="Aptos Display"/>
              </a:defRPr>
            </a:pPr>
            <a:r>
              <a:rPr sz="4650" b="1">
                <a:solidFill>
                  <a:srgbClr val="FFFFFF"/>
                </a:solidFill>
                <a:latin typeface="Aptos Display"/>
                <a:ea typeface="Aptos Display"/>
                <a:cs typeface="Aptos Display"/>
              </a:rPr>
              <a:t>system replaces</a:t>
            </a:r>
          </a:p>
          <a:p xmlns:a="http://schemas.openxmlformats.org/drawingml/2006/main">
            <a:pPr algn="l">
              <a:lnSpc>
                <a:spcPct val="92000"/>
              </a:lnSpc>
              <a:buNone/>
              <a:defRPr sz="4650" b="1">
                <a:solidFill>
                  <a:srgbClr val="FFFFFF"/>
                </a:solidFill>
                <a:latin typeface="Aptos Display"/>
                <a:ea typeface="Aptos Display"/>
                <a:cs typeface="Aptos Display"/>
              </a:defRPr>
            </a:pPr>
            <a:r>
              <a:rPr sz="4650" b="1">
                <a:solidFill>
                  <a:srgbClr val="FFFFFF"/>
                </a:solidFill>
                <a:latin typeface="Aptos Display"/>
                <a:ea typeface="Aptos Display"/>
                <a:cs typeface="Aptos Display"/>
              </a:rPr>
              <a:t>fragmented decisions.</a:t>
            </a:r>
          </a:p>
        </p:txBody>
      </p:sp>
      <p:sp>
        <p:nvSpPr>
          <p:cNvPr id="7" name="">
            <a:extLst xmlns:a="http://schemas.openxmlformats.org/drawingml/2006/main">
              <a:ext uri="{FF2B5EF4-FFF2-40B4-BE49-F238E27FC236}">
                <a16:creationId xmlns:a16="http://schemas.microsoft.com/office/drawing/2014/main" id="{31DA0215-7A75-4AFC-9462-8F91FE21859F}"/>
              </a:ext>
            </a:extLst>
          </p:cNvPr>
          <p:cNvSpPr>
            <a:spLocks xmlns:a="http://schemas.openxmlformats.org/drawingml/2006/main" noGrp="1"/>
          </p:cNvSpPr>
          <p:nvPr/>
        </p:nvSpPr>
        <p:spPr>
          <a:xfrm xmlns:a="http://schemas.openxmlformats.org/drawingml/2006/main">
            <a:off x="857250" y="4057650"/>
            <a:ext cx="152400" cy="152400"/>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22E36AB0-FF3D-426D-B2D6-3174892FCCE4}"/>
              </a:ext>
            </a:extLst>
          </p:cNvPr>
          <p:cNvSpPr>
            <a:spLocks xmlns:a="http://schemas.openxmlformats.org/drawingml/2006/main" noGrp="1"/>
          </p:cNvSpPr>
          <p:nvPr/>
        </p:nvSpPr>
        <p:spPr>
          <a:xfrm xmlns:a="http://schemas.openxmlformats.org/drawingml/2006/main">
            <a:off x="1219200" y="39814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Shared backend across web and mobile</a:t>
            </a:r>
          </a:p>
        </p:txBody>
      </p:sp>
      <p:sp>
        <p:nvSpPr>
          <p:cNvPr id="9" name="">
            <a:extLst xmlns:a="http://schemas.openxmlformats.org/drawingml/2006/main">
              <a:ext uri="{FF2B5EF4-FFF2-40B4-BE49-F238E27FC236}">
                <a16:creationId xmlns:a16="http://schemas.microsoft.com/office/drawing/2014/main" id="{96F54611-6B63-434F-B46E-F86560DDA4CD}"/>
              </a:ext>
            </a:extLst>
          </p:cNvPr>
          <p:cNvSpPr>
            <a:spLocks xmlns:a="http://schemas.openxmlformats.org/drawingml/2006/main" noGrp="1"/>
          </p:cNvSpPr>
          <p:nvPr/>
        </p:nvSpPr>
        <p:spPr>
          <a:xfrm xmlns:a="http://schemas.openxmlformats.org/drawingml/2006/main">
            <a:off x="857250" y="4629150"/>
            <a:ext cx="152400" cy="152400"/>
          </a:xfrm>
          <a:prstGeom xmlns:a="http://schemas.openxmlformats.org/drawingml/2006/main" prst="ellipse">
            <a:avLst/>
          </a:prstGeom>
          <a:solidFill xmlns:a="http://schemas.openxmlformats.org/drawingml/2006/main">
            <a:srgbClr val="8B5CF6"/>
          </a:solidFill>
          <a:ln xmlns:a="http://schemas.openxmlformats.org/drawingml/2006/main" w="0">
            <a:solidFill>
              <a:srgbClr val="8B5CF6"/>
            </a:solidFill>
            <a:prstDash val="solid"/>
          </a:ln>
        </p:spPr>
      </p:sp>
      <p:sp>
        <p:nvSpPr>
          <p:cNvPr id="10" name="">
            <a:extLst xmlns:a="http://schemas.openxmlformats.org/drawingml/2006/main">
              <a:ext uri="{FF2B5EF4-FFF2-40B4-BE49-F238E27FC236}">
                <a16:creationId xmlns:a16="http://schemas.microsoft.com/office/drawing/2014/main" id="{55A158A6-F823-4A46-96DF-BE94C48797F6}"/>
              </a:ext>
            </a:extLst>
          </p:cNvPr>
          <p:cNvSpPr>
            <a:spLocks xmlns:a="http://schemas.openxmlformats.org/drawingml/2006/main" noGrp="1"/>
          </p:cNvSpPr>
          <p:nvPr/>
        </p:nvSpPr>
        <p:spPr>
          <a:xfrm xmlns:a="http://schemas.openxmlformats.org/drawingml/2006/main">
            <a:off x="1219200" y="45529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Verified payment before permit issuance</a:t>
            </a:r>
          </a:p>
        </p:txBody>
      </p:sp>
      <p:sp>
        <p:nvSpPr>
          <p:cNvPr id="11" name="">
            <a:extLst xmlns:a="http://schemas.openxmlformats.org/drawingml/2006/main">
              <a:ext uri="{FF2B5EF4-FFF2-40B4-BE49-F238E27FC236}">
                <a16:creationId xmlns:a16="http://schemas.microsoft.com/office/drawing/2014/main" id="{AB46C46C-04D7-409F-ABBD-41FE2EF2D539}"/>
              </a:ext>
            </a:extLst>
          </p:cNvPr>
          <p:cNvSpPr>
            <a:spLocks xmlns:a="http://schemas.openxmlformats.org/drawingml/2006/main" noGrp="1"/>
          </p:cNvSpPr>
          <p:nvPr/>
        </p:nvSpPr>
        <p:spPr>
          <a:xfrm xmlns:a="http://schemas.openxmlformats.org/drawingml/2006/main">
            <a:off x="857250" y="5200650"/>
            <a:ext cx="152400" cy="15240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 name="">
            <a:extLst xmlns:a="http://schemas.openxmlformats.org/drawingml/2006/main">
              <a:ext uri="{FF2B5EF4-FFF2-40B4-BE49-F238E27FC236}">
                <a16:creationId xmlns:a16="http://schemas.microsoft.com/office/drawing/2014/main" id="{79D08D7A-EC98-449B-A03A-8BB32B5B4DE0}"/>
              </a:ext>
            </a:extLst>
          </p:cNvPr>
          <p:cNvSpPr>
            <a:spLocks xmlns:a="http://schemas.openxmlformats.org/drawingml/2006/main" noGrp="1"/>
          </p:cNvSpPr>
          <p:nvPr/>
        </p:nvSpPr>
        <p:spPr>
          <a:xfrm xmlns:a="http://schemas.openxmlformats.org/drawingml/2006/main">
            <a:off x="1219200" y="51244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FFFFFF"/>
                </a:solidFill>
                <a:latin typeface="Aptos"/>
                <a:ea typeface="Aptos"/>
                <a:cs typeface="Aptos"/>
              </a:defRPr>
            </a:pPr>
            <a:r>
              <a:rPr sz="1575" b="1">
                <a:solidFill>
                  <a:srgbClr val="FFFFFF"/>
                </a:solidFill>
                <a:latin typeface="Aptos"/>
                <a:ea typeface="Aptos"/>
                <a:cs typeface="Aptos"/>
              </a:rPr>
              <a:t>Backend-controlled verification with phased adoption</a:t>
            </a:r>
          </a:p>
        </p:txBody>
      </p:sp>
      <p:sp>
        <p:nvSpPr>
          <p:cNvPr id="13" name="">
            <a:extLst xmlns:a="http://schemas.openxmlformats.org/drawingml/2006/main">
              <a:ext uri="{FF2B5EF4-FFF2-40B4-BE49-F238E27FC236}">
                <a16:creationId xmlns:a16="http://schemas.microsoft.com/office/drawing/2014/main" id="{F6C3800F-C963-4A12-8B42-A00E413156DD}"/>
              </a:ext>
            </a:extLst>
          </p:cNvPr>
          <p:cNvSpPr>
            <a:spLocks xmlns:a="http://schemas.openxmlformats.org/drawingml/2006/main" noGrp="1"/>
          </p:cNvSpPr>
          <p:nvPr/>
        </p:nvSpPr>
        <p:spPr>
          <a:xfrm xmlns:a="http://schemas.openxmlformats.org/drawingml/2006/main">
            <a:off x="8763000" y="4762500"/>
            <a:ext cx="2381250" cy="10668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solidFill>
              <a:srgbClr val="FFFFFF"/>
            </a:solidFill>
            <a:prstDash val="solid"/>
          </a:ln>
        </p:spPr>
      </p:sp>
      <p:sp>
        <p:nvSpPr>
          <p:cNvPr id="14" name="">
            <a:extLst xmlns:a="http://schemas.openxmlformats.org/drawingml/2006/main">
              <a:ext uri="{FF2B5EF4-FFF2-40B4-BE49-F238E27FC236}">
                <a16:creationId xmlns:a16="http://schemas.microsoft.com/office/drawing/2014/main" id="{71A91FEC-36EE-45D8-8D62-FCD9B9CF8325}"/>
              </a:ext>
            </a:extLst>
          </p:cNvPr>
          <p:cNvSpPr>
            <a:spLocks xmlns:a="http://schemas.openxmlformats.org/drawingml/2006/main" noGrp="1"/>
          </p:cNvSpPr>
          <p:nvPr/>
        </p:nvSpPr>
        <p:spPr>
          <a:xfrm xmlns:a="http://schemas.openxmlformats.org/drawingml/2006/main">
            <a:off x="8991600" y="5067300"/>
            <a:ext cx="1924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850" b="1">
                <a:solidFill>
                  <a:srgbClr val="6D4AFF"/>
                </a:solidFill>
                <a:latin typeface="Aptos Display"/>
                <a:ea typeface="Aptos Display"/>
                <a:cs typeface="Aptos Display"/>
              </a:defRPr>
            </a:pPr>
            <a:r>
              <a:rPr sz="2850" b="1">
                <a:solidFill>
                  <a:srgbClr val="6D4AFF"/>
                </a:solidFill>
                <a:latin typeface="Aptos Display"/>
                <a:ea typeface="Aptos Display"/>
                <a:cs typeface="Aptos Display"/>
              </a:rPr>
              <a:t>Questions</a:t>
            </a:r>
          </a:p>
        </p:txBody>
      </p:sp>
      <p:sp>
        <p:nvSpPr>
          <p:cNvPr id="15" name="">
            <a:extLst xmlns:a="http://schemas.openxmlformats.org/drawingml/2006/main">
              <a:ext uri="{FF2B5EF4-FFF2-40B4-BE49-F238E27FC236}">
                <a16:creationId xmlns:a16="http://schemas.microsoft.com/office/drawing/2014/main" id="{9A2A88AC-6628-4D7B-A478-9790BF4E93F7}"/>
              </a:ext>
            </a:extLst>
          </p:cNvPr>
          <p:cNvSpPr>
            <a:spLocks xmlns:a="http://schemas.openxmlformats.org/drawingml/2006/main" noGrp="1"/>
          </p:cNvSpPr>
          <p:nvPr/>
        </p:nvSpPr>
        <p:spPr>
          <a:xfrm xmlns:a="http://schemas.openxmlformats.org/drawingml/2006/main">
            <a:off x="838200" y="60198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38BDF8"/>
                </a:solidFill>
                <a:latin typeface="Aptos"/>
                <a:ea typeface="Aptos"/>
                <a:cs typeface="Aptos"/>
              </a:defRPr>
            </a:pPr>
            <a:r>
              <a:rPr sz="1500" b="0">
                <a:solidFill>
                  <a:srgbClr val="38BDF8"/>
                </a:solidFill>
                <a:latin typeface="Aptos"/>
                <a:ea typeface="Aptos"/>
                <a:cs typeface="Aptos"/>
              </a:rPr>
              <a:t>Evidence supports continued, controlled institutional adoption.</a:t>
            </a:r>
          </a:p>
        </p:txBody>
      </p:sp>
    </p:spTree>
    <p:extLst>
      <p:ext uri="{BB962C8B-B14F-4D97-AF65-F5344CB8AC3E}">
        <p14:creationId xmlns:p14="http://schemas.microsoft.com/office/powerpoint/2010/main" val="570716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2026-09-02T01:18:02.7190000Z</dcterms:created>
  <dcterms:modified xsi:type="dcterms:W3CDTF">2026-09-02T01:18:02.7190000Z</dcterms:modified>
</coreProperties>
</file>